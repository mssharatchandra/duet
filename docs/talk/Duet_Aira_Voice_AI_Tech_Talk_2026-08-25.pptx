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f37302a32e45c1" /><Relationship Type="http://schemas.openxmlformats.org/officeDocument/2006/relationships/extended-properties" Target="/docProps/app.xml" Id="R1edce6a11cec4b19" /><Relationship Type="http://schemas.openxmlformats.org/officeDocument/2006/relationships/officeDocument" Target="/ppt/presentation.xml" Id="R47fc268351984f69" /></Relationships>
</file>

<file path=ppt/presentation.xml><?xml version="1.0" encoding="utf-8"?>
<p:presentation xmlns:p="http://schemas.openxmlformats.org/presentationml/2006/main">
  <p:sldMasterIdLst>
    <p:sldMasterId xmlns:r="http://schemas.openxmlformats.org/officeDocument/2006/relationships" id="2147483648" r:id="R8227ccb20d3f4628"/>
  </p:sldMasterIdLst>
  <p:notesMasterIdLst>
    <p:notesMasterId xmlns:r="http://schemas.openxmlformats.org/officeDocument/2006/relationships" r:id="R3c54a71a11ad468c"/>
  </p:notesMasterIdLst>
  <p:sldIdLst>
    <p:sldId xmlns:r="http://schemas.openxmlformats.org/officeDocument/2006/relationships" id="256" r:id="Rc572238d07634de6"/>
    <p:sldId xmlns:r="http://schemas.openxmlformats.org/officeDocument/2006/relationships" id="257" r:id="Rb8620ebe4fae41dd"/>
    <p:sldId xmlns:r="http://schemas.openxmlformats.org/officeDocument/2006/relationships" id="258" r:id="R9cedcb0569f842c2"/>
    <p:sldId xmlns:r="http://schemas.openxmlformats.org/officeDocument/2006/relationships" id="259" r:id="R5351eaf8ab2d44f2"/>
    <p:sldId xmlns:r="http://schemas.openxmlformats.org/officeDocument/2006/relationships" id="260" r:id="R7bc05b49cfc64222"/>
    <p:sldId xmlns:r="http://schemas.openxmlformats.org/officeDocument/2006/relationships" id="261" r:id="Rd1d1c030864948ae"/>
    <p:sldId xmlns:r="http://schemas.openxmlformats.org/officeDocument/2006/relationships" id="262" r:id="Rea425bea6eb04cd9"/>
    <p:sldId xmlns:r="http://schemas.openxmlformats.org/officeDocument/2006/relationships" id="263" r:id="R3c6d6b2f77614220"/>
    <p:sldId xmlns:r="http://schemas.openxmlformats.org/officeDocument/2006/relationships" id="264" r:id="Rca832000ec2a4910"/>
    <p:sldId xmlns:r="http://schemas.openxmlformats.org/officeDocument/2006/relationships" id="265" r:id="R0064fc344469438f"/>
    <p:sldId xmlns:r="http://schemas.openxmlformats.org/officeDocument/2006/relationships" id="266" r:id="R52ade491a17c4717"/>
    <p:sldId xmlns:r="http://schemas.openxmlformats.org/officeDocument/2006/relationships" id="267" r:id="Re0c77ed2068a48fc"/>
    <p:sldId xmlns:r="http://schemas.openxmlformats.org/officeDocument/2006/relationships" id="268" r:id="Rfeced1abc27042bd"/>
    <p:sldId xmlns:r="http://schemas.openxmlformats.org/officeDocument/2006/relationships" id="269" r:id="R71f2327d2aeb4f8b"/>
    <p:sldId xmlns:r="http://schemas.openxmlformats.org/officeDocument/2006/relationships" id="270" r:id="R02a6d7d8ff6446d7"/>
    <p:sldId xmlns:r="http://schemas.openxmlformats.org/officeDocument/2006/relationships" id="271" r:id="Ra484af95352f4472"/>
    <p:sldId xmlns:r="http://schemas.openxmlformats.org/officeDocument/2006/relationships" id="272" r:id="R3c2ceac3767640c1"/>
    <p:sldId xmlns:r="http://schemas.openxmlformats.org/officeDocument/2006/relationships" id="273" r:id="R0bf7956547884a82"/>
    <p:sldId xmlns:r="http://schemas.openxmlformats.org/officeDocument/2006/relationships" id="274" r:id="R20eb9d16ec0740cb"/>
    <p:sldId xmlns:r="http://schemas.openxmlformats.org/officeDocument/2006/relationships" id="275" r:id="R042dc647048f4c0f"/>
    <p:sldId xmlns:r="http://schemas.openxmlformats.org/officeDocument/2006/relationships" id="276" r:id="R3c7b3a3e793a4120"/>
    <p:sldId xmlns:r="http://schemas.openxmlformats.org/officeDocument/2006/relationships" id="277" r:id="R71895967e557404d"/>
    <p:sldId xmlns:r="http://schemas.openxmlformats.org/officeDocument/2006/relationships" id="278" r:id="R35e0c860d51249b2"/>
    <p:sldId xmlns:r="http://schemas.openxmlformats.org/officeDocument/2006/relationships" id="279" r:id="Rac9b36a64a6141de"/>
    <p:sldId xmlns:r="http://schemas.openxmlformats.org/officeDocument/2006/relationships" id="280" r:id="R5ae8ce8144f24662"/>
    <p:sldId xmlns:r="http://schemas.openxmlformats.org/officeDocument/2006/relationships" id="281" r:id="Rd811e3af7dc14b37"/>
    <p:sldId xmlns:r="http://schemas.openxmlformats.org/officeDocument/2006/relationships" id="282" r:id="Rfdf90af5b8cc4104"/>
    <p:sldId xmlns:r="http://schemas.openxmlformats.org/officeDocument/2006/relationships" id="283" r:id="R9aaae8ea48f0431c"/>
    <p:sldId xmlns:r="http://schemas.openxmlformats.org/officeDocument/2006/relationships" id="284" r:id="R6fff4f1571a84815"/>
    <p:sldId xmlns:r="http://schemas.openxmlformats.org/officeDocument/2006/relationships" id="285" r:id="Rb6d2e71657e243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56d0012db14c8e" /><Relationship Type="http://schemas.openxmlformats.org/officeDocument/2006/relationships/slideMaster" Target="/ppt/slideMasters/slideMaster1.xml" Id="R8227ccb20d3f4628" /><Relationship Type="http://schemas.openxmlformats.org/officeDocument/2006/relationships/notesMaster" Target="/ppt/notesMasters/notesMaster1.xml" Id="R3c54a71a11ad468c" /><Relationship Type="http://schemas.openxmlformats.org/officeDocument/2006/relationships/presProps" Target="/ppt/presProps.xml" Id="R516a6a6fb80840b8" /><Relationship Type="http://schemas.openxmlformats.org/officeDocument/2006/relationships/tableStyles" Target="/ppt/tableStyles.xml" Id="R07e556f03f5847e0" /><Relationship Type="http://schemas.openxmlformats.org/officeDocument/2006/relationships/slide" Target="/ppt/slides/slide1.xml" Id="Rc572238d07634de6" /><Relationship Type="http://schemas.openxmlformats.org/officeDocument/2006/relationships/slide" Target="/ppt/slides/slide2.xml" Id="Rb8620ebe4fae41dd" /><Relationship Type="http://schemas.openxmlformats.org/officeDocument/2006/relationships/slide" Target="/ppt/slides/slide3.xml" Id="R9cedcb0569f842c2" /><Relationship Type="http://schemas.openxmlformats.org/officeDocument/2006/relationships/slide" Target="/ppt/slides/slide4.xml" Id="R5351eaf8ab2d44f2" /><Relationship Type="http://schemas.openxmlformats.org/officeDocument/2006/relationships/slide" Target="/ppt/slides/slide5.xml" Id="R7bc05b49cfc64222" /><Relationship Type="http://schemas.openxmlformats.org/officeDocument/2006/relationships/slide" Target="/ppt/slides/slide6.xml" Id="Rd1d1c030864948ae" /><Relationship Type="http://schemas.openxmlformats.org/officeDocument/2006/relationships/slide" Target="/ppt/slides/slide7.xml" Id="Rea425bea6eb04cd9" /><Relationship Type="http://schemas.openxmlformats.org/officeDocument/2006/relationships/slide" Target="/ppt/slides/slide8.xml" Id="R3c6d6b2f77614220" /><Relationship Type="http://schemas.openxmlformats.org/officeDocument/2006/relationships/slide" Target="/ppt/slides/slide9.xml" Id="Rca832000ec2a4910" /><Relationship Type="http://schemas.openxmlformats.org/officeDocument/2006/relationships/slide" Target="/ppt/slides/slide10.xml" Id="R0064fc344469438f" /><Relationship Type="http://schemas.openxmlformats.org/officeDocument/2006/relationships/slide" Target="/ppt/slides/slide11.xml" Id="R52ade491a17c4717" /><Relationship Type="http://schemas.openxmlformats.org/officeDocument/2006/relationships/slide" Target="/ppt/slides/slide12.xml" Id="Re0c77ed2068a48fc" /><Relationship Type="http://schemas.openxmlformats.org/officeDocument/2006/relationships/slide" Target="/ppt/slides/slide13.xml" Id="Rfeced1abc27042bd" /><Relationship Type="http://schemas.openxmlformats.org/officeDocument/2006/relationships/slide" Target="/ppt/slides/slide14.xml" Id="R71f2327d2aeb4f8b" /><Relationship Type="http://schemas.openxmlformats.org/officeDocument/2006/relationships/slide" Target="/ppt/slides/slide15.xml" Id="R02a6d7d8ff6446d7" /><Relationship Type="http://schemas.openxmlformats.org/officeDocument/2006/relationships/slide" Target="/ppt/slides/slide16.xml" Id="Ra484af95352f4472" /><Relationship Type="http://schemas.openxmlformats.org/officeDocument/2006/relationships/slide" Target="/ppt/slides/slide17.xml" Id="R3c2ceac3767640c1" /><Relationship Type="http://schemas.openxmlformats.org/officeDocument/2006/relationships/slide" Target="/ppt/slides/slide18.xml" Id="R0bf7956547884a82" /><Relationship Type="http://schemas.openxmlformats.org/officeDocument/2006/relationships/slide" Target="/ppt/slides/slide19.xml" Id="R20eb9d16ec0740cb" /><Relationship Type="http://schemas.openxmlformats.org/officeDocument/2006/relationships/slide" Target="/ppt/slides/slide20.xml" Id="R042dc647048f4c0f" /><Relationship Type="http://schemas.openxmlformats.org/officeDocument/2006/relationships/slide" Target="/ppt/slides/slide21.xml" Id="R3c7b3a3e793a4120" /><Relationship Type="http://schemas.openxmlformats.org/officeDocument/2006/relationships/slide" Target="/ppt/slides/slide22.xml" Id="R71895967e557404d" /><Relationship Type="http://schemas.openxmlformats.org/officeDocument/2006/relationships/slide" Target="/ppt/slides/slide23.xml" Id="R35e0c860d51249b2" /><Relationship Type="http://schemas.openxmlformats.org/officeDocument/2006/relationships/slide" Target="/ppt/slides/slide24.xml" Id="Rac9b36a64a6141de" /><Relationship Type="http://schemas.openxmlformats.org/officeDocument/2006/relationships/slide" Target="/ppt/slides/slide25.xml" Id="R5ae8ce8144f24662" /><Relationship Type="http://schemas.openxmlformats.org/officeDocument/2006/relationships/slide" Target="/ppt/slides/slide26.xml" Id="Rd811e3af7dc14b37" /><Relationship Type="http://schemas.openxmlformats.org/officeDocument/2006/relationships/slide" Target="/ppt/slides/slide27.xml" Id="Rfdf90af5b8cc4104" /><Relationship Type="http://schemas.openxmlformats.org/officeDocument/2006/relationships/slide" Target="/ppt/slides/slide28.xml" Id="R9aaae8ea48f0431c" /><Relationship Type="http://schemas.openxmlformats.org/officeDocument/2006/relationships/slide" Target="/ppt/slides/slide29.xml" Id="R6fff4f1571a84815" /><Relationship Type="http://schemas.openxmlformats.org/officeDocument/2006/relationships/slide" Target="/ppt/slides/slide30.xml" Id="Rb6d2e71657e243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7b278964e349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234c2aa4e149d8" /><Relationship Type="http://schemas.openxmlformats.org/officeDocument/2006/relationships/notesMaster" Target="/ppt/notesMasters/notesMaster1.xml" Id="Rf3483942672c47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0da7de3ce54410" /><Relationship Type="http://schemas.openxmlformats.org/officeDocument/2006/relationships/notesMaster" Target="/ppt/notesMasters/notesMaster1.xml" Id="R0ec41065e69c44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0ae5233b7a427d" /><Relationship Type="http://schemas.openxmlformats.org/officeDocument/2006/relationships/notesMaster" Target="/ppt/notesMasters/notesMaster1.xml" Id="R4d6a05e2389740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1102e7b71a48cc" /><Relationship Type="http://schemas.openxmlformats.org/officeDocument/2006/relationships/notesMaster" Target="/ppt/notesMasters/notesMaster1.xml" Id="Ra652501a019043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261d2ab9ca428f" /><Relationship Type="http://schemas.openxmlformats.org/officeDocument/2006/relationships/notesMaster" Target="/ppt/notesMasters/notesMaster1.xml" Id="R75902097b7d64a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ff660a975a4196" /><Relationship Type="http://schemas.openxmlformats.org/officeDocument/2006/relationships/notesMaster" Target="/ppt/notesMasters/notesMaster1.xml" Id="Rceba77fb72074d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d5a46a36be4bb1" /><Relationship Type="http://schemas.openxmlformats.org/officeDocument/2006/relationships/notesMaster" Target="/ppt/notesMasters/notesMaster1.xml" Id="R99c8dbb236d34a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e5144d5dcd4e17" /><Relationship Type="http://schemas.openxmlformats.org/officeDocument/2006/relationships/notesMaster" Target="/ppt/notesMasters/notesMaster1.xml" Id="Rd231aa64363344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c00c4a57fb4889" /><Relationship Type="http://schemas.openxmlformats.org/officeDocument/2006/relationships/notesMaster" Target="/ppt/notesMasters/notesMaster1.xml" Id="R0a0762fe4a4a46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4e7e613aff4dd1" /><Relationship Type="http://schemas.openxmlformats.org/officeDocument/2006/relationships/notesMaster" Target="/ppt/notesMasters/notesMaster1.xml" Id="R16db9965d1e74e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7445c8f5864610" /><Relationship Type="http://schemas.openxmlformats.org/officeDocument/2006/relationships/notesMaster" Target="/ppt/notesMasters/notesMaster1.xml" Id="R2ba39db8e6d049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32776cd1d24acc" /><Relationship Type="http://schemas.openxmlformats.org/officeDocument/2006/relationships/notesMaster" Target="/ppt/notesMasters/notesMaster1.xml" Id="Rd52506119f3243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5757b1ec4441a4" /><Relationship Type="http://schemas.openxmlformats.org/officeDocument/2006/relationships/notesMaster" Target="/ppt/notesMasters/notesMaster1.xml" Id="R789ab2d242db4c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772cd7ba324a72" /><Relationship Type="http://schemas.openxmlformats.org/officeDocument/2006/relationships/notesMaster" Target="/ppt/notesMasters/notesMaster1.xml" Id="Reaff13400f4049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eeb1b7d81c47d7" /><Relationship Type="http://schemas.openxmlformats.org/officeDocument/2006/relationships/notesMaster" Target="/ppt/notesMasters/notesMaster1.xml" Id="R96aa93152ed147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70aa1245c04ad7" /><Relationship Type="http://schemas.openxmlformats.org/officeDocument/2006/relationships/notesMaster" Target="/ppt/notesMasters/notesMaster1.xml" Id="Ra580eaf9f7364fa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bbf1a7fb134d4f" /><Relationship Type="http://schemas.openxmlformats.org/officeDocument/2006/relationships/notesMaster" Target="/ppt/notesMasters/notesMaster1.xml" Id="Rd85d2a06b55149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1e330f67fe4f31" /><Relationship Type="http://schemas.openxmlformats.org/officeDocument/2006/relationships/notesMaster" Target="/ppt/notesMasters/notesMaster1.xml" Id="R82be638aaa9d48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3ad2abede2d4065" /><Relationship Type="http://schemas.openxmlformats.org/officeDocument/2006/relationships/notesMaster" Target="/ppt/notesMasters/notesMaster1.xml" Id="R941fe47c243640c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8313155f17499d" /><Relationship Type="http://schemas.openxmlformats.org/officeDocument/2006/relationships/notesMaster" Target="/ppt/notesMasters/notesMaster1.xml" Id="R0530e2a93c8541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10bcf5eeb24bf0" /><Relationship Type="http://schemas.openxmlformats.org/officeDocument/2006/relationships/notesMaster" Target="/ppt/notesMasters/notesMaster1.xml" Id="R7d534ae2e45240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6c0c803cb1444b" /><Relationship Type="http://schemas.openxmlformats.org/officeDocument/2006/relationships/notesMaster" Target="/ppt/notesMasters/notesMaster1.xml" Id="Rd12af29c27e048e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7d0b477d144180" /><Relationship Type="http://schemas.openxmlformats.org/officeDocument/2006/relationships/notesMaster" Target="/ppt/notesMasters/notesMaster1.xml" Id="Rd0650e2f8b204b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d66ed06aaaf417c" /><Relationship Type="http://schemas.openxmlformats.org/officeDocument/2006/relationships/notesMaster" Target="/ppt/notesMasters/notesMaster1.xml" Id="R266af4ec9f0d4f9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8e9cd31a2ad4c4b" /><Relationship Type="http://schemas.openxmlformats.org/officeDocument/2006/relationships/notesMaster" Target="/ppt/notesMasters/notesMaster1.xml" Id="R76f8a6dfcaee41a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ef245a04a6425a" /><Relationship Type="http://schemas.openxmlformats.org/officeDocument/2006/relationships/notesMaster" Target="/ppt/notesMasters/notesMaster1.xml" Id="R7fd138ec12f1412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910186aedbb440e" /><Relationship Type="http://schemas.openxmlformats.org/officeDocument/2006/relationships/notesMaster" Target="/ppt/notesMasters/notesMaster1.xml" Id="R8449b31692ff404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613b18e913d4516" /><Relationship Type="http://schemas.openxmlformats.org/officeDocument/2006/relationships/notesMaster" Target="/ppt/notesMasters/notesMaster1.xml" Id="R7d5041c3567448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8d90c20838442e4" /><Relationship Type="http://schemas.openxmlformats.org/officeDocument/2006/relationships/notesMaster" Target="/ppt/notesMasters/notesMaster1.xml" Id="Rf817ad9b45e14c5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718ec0cde6f4895" /><Relationship Type="http://schemas.openxmlformats.org/officeDocument/2006/relationships/notesMaster" Target="/ppt/notesMasters/notesMaster1.xml" Id="Re7e34fb3ea4148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human experience, not the architecture. Ask: can an AI sales agent actually listen? We tried to build an empathetic ASBL Broadway sales concierge that could understand an Indian caller, answer from verified facts, take actions, and stop when interrupted. The important artifact is not a perfect bot. It is the evidence about what makes voice systems feel human—and what makes them fail.</a:t>
            </a:r>
          </a:p>
          <a:p xmlns:a="http://schemas.openxmlformats.org/drawingml/2006/main">
            <a:r>
              <a:t/>
            </a:r>
          </a:p>
          <a:p xmlns:a="http://schemas.openxmlformats.org/drawingml/2006/main">
            <a:r>
              <a:t>SOURCES</a:t>
            </a:r>
          </a:p>
          <a:p xmlns:a="http://schemas.openxmlformats.org/drawingml/2006/main">
            <a:r>
              <a:t>- Duet repository experiments, August 2026</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voice agent is not “an LLM with a microphone.” It is a timing-sensitive distributed system. It must continuously ingest audio, estimate who owns the floor, maintain state, retrieve facts, decide whether speech is safe, synthesize audio, and remain cancellable. Human-likeness is system behaviour, not a TTS voice setting.</a:t>
            </a:r>
          </a:p>
          <a:p xmlns:a="http://schemas.openxmlformats.org/drawingml/2006/main">
            <a:r>
              <a:t/>
            </a:r>
          </a:p>
          <a:p xmlns:a="http://schemas.openxmlformats.org/drawingml/2006/main">
            <a:r>
              <a:t>SOURCES</a:t>
            </a:r>
          </a:p>
          <a:p xmlns:a="http://schemas.openxmlformats.org/drawingml/2006/main">
            <a:r>
              <a:t>- Duet architecture</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three easily confused latency clocks. ASR model processing is not the same as endpointing delay. LLM time-to-first-token is not total response completion. TTS time-to-first-byte is not total synthesis time. The listener experiences the composition plus transport and jitter buffering.</a:t>
            </a:r>
          </a:p>
          <a:p xmlns:a="http://schemas.openxmlformats.org/drawingml/2006/main">
            <a:r>
              <a:t/>
            </a:r>
          </a:p>
          <a:p xmlns:a="http://schemas.openxmlformats.org/drawingml/2006/main">
            <a:r>
              <a:t>SOURCES</a:t>
            </a:r>
          </a:p>
          <a:p xmlns:a="http://schemas.openxmlformats.org/drawingml/2006/main">
            <a:r>
              <a:t>- Duet learning guide</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naïve cascade, each stage waits for the previous stage to finish. Even respectable components produce an awkward pause when their tails add. In Duet’s first rich-response measurement the median was 2,715 ms: roughly 623 ms turn assembly, 1,739 ms complete reasoning, and 443 ms TTS first audio. That failed our own latency gate.</a:t>
            </a:r>
          </a:p>
          <a:p xmlns:a="http://schemas.openxmlformats.org/drawingml/2006/main">
            <a:r>
              <a:t/>
            </a:r>
          </a:p>
          <a:p xmlns:a="http://schemas.openxmlformats.org/drawingml/2006/main">
            <a:r>
              <a:t>SOURCES</a:t>
            </a:r>
          </a:p>
          <a:p xmlns:a="http://schemas.openxmlformats.org/drawingml/2006/main">
            <a:r>
              <a:t>- Decision 0021 · docs/LATENCY_ARCHITECTURE.md</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Optimize the user-perceived interval: end of caller intent to audible first agent audio. Measure p50 and p95. Then pair latency with wrong-start rate, takeover rate, factuality and task success. A fast answer that starts before the user finishes is not low latency; it is an interruption defect.</a:t>
            </a:r>
          </a:p>
          <a:p xmlns:a="http://schemas.openxmlformats.org/drawingml/2006/main">
            <a:r>
              <a:t/>
            </a:r>
          </a:p>
          <a:p xmlns:a="http://schemas.openxmlformats.org/drawingml/2006/main">
            <a:r>
              <a:t>SOURCES</a:t>
            </a:r>
          </a:p>
          <a:p xmlns:a="http://schemas.openxmlformats.org/drawingml/2006/main">
            <a:r>
              <a:t>- Duet latency architecture</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Duet is not a new monolithic foundation model. It is a modular asynchronous architecture. Stable partial transcripts may start retrieval and reasoning. Results remain quarantined until the final transcript preserves meaning. Deterministic policy can pre-empt generation. Every generation and audio buffer carries cancellation state. This is our candidate engineering contribution; concurrency itself is prior art.</a:t>
            </a:r>
          </a:p>
          <a:p xmlns:a="http://schemas.openxmlformats.org/drawingml/2006/main">
            <a:r>
              <a:t/>
            </a:r>
          </a:p>
          <a:p xmlns:a="http://schemas.openxmlformats.org/drawingml/2006/main">
            <a:r>
              <a:t>SOURCES</a:t>
            </a:r>
          </a:p>
          <a:p xmlns:a="http://schemas.openxmlformats.org/drawingml/2006/main">
            <a:r>
              <a:t>- Duet architecture; concurrency is prior art</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lanes run concurrently, but information dependencies still exist. We need enough stable intent before selecting an answer, and enough verified content before speech. The architecture removes unnecessary waiting without pretending causality disappears. ASR remains armed while TTS plays so interruption can cancel speech immediately and create a new conversational state.</a:t>
            </a:r>
          </a:p>
          <a:p xmlns:a="http://schemas.openxmlformats.org/drawingml/2006/main">
            <a:r>
              <a:t/>
            </a:r>
          </a:p>
          <a:p xmlns:a="http://schemas.openxmlformats.org/drawingml/2006/main">
            <a:r>
              <a:t>SOURCES</a:t>
            </a:r>
          </a:p>
          <a:p xmlns:a="http://schemas.openxmlformats.org/drawingml/2006/main">
            <a:r>
              <a:t>- Duet runtime lanes</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audio is streamed continuously. Saaras v3 Realtime provides partial/final transcripts and speech events. Duet assembles turns, owns consent, barge-in, stale-response suppression and capability checks. Gemini Flash Lite plans grounded responses. An action adapter records or calls brochure, callback, CRM and site-visit tools. Bulbul v3 uses a pre-warmed persistent WebSocket. The local demo planner is a quota-independent fallback—not the production intelligence path.</a:t>
            </a:r>
          </a:p>
          <a:p xmlns:a="http://schemas.openxmlformats.org/drawingml/2006/main">
            <a:r>
              <a:t/>
            </a:r>
          </a:p>
          <a:p xmlns:a="http://schemas.openxmlformats.org/drawingml/2006/main">
            <a:r>
              <a:t>SOURCES</a:t>
            </a:r>
          </a:p>
          <a:p xmlns:a="http://schemas.openxmlformats.org/drawingml/2006/main">
            <a:r>
              <a:t>- Duet Aira browser demo architecture</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Insert the recorded Aira demo here. Show: disclosure and permission; one project question; one interruption; one brochure or site-visit action; the visible decision trace. Do not improvise with a live cloud model tomorrow. The recording path uses the local grounded demo planner so Gemini quota cannot break it.</a:t>
            </a:r>
          </a:p>
          <a:p xmlns:a="http://schemas.openxmlformats.org/drawingml/2006/main">
            <a:r>
              <a:t/>
            </a:r>
          </a:p>
          <a:p xmlns:a="http://schemas.openxmlformats.org/drawingml/2006/main">
            <a:r>
              <a:t>SOURCES</a:t>
            </a:r>
          </a:p>
          <a:p xmlns:a="http://schemas.openxmlformats.org/drawingml/2006/main">
            <a:r>
              <a:t>- Recorded Aira session</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prototype sounded robotic because multiple defects compounded: a 16 kHz/24 kHz audio bug, synthetic voice artifacts, rushed pace, endpoint clipping, and a planner repeatedly pushing the same next step. Sarvam improved our real Indian-English captures and provides true streaming events, code-mix support, and a coherent Indian speech plane. It is not open weights; provider portability remains intentional.</a:t>
            </a:r>
          </a:p>
          <a:p xmlns:a="http://schemas.openxmlformats.org/drawingml/2006/main">
            <a:r>
              <a:t/>
            </a:r>
          </a:p>
          <a:p xmlns:a="http://schemas.openxmlformats.org/drawingml/2006/main">
            <a:r>
              <a:t>SOURCES</a:t>
            </a:r>
          </a:p>
          <a:p xmlns:a="http://schemas.openxmlformats.org/drawingml/2006/main">
            <a:r>
              <a:t>- Sarvam docs · Decisions 0009, 0017, 0020</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clean synthetic eval was too easy and could not discriminate. We added seeded noise, reverb, speed perturbation and clipping. The ranking then became clear and even reversed an earlier decision. Parakeet was also 0.04–0.08× real-time under contention, giving much more headroom. Limitation: synthetic Piper speech is still off-distribution; real microphone captures remain the acceptance set.</a:t>
            </a:r>
          </a:p>
          <a:p xmlns:a="http://schemas.openxmlformats.org/drawingml/2006/main">
            <a:r>
              <a:t/>
            </a:r>
          </a:p>
          <a:p xmlns:a="http://schemas.openxmlformats.org/drawingml/2006/main">
            <a:r>
              <a:t>SOURCES</a:t>
            </a:r>
          </a:p>
          <a:p xmlns:a="http://schemas.openxmlformats.org/drawingml/2006/main">
            <a:r>
              <a:t>- eval/asr/README.md · 30 utterances × 7 conditions</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engines synthesize faster than real time, so throughput was not the issue. TTFB lands directly on the critical path in a cascade. But speed alone is not quality: Piper was fast and sounded robotic. Human MOS/preference tests are required. Sarvam’s warm persistent TTS measured 223 ms first audio in our real path and sounded more appropriate for Indian-English conversation.</a:t>
            </a:r>
          </a:p>
          <a:p xmlns:a="http://schemas.openxmlformats.org/drawingml/2006/main">
            <a:r>
              <a:t/>
            </a:r>
          </a:p>
          <a:p xmlns:a="http://schemas.openxmlformats.org/drawingml/2006/main">
            <a:r>
              <a:t>SOURCES</a:t>
            </a:r>
          </a:p>
          <a:p xmlns:a="http://schemas.openxmlformats.org/drawingml/2006/main">
            <a:r>
              <a:t>- eval/tts/README.md · Decision 0022</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precise language. Gemini 3.1 Flash Lite is designed for low-latency, high-frequency workflows and supports structured outputs and function calling. In our 17-scenario reasoning eval the richer path reached 97.1% checks. It remained the largest latency component and its free-tier quota broke a recording, so we added a deterministic fallback. The y-axis is deliberately an evidence scale—not a fabricated quality score: 0 means a known control failure, 1 relevant but not gated, 2 a grounded sample, and 3 the 17-scenario eval. “Best” here means among the models and policy traps we measured, not a universal frontier ranking.</a:t>
            </a:r>
          </a:p>
          <a:p xmlns:a="http://schemas.openxmlformats.org/drawingml/2006/main">
            <a:r>
              <a:t/>
            </a:r>
          </a:p>
          <a:p xmlns:a="http://schemas.openxmlformats.org/drawingml/2006/main">
            <a:r>
              <a:t>SOURCES</a:t>
            </a:r>
          </a:p>
          <a:p xmlns:a="http://schemas.openxmlformats.org/drawingml/2006/main">
            <a:r>
              <a:t>- Gemini 3.1 Flash Lite docs · Decisions 0021–0022</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is attractive for privacy, predictable cost and owned KV caching. But a smaller model that violates a financial-claim guard is not a viable sales brain. A larger local model that is slower than the API has no latency ROI on this laptop. Gemini was selected because it combined an observed 1,120 ms plan with 132/136 grounded-policy checks and structured tool support. Re-evaluate local candidates on production GPU hardware; do not generalize this Apple M5 result into “local models are bad.”</a:t>
            </a:r>
          </a:p>
          <a:p xmlns:a="http://schemas.openxmlformats.org/drawingml/2006/main">
            <a:r>
              <a:t/>
            </a:r>
          </a:p>
          <a:p xmlns:a="http://schemas.openxmlformats.org/drawingml/2006/main">
            <a:r>
              <a:t>SOURCES</a:t>
            </a:r>
          </a:p>
          <a:p xmlns:a="http://schemas.openxmlformats.org/drawingml/2006/main">
            <a:r>
              <a:t>- Local model measurements · Decisions 0021–0022</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Moshi models caller and agent audio as parallel streams and has roughly 200 ms practical latency in its paper. On our 10-scenario benchmark it was eight times faster at the median and produced backchannels. It also grabbed the floor and rambled. Its p95 was 3.25 seconds. We benched it as the default product path because controllability and clarity mattered more than a median latency win.</a:t>
            </a:r>
          </a:p>
          <a:p xmlns:a="http://schemas.openxmlformats.org/drawingml/2006/main">
            <a:r>
              <a:t/>
            </a:r>
          </a:p>
          <a:p xmlns:a="http://schemas.openxmlformats.org/drawingml/2006/main">
            <a:r>
              <a:t>SOURCES</a:t>
            </a:r>
          </a:p>
          <a:p xmlns:a="http://schemas.openxmlformats.org/drawingml/2006/main">
            <a:r>
              <a:t>- Moshi paper · eval/bench/RESULTS.md</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 #1 lowered the stable-partial floor from four words to two while preserving opt-out, ambiguity and semantic-confirmation gates. The mechanism fired correctly, but n=2 live runs could not separate the 31 ms gap from normal variance. Gemini explicit cache storage was unavailable on the free tier, and implicit caching did not engage. We recorded the negative result rather than claiming a win.</a:t>
            </a:r>
          </a:p>
          <a:p xmlns:a="http://schemas.openxmlformats.org/drawingml/2006/main">
            <a:r>
              <a:t/>
            </a:r>
          </a:p>
          <a:p xmlns:a="http://schemas.openxmlformats.org/drawingml/2006/main">
            <a:r>
              <a:t>SOURCES</a:t>
            </a:r>
          </a:p>
          <a:p xmlns:a="http://schemas.openxmlformats.org/drawingml/2006/main">
            <a:r>
              <a:t>- GitHub PR #1 · Widen speculative-reasoning coverage</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 #2 used a local KV-cached brain and shortened Moshi’s quiet window. The first proxy looked spectacular. A real turn-taking A/B showed the “fast” configuration was ruder on every important metric. The quiet window was protective, not wasted latency. An even earlier 0.00-token result failed to reproduce due to state leakage in the harness. This is the talk’s key scientific lesson: eval the behaviour you care about, not the proxy that flatters your optimization.</a:t>
            </a:r>
          </a:p>
          <a:p xmlns:a="http://schemas.openxmlformats.org/drawingml/2006/main">
            <a:r>
              <a:t/>
            </a:r>
          </a:p>
          <a:p xmlns:a="http://schemas.openxmlformats.org/drawingml/2006/main">
            <a:r>
              <a:t>SOURCES</a:t>
            </a:r>
          </a:p>
          <a:p xmlns:a="http://schemas.openxmlformats.org/drawingml/2006/main">
            <a:r>
              <a:t>- GitHub PR #2 · docs/DUPLEX_STEERING.md</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deterministic unit tests, 17 grounded-reasoning scenarios, augmented ASR WER, TTS TTFB/RTF, turn-taking metrics, controlled barge-in smoke, container boot checks, and blind-human-eval protocols. Examples from real failures became tests: “I changed my mind,” “wait a minute,” clipped yes/no turns, duplicate actions, stale responses and opt-out. CI runs cheap deterministic gates on every commit; quota-consuming live evals run manually or on schedule.</a:t>
            </a:r>
          </a:p>
          <a:p xmlns:a="http://schemas.openxmlformats.org/drawingml/2006/main">
            <a:r>
              <a:t/>
            </a:r>
          </a:p>
          <a:p xmlns:a="http://schemas.openxmlformats.org/drawingml/2006/main">
            <a:r>
              <a:t>SOURCES</a:t>
            </a:r>
          </a:p>
          <a:p xmlns:a="http://schemas.openxmlformats.org/drawingml/2006/main">
            <a:r>
              <a:t>- Duet CI and eval harnesses</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may propose an action. Only an action adapter may report accepted or completed. The same principle applies to brochure, callback, CRM and site visit. A “request” is not “done.” Opt-out cancels reasoning and speech immediately. Sensitive traits cannot drive lead scoring. Public product facts carry source IDs. The UI exposes an inspectable decision trace—intent, evidence, policy, facts—not private chain-of-thought.</a:t>
            </a:r>
          </a:p>
          <a:p xmlns:a="http://schemas.openxmlformats.org/drawingml/2006/main">
            <a:r>
              <a:t/>
            </a:r>
          </a:p>
          <a:p xmlns:a="http://schemas.openxmlformats.org/drawingml/2006/main">
            <a:r>
              <a:t>SOURCES</a:t>
            </a:r>
          </a:p>
          <a:p xmlns:a="http://schemas.openxmlformats.org/drawingml/2006/main">
            <a:r>
              <a:t>- Duet policy and action adapters</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Telemetry is asynchronous and never blocks audio. Every session shares a trace ID across voice spans and the durable call record. Content is redacted by default. The latest four-minute demo produced 78 Langfuse observations, 11 user utterances, three playback cancellations and two accepted local actions.</a:t>
            </a:r>
          </a:p>
          <a:p xmlns:a="http://schemas.openxmlformats.org/drawingml/2006/main">
            <a:r>
              <a:t/>
            </a:r>
          </a:p>
          <a:p xmlns:a="http://schemas.openxmlformats.org/drawingml/2006/main">
            <a:r>
              <a:t>SOURCES</a:t>
            </a:r>
          </a:p>
          <a:p xmlns:a="http://schemas.openxmlformats.org/drawingml/2006/main">
            <a:r>
              <a:t>- Duet observability stack</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run used Sarvam ASR/TTS plus the local grounded planner, so reasoning cost and latency were zero. The 443 ms median is end-of-speech to first server audio, not browser-perceived latency. The stored p95 of 108.7 seconds is an instrumentation defect: one pending endpoint was matched to the session-limit closing speech. Show the defect. Fix the correlation before claiming a tail SLO.</a:t>
            </a:r>
          </a:p>
          <a:p xmlns:a="http://schemas.openxmlformats.org/drawingml/2006/main">
            <a:r>
              <a:t/>
            </a:r>
          </a:p>
          <a:p xmlns:a="http://schemas.openxmlformats.org/drawingml/2006/main">
            <a:r>
              <a:t>SOURCES</a:t>
            </a:r>
          </a:p>
          <a:p xmlns:a="http://schemas.openxmlformats.org/drawingml/2006/main">
            <a:r>
              <a:t>- Session 1787592808-61dd64 · trace 9722afa5…</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Sarvam now claims under 500 ms real-time latency and ₹3.50/min for its managed voice-agent stack. Their docs explicitly say there is no official round-trip SLA in the component guide. We cannot call this a benchmark yet. The fair test is identical scripts, network region, phone/WebRTC transport, 30+ calls, speech-end-to-audible-audio p50/p95, takeover, task success, factuality, human preference and cost.</a:t>
            </a:r>
          </a:p>
          <a:p xmlns:a="http://schemas.openxmlformats.org/drawingml/2006/main">
            <a:r>
              <a:t/>
            </a:r>
          </a:p>
          <a:p xmlns:a="http://schemas.openxmlformats.org/drawingml/2006/main">
            <a:r>
              <a:t>SOURCES</a:t>
            </a:r>
          </a:p>
          <a:p xmlns:a="http://schemas.openxmlformats.org/drawingml/2006/main">
            <a:r>
              <a:t>- Duet traces · Sarvam Voice Agents product page</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India is voice-first, multilingual, code-mixed, mobile and operationally call-heavy. The moat is not only a pretty voice: noisy telephony, dialects, interruption, cost, compliance, integrations and reliability at large volumes. Sarvam reports more than two million voice conversations a day and is building a full-stack sovereign platform. Bolna raised $6.3M to make deployment self-serve. These are market signals, not a top-down TAM proof. Use in-house economics to validate the wedge.</a:t>
            </a:r>
          </a:p>
          <a:p xmlns:a="http://schemas.openxmlformats.org/drawingml/2006/main">
            <a:r>
              <a:t/>
            </a:r>
          </a:p>
          <a:p xmlns:a="http://schemas.openxmlformats.org/drawingml/2006/main">
            <a:r>
              <a:t>SOURCES</a:t>
            </a:r>
          </a:p>
          <a:p xmlns:a="http://schemas.openxmlformats.org/drawingml/2006/main">
            <a:r>
              <a:t>- ¹Sarvam claims · Bolna funding announcement</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ASBL inquiry reactivation and qualification. Aira can disclose itself, ask whether the caller wants a family home or investment, answer verified Broadway questions, collect timing and broad budget, and request a brochure, callback or site visit. Success is not calls automated. It is advisor hours saved, contact rate, qualified handoffs, factuality, opt-out compliance and incremental site visits.</a:t>
            </a:r>
          </a:p>
          <a:p xmlns:a="http://schemas.openxmlformats.org/drawingml/2006/main">
            <a:r>
              <a:t/>
            </a:r>
          </a:p>
          <a:p xmlns:a="http://schemas.openxmlformats.org/drawingml/2006/main">
            <a:r>
              <a:t>SOURCES</a:t>
            </a:r>
          </a:p>
          <a:p xmlns:a="http://schemas.openxmlformats.org/drawingml/2006/main">
            <a:r>
              <a:t>- Proposed ASBL pilot workflow</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systems win through operational maturity: carrier integrations, regional routing, echo control, retries and circuit breakers, versioned prompts, campaign controls, abuse prevention, recordings and deletion, quality sampling, on-call alerts and graceful human handoff. The current app is single-session and browser-first. It is a strong instrument and demo, not yet an outbound production dialer.</a:t>
            </a:r>
          </a:p>
          <a:p xmlns:a="http://schemas.openxmlformats.org/drawingml/2006/main">
            <a:r>
              <a:t/>
            </a:r>
          </a:p>
          <a:p xmlns:a="http://schemas.openxmlformats.org/drawingml/2006/main">
            <a:r>
              <a:t>SOURCES</a:t>
            </a:r>
          </a:p>
          <a:p xmlns:a="http://schemas.openxmlformats.org/drawingml/2006/main">
            <a:r>
              <a:t>- Duet production-readiness audit</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1–3: instrument 100 historical, consent-safe scenarios and build the golden set. Week 4–6: connect real CRM actions and telephony in shadow mode. Week 7–9: small consented English pilot with human takeover. Week 10–12: compare agent versus current operation on qualification yield, complaints, factuality, latency, tool success and cost. Add Telugu/Hindi/code-mix only after separate speech and trust gates.</a:t>
            </a:r>
          </a:p>
          <a:p xmlns:a="http://schemas.openxmlformats.org/drawingml/2006/main">
            <a:r>
              <a:t/>
            </a:r>
          </a:p>
          <a:p xmlns:a="http://schemas.openxmlformats.org/drawingml/2006/main">
            <a:r>
              <a:t>SOURCES</a:t>
            </a:r>
          </a:p>
          <a:p xmlns:a="http://schemas.openxmlformats.org/drawingml/2006/main">
            <a:r>
              <a:t>- Duet 90-day pilot proposal</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by searching for a magical full-duplex model. We ended with a more useful view: natural conversation emerges from listening quality, timing, controllability, grounded reasoning, cancellable speech, trustworthy actions and a relentless evaluation loop. Buy the best current speech and reasoning primitives. Own the interaction state and evidence. Keep the research lane alive, but let production earn every claim.</a:t>
            </a:r>
          </a:p>
          <a:p xmlns:a="http://schemas.openxmlformats.org/drawingml/2006/main">
            <a:r>
              <a:t/>
            </a:r>
          </a:p>
          <a:p xmlns:a="http://schemas.openxmlformats.org/drawingml/2006/main">
            <a:r>
              <a:t>SOURCES</a:t>
            </a:r>
          </a:p>
          <a:p xmlns:a="http://schemas.openxmlformats.org/drawingml/2006/main">
            <a:r>
              <a:t>- Duet experiment conclusion</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Moshi established a native two-stream speech architecture. PersonaPlex added role and voice conditioning. FD-Bench and newer turn-taking studies provide reproducible interaction tests. Duet's proposed contribution is modular guarded speculation plus capability-backed actions; novelty remains unproven until human ablations.</a:t>
            </a:r>
          </a:p>
          <a:p xmlns:a="http://schemas.openxmlformats.org/drawingml/2006/main">
            <a:r>
              <a:t/>
            </a:r>
          </a:p>
          <a:p xmlns:a="http://schemas.openxmlformats.org/drawingml/2006/main">
            <a:r>
              <a:t>SOURCES</a:t>
            </a:r>
          </a:p>
          <a:p xmlns:a="http://schemas.openxmlformats.org/drawingml/2006/main">
            <a:r>
              <a:t>- arXiv:2410.00037 · 2507.19040 · 2605.20356</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production voice eval is layered. Measure recognition by accent and noise, turn-taking by endpoint and overlap, reasoning by factuality and task success, speech by TTFB and preference, and the whole system by tail latency, cost and business outcomes.</a:t>
            </a:r>
          </a:p>
          <a:p xmlns:a="http://schemas.openxmlformats.org/drawingml/2006/main">
            <a:r>
              <a:t/>
            </a:r>
          </a:p>
          <a:p xmlns:a="http://schemas.openxmlformats.org/drawingml/2006/main">
            <a:r>
              <a:t>SOURCES</a:t>
            </a:r>
          </a:p>
          <a:p xmlns:a="http://schemas.openxmlformats.org/drawingml/2006/main">
            <a:r>
              <a:t>- Duet evaluation framework</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to stay candid. Aira is controlled duplex, not a finished native speech model. It is a serious instrument and architecture prototype, not yet an outbound production dialer. The defensible asset is the interaction and evidence loop.</a:t>
            </a:r>
          </a:p>
          <a:p xmlns:a="http://schemas.openxmlformats.org/drawingml/2006/main">
            <a:r>
              <a:t/>
            </a:r>
          </a:p>
          <a:p xmlns:a="http://schemas.openxmlformats.org/drawingml/2006/main">
            <a:r>
              <a:t>SOURCES</a:t>
            </a:r>
          </a:p>
          <a:p xmlns:a="http://schemas.openxmlformats.org/drawingml/2006/main">
            <a:r>
              <a:t>- Duet engineering Q&amp;A</a:t>
            </a:r>
          </a:p>
          <a:p xmlns:a="http://schemas.openxmlformats.org/drawingml/2006/main">
            <a:r>
              <a:t>- Full source notes: docs/talk/FINAL_DECK_2026-08-25.md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411dd3bfb24d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124b29ee994e8f" /><Relationship Type="http://schemas.openxmlformats.org/officeDocument/2006/relationships/slideLayout" Target="/ppt/slideLayouts/slideLayout1.xml" Id="R5bc9e492a56542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c9e492a56542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9511176d064139" /><Relationship Type="http://schemas.openxmlformats.org/officeDocument/2006/relationships/image" Target="/ppt/media/image.jpeg" Id="R1bb5641c61a440d4" /><Relationship Type="http://schemas.openxmlformats.org/officeDocument/2006/relationships/notesSlide" Target="/ppt/notesSlides/notesSlide1.xml" Id="R6f5dc528d1a14a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9e9519df0e49aa" /><Relationship Type="http://schemas.openxmlformats.org/officeDocument/2006/relationships/image" Target="/ppt/media/image2.jpeg" Id="R31a3b8157cb349bf" /><Relationship Type="http://schemas.openxmlformats.org/officeDocument/2006/relationships/notesSlide" Target="/ppt/notesSlides/notesSlide2.xml" Id="R94410ba0a0d74c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ac3d49425429b" /><Relationship Type="http://schemas.openxmlformats.org/officeDocument/2006/relationships/image" Target="/ppt/media/image3.jpeg" Id="R83de817423ff49b6" /><Relationship Type="http://schemas.openxmlformats.org/officeDocument/2006/relationships/notesSlide" Target="/ppt/notesSlides/notesSlide3.xml" Id="R570507466c944c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652992dd1049e2" /><Relationship Type="http://schemas.openxmlformats.org/officeDocument/2006/relationships/image" Target="/ppt/media/image4.jpeg" Id="R68a0419cb97c4c00" /><Relationship Type="http://schemas.openxmlformats.org/officeDocument/2006/relationships/notesSlide" Target="/ppt/notesSlides/notesSlide4.xml" Id="R50a503acc22a4a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50037ea92a43c9" /><Relationship Type="http://schemas.openxmlformats.org/officeDocument/2006/relationships/image" Target="/ppt/media/image5.jpeg" Id="R8f2b00d1e1e54761" /><Relationship Type="http://schemas.openxmlformats.org/officeDocument/2006/relationships/notesSlide" Target="/ppt/notesSlides/notesSlide5.xml" Id="Rf4af9391ae2644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88cf85e93349ff" /><Relationship Type="http://schemas.openxmlformats.org/officeDocument/2006/relationships/image" Target="/ppt/media/image6.jpeg" Id="Rfa51dfb5656545a4" /><Relationship Type="http://schemas.openxmlformats.org/officeDocument/2006/relationships/notesSlide" Target="/ppt/notesSlides/notesSlide6.xml" Id="R38e12fbe380c45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7f2fcf70824fe2" /><Relationship Type="http://schemas.openxmlformats.org/officeDocument/2006/relationships/image" Target="/ppt/media/image7.jpeg" Id="R09bb9d0ecbcd4535" /><Relationship Type="http://schemas.openxmlformats.org/officeDocument/2006/relationships/notesSlide" Target="/ppt/notesSlides/notesSlide7.xml" Id="R33e09fb6560042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5d1fee71e747e0" /><Relationship Type="http://schemas.openxmlformats.org/officeDocument/2006/relationships/image" Target="/ppt/media/image8.jpeg" Id="R08778de8a02e40cf" /><Relationship Type="http://schemas.openxmlformats.org/officeDocument/2006/relationships/notesSlide" Target="/ppt/notesSlides/notesSlide8.xml" Id="R82c912741a974c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ff4626cec145db" /><Relationship Type="http://schemas.openxmlformats.org/officeDocument/2006/relationships/image" Target="/ppt/media/image9.jpeg" Id="R3beb66b8c4b0406b" /><Relationship Type="http://schemas.openxmlformats.org/officeDocument/2006/relationships/notesSlide" Target="/ppt/notesSlides/notesSlide9.xml" Id="Re83e2fce2b0f4b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d9e677afae4b72" /><Relationship Type="http://schemas.openxmlformats.org/officeDocument/2006/relationships/image" Target="/ppt/media/image10.jpeg" Id="R0e283c3cd146485d" /><Relationship Type="http://schemas.openxmlformats.org/officeDocument/2006/relationships/notesSlide" Target="/ppt/notesSlides/notesSlide10.xml" Id="Re8b2ca159cfc4a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1aa45f0b9d4c1d" /><Relationship Type="http://schemas.openxmlformats.org/officeDocument/2006/relationships/image" Target="/ppt/media/image11.jpeg" Id="R1979cc6199624508" /><Relationship Type="http://schemas.openxmlformats.org/officeDocument/2006/relationships/notesSlide" Target="/ppt/notesSlides/notesSlide11.xml" Id="R7746ba99dec74f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94991ef774416f" /><Relationship Type="http://schemas.openxmlformats.org/officeDocument/2006/relationships/image" Target="/ppt/media/image12.jpeg" Id="Rafa2e95f9d1c4594" /><Relationship Type="http://schemas.openxmlformats.org/officeDocument/2006/relationships/notesSlide" Target="/ppt/notesSlides/notesSlide12.xml" Id="Raea56fa23d404c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304ae2bd7974d8a" /><Relationship Type="http://schemas.openxmlformats.org/officeDocument/2006/relationships/image" Target="/ppt/media/image13.jpeg" Id="R2e2d2d573b2649be" /><Relationship Type="http://schemas.openxmlformats.org/officeDocument/2006/relationships/notesSlide" Target="/ppt/notesSlides/notesSlide13.xml" Id="R785fccdb824145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64c1db9358040ff" /><Relationship Type="http://schemas.openxmlformats.org/officeDocument/2006/relationships/image" Target="/ppt/media/image14.jpeg" Id="Re761a01ced9246c4" /><Relationship Type="http://schemas.openxmlformats.org/officeDocument/2006/relationships/notesSlide" Target="/ppt/notesSlides/notesSlide14.xml" Id="R37379f75568b40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080699d75f4143" /><Relationship Type="http://schemas.openxmlformats.org/officeDocument/2006/relationships/image" Target="/ppt/media/image15.jpeg" Id="Raaacdc2992944c86" /><Relationship Type="http://schemas.openxmlformats.org/officeDocument/2006/relationships/notesSlide" Target="/ppt/notesSlides/notesSlide15.xml" Id="Re2dcf1f9fe0946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c973e6045794268" /><Relationship Type="http://schemas.openxmlformats.org/officeDocument/2006/relationships/image" Target="/ppt/media/image16.jpeg" Id="R979d98cfda924b64" /><Relationship Type="http://schemas.openxmlformats.org/officeDocument/2006/relationships/notesSlide" Target="/ppt/notesSlides/notesSlide16.xml" Id="R711c2e6fcc774a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fff477cc8443f3" /><Relationship Type="http://schemas.openxmlformats.org/officeDocument/2006/relationships/image" Target="/ppt/media/image17.jpeg" Id="R9c096babb9174137" /><Relationship Type="http://schemas.openxmlformats.org/officeDocument/2006/relationships/notesSlide" Target="/ppt/notesSlides/notesSlide17.xml" Id="Rdce1f6630da14e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fcc7d610d74f84" /><Relationship Type="http://schemas.openxmlformats.org/officeDocument/2006/relationships/image" Target="/ppt/media/image18.jpeg" Id="R23cb31ce3f324abd" /><Relationship Type="http://schemas.openxmlformats.org/officeDocument/2006/relationships/notesSlide" Target="/ppt/notesSlides/notesSlide18.xml" Id="Rca104aff49da4d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f8c9b3b852748a5" /><Relationship Type="http://schemas.openxmlformats.org/officeDocument/2006/relationships/image" Target="/ppt/media/image19.jpeg" Id="Rfa1b63d8242f4dea" /><Relationship Type="http://schemas.openxmlformats.org/officeDocument/2006/relationships/notesSlide" Target="/ppt/notesSlides/notesSlide19.xml" Id="R4bd670a6f0ef40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a88da3388d49e4" /><Relationship Type="http://schemas.openxmlformats.org/officeDocument/2006/relationships/image" Target="/ppt/media/image20.jpeg" Id="Rb21332ccfe544924" /><Relationship Type="http://schemas.openxmlformats.org/officeDocument/2006/relationships/notesSlide" Target="/ppt/notesSlides/notesSlide20.xml" Id="R0b5a116bcb77425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1fb3c53e2e24874" /><Relationship Type="http://schemas.openxmlformats.org/officeDocument/2006/relationships/image" Target="/ppt/media/image21.jpeg" Id="R52b45a9dd01e42b3" /><Relationship Type="http://schemas.openxmlformats.org/officeDocument/2006/relationships/notesSlide" Target="/ppt/notesSlides/notesSlide21.xml" Id="R6063a68237b34f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b3c5422ea56427f" /><Relationship Type="http://schemas.openxmlformats.org/officeDocument/2006/relationships/image" Target="/ppt/media/image22.jpeg" Id="R9212854d305e407a" /><Relationship Type="http://schemas.openxmlformats.org/officeDocument/2006/relationships/notesSlide" Target="/ppt/notesSlides/notesSlide22.xml" Id="R27e921257e9144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f2e8dadcd8549ed" /><Relationship Type="http://schemas.openxmlformats.org/officeDocument/2006/relationships/image" Target="/ppt/media/image23.jpeg" Id="Rfe8789e188df47b8" /><Relationship Type="http://schemas.openxmlformats.org/officeDocument/2006/relationships/notesSlide" Target="/ppt/notesSlides/notesSlide23.xml" Id="R43ea63fb2acf4c1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63b83a117dc432e" /><Relationship Type="http://schemas.openxmlformats.org/officeDocument/2006/relationships/image" Target="/ppt/media/image24.jpeg" Id="R6ab3cb9878c84c17" /><Relationship Type="http://schemas.openxmlformats.org/officeDocument/2006/relationships/notesSlide" Target="/ppt/notesSlides/notesSlide24.xml" Id="R84df15524bd14e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8b9b28397cc4749" /><Relationship Type="http://schemas.openxmlformats.org/officeDocument/2006/relationships/image" Target="/ppt/media/image25.jpeg" Id="Rc095086694a34c85" /><Relationship Type="http://schemas.openxmlformats.org/officeDocument/2006/relationships/notesSlide" Target="/ppt/notesSlides/notesSlide25.xml" Id="R875717a8f69e4a5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b68567ce941473d" /><Relationship Type="http://schemas.openxmlformats.org/officeDocument/2006/relationships/image" Target="/ppt/media/image26.jpeg" Id="Rba2715f1276849cc" /><Relationship Type="http://schemas.openxmlformats.org/officeDocument/2006/relationships/notesSlide" Target="/ppt/notesSlides/notesSlide26.xml" Id="R0a05cbfc107049a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6df54e79b684c72" /><Relationship Type="http://schemas.openxmlformats.org/officeDocument/2006/relationships/image" Target="/ppt/media/image27.jpeg" Id="R329c0aea218f43fc" /><Relationship Type="http://schemas.openxmlformats.org/officeDocument/2006/relationships/notesSlide" Target="/ppt/notesSlides/notesSlide27.xml" Id="R4fbb5c8b247043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4dc0616b014443e" /><Relationship Type="http://schemas.openxmlformats.org/officeDocument/2006/relationships/image" Target="/ppt/media/image28.jpeg" Id="Redc58d8cbc7c4d37" /><Relationship Type="http://schemas.openxmlformats.org/officeDocument/2006/relationships/notesSlide" Target="/ppt/notesSlides/notesSlide28.xml" Id="Rbd962b580f3145b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11ee41c407a496d" /><Relationship Type="http://schemas.openxmlformats.org/officeDocument/2006/relationships/image" Target="/ppt/media/image29.jpeg" Id="Rd450337ada634926" /><Relationship Type="http://schemas.openxmlformats.org/officeDocument/2006/relationships/notesSlide" Target="/ppt/notesSlides/notesSlide29.xml" Id="R3e215f2eb651497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6b9c06990e148cd" /><Relationship Type="http://schemas.openxmlformats.org/officeDocument/2006/relationships/image" Target="/ppt/media/image30.jpeg" Id="Rc86f063182a347fc" /><Relationship Type="http://schemas.openxmlformats.org/officeDocument/2006/relationships/notesSlide" Target="/ppt/notesSlides/notesSlide30.xml" Id="R0b35a0855222465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bb5641c61a440d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AE0785-77B6-40C9-9BAE-2818E969ED90}"/>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01</a:t>
            </a:r>
          </a:p>
        </p:txBody>
      </p:sp>
      <p:sp>
        <p:nvSpPr>
          <p:cNvPr id="3" name="">
            <a:extLst xmlns:a="http://schemas.openxmlformats.org/drawingml/2006/main">
              <a:ext uri="{FF2B5EF4-FFF2-40B4-BE49-F238E27FC236}">
                <a16:creationId xmlns:a16="http://schemas.microsoft.com/office/drawing/2014/main" id="{D9EF8B2F-86A5-4859-8519-B4E5D85A0FB5}"/>
              </a:ext>
            </a:extLst>
          </p:cNvPr>
          <p:cNvSpPr>
            <a:spLocks xmlns:a="http://schemas.openxmlformats.org/drawingml/2006/main" noGrp="1"/>
          </p:cNvSpPr>
          <p:nvPr/>
        </p:nvSpPr>
        <p:spPr>
          <a:xfrm xmlns:a="http://schemas.openxmlformats.org/drawingml/2006/main">
            <a:off x="742950" y="742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DUET / AIRA</a:t>
            </a:r>
          </a:p>
        </p:txBody>
      </p:sp>
      <p:sp>
        <p:nvSpPr>
          <p:cNvPr id="4" name="">
            <a:extLst xmlns:a="http://schemas.openxmlformats.org/drawingml/2006/main">
              <a:ext uri="{FF2B5EF4-FFF2-40B4-BE49-F238E27FC236}">
                <a16:creationId xmlns:a16="http://schemas.microsoft.com/office/drawing/2014/main" id="{2E7189EF-839D-46DB-BA0F-D13EFDD3D2E8}"/>
              </a:ext>
            </a:extLst>
          </p:cNvPr>
          <p:cNvSpPr>
            <a:spLocks xmlns:a="http://schemas.openxmlformats.org/drawingml/2006/main" noGrp="1"/>
          </p:cNvSpPr>
          <p:nvPr/>
        </p:nvSpPr>
        <p:spPr>
          <a:xfrm xmlns:a="http://schemas.openxmlformats.org/drawingml/2006/main">
            <a:off x="742950" y="1543050"/>
            <a:ext cx="7810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4000"/>
              </a:lnSpc>
              <a:buNone/>
              <a:defRPr sz="4200" b="1">
                <a:solidFill>
                  <a:srgbClr val="102A43"/>
                </a:solidFill>
                <a:latin typeface="Aptos"/>
                <a:ea typeface="Aptos"/>
                <a:cs typeface="Aptos"/>
              </a:defRPr>
            </a:pPr>
            <a:r>
              <a:rPr sz="4200" b="1">
                <a:solidFill>
                  <a:srgbClr val="102A43"/>
                </a:solidFill>
                <a:latin typeface="Aptos"/>
                <a:ea typeface="Aptos"/>
                <a:cs typeface="Aptos"/>
              </a:rPr>
              <a:t>Humanising Voice AI</a:t>
            </a:r>
          </a:p>
        </p:txBody>
      </p:sp>
      <p:sp>
        <p:nvSpPr>
          <p:cNvPr id="5" name="">
            <a:extLst xmlns:a="http://schemas.openxmlformats.org/drawingml/2006/main">
              <a:ext uri="{FF2B5EF4-FFF2-40B4-BE49-F238E27FC236}">
                <a16:creationId xmlns:a16="http://schemas.microsoft.com/office/drawing/2014/main" id="{096A8F90-FC25-41BD-BBA6-390B935A7A33}"/>
              </a:ext>
            </a:extLst>
          </p:cNvPr>
          <p:cNvSpPr>
            <a:spLocks xmlns:a="http://schemas.openxmlformats.org/drawingml/2006/main" noGrp="1"/>
          </p:cNvSpPr>
          <p:nvPr/>
        </p:nvSpPr>
        <p:spPr>
          <a:xfrm xmlns:a="http://schemas.openxmlformats.org/drawingml/2006/main">
            <a:off x="781050" y="3543300"/>
            <a:ext cx="647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4B687A"/>
                </a:solidFill>
                <a:latin typeface="Aptos"/>
                <a:ea typeface="Aptos"/>
                <a:cs typeface="Aptos"/>
              </a:defRPr>
            </a:pPr>
            <a:r>
              <a:rPr sz="1650" b="0">
                <a:solidFill>
                  <a:srgbClr val="4B687A"/>
                </a:solidFill>
                <a:latin typeface="Aptos"/>
                <a:ea typeface="Aptos"/>
                <a:cs typeface="Aptos"/>
              </a:rPr>
              <a:t>A month of building, breaking and measuring a real-time voice agent.</a:t>
            </a:r>
          </a:p>
        </p:txBody>
      </p:sp>
      <p:sp>
        <p:nvSpPr>
          <p:cNvPr id="6" name="">
            <a:extLst xmlns:a="http://schemas.openxmlformats.org/drawingml/2006/main">
              <a:ext uri="{FF2B5EF4-FFF2-40B4-BE49-F238E27FC236}">
                <a16:creationId xmlns:a16="http://schemas.microsoft.com/office/drawing/2014/main" id="{D1662475-CB66-4A4F-B17C-B9461E5C90B7}"/>
              </a:ext>
            </a:extLst>
          </p:cNvPr>
          <p:cNvSpPr>
            <a:spLocks xmlns:a="http://schemas.openxmlformats.org/drawingml/2006/main" noGrp="1"/>
          </p:cNvSpPr>
          <p:nvPr/>
        </p:nvSpPr>
        <p:spPr>
          <a:xfrm xmlns:a="http://schemas.openxmlformats.org/drawingml/2006/main">
            <a:off x="781050" y="5067300"/>
            <a:ext cx="9982200" cy="0"/>
          </a:xfrm>
          <a:prstGeom xmlns:a="http://schemas.openxmlformats.org/drawingml/2006/main" prst="line">
            <a:avLst/>
          </a:prstGeom>
          <a:noFill xmlns:a="http://schemas.openxmlformats.org/drawingml/2006/main"/>
          <a:ln xmlns:a="http://schemas.openxmlformats.org/drawingml/2006/main" w="28575">
            <a:solidFill>
              <a:srgbClr val="288DC1"/>
            </a:solidFill>
            <a:prstDash val="solid"/>
          </a:ln>
        </p:spPr>
      </p:sp>
      <p:sp>
        <p:nvSpPr>
          <p:cNvPr id="7" name="">
            <a:extLst xmlns:a="http://schemas.openxmlformats.org/drawingml/2006/main">
              <a:ext uri="{FF2B5EF4-FFF2-40B4-BE49-F238E27FC236}">
                <a16:creationId xmlns:a16="http://schemas.microsoft.com/office/drawing/2014/main" id="{C2AD5981-1DFB-4DCC-8896-062B788CA3A1}"/>
              </a:ext>
            </a:extLst>
          </p:cNvPr>
          <p:cNvSpPr>
            <a:spLocks xmlns:a="http://schemas.openxmlformats.org/drawingml/2006/main" noGrp="1"/>
          </p:cNvSpPr>
          <p:nvPr/>
        </p:nvSpPr>
        <p:spPr>
          <a:xfrm xmlns:a="http://schemas.openxmlformats.org/drawingml/2006/main">
            <a:off x="781050" y="4991100"/>
            <a:ext cx="0" cy="1524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8" name="">
            <a:extLst xmlns:a="http://schemas.openxmlformats.org/drawingml/2006/main">
              <a:ext uri="{FF2B5EF4-FFF2-40B4-BE49-F238E27FC236}">
                <a16:creationId xmlns:a16="http://schemas.microsoft.com/office/drawing/2014/main" id="{C83F1C0F-251C-485D-9031-A4BA178E7AD3}"/>
              </a:ext>
            </a:extLst>
          </p:cNvPr>
          <p:cNvSpPr>
            <a:spLocks xmlns:a="http://schemas.openxmlformats.org/drawingml/2006/main" noGrp="1"/>
          </p:cNvSpPr>
          <p:nvPr/>
        </p:nvSpPr>
        <p:spPr>
          <a:xfrm xmlns:a="http://schemas.openxmlformats.org/drawingml/2006/main">
            <a:off x="1238250" y="4933950"/>
            <a:ext cx="0" cy="2667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9" name="">
            <a:extLst xmlns:a="http://schemas.openxmlformats.org/drawingml/2006/main">
              <a:ext uri="{FF2B5EF4-FFF2-40B4-BE49-F238E27FC236}">
                <a16:creationId xmlns:a16="http://schemas.microsoft.com/office/drawing/2014/main" id="{B0B4CAF7-9A69-4562-B0DA-D04F802782AA}"/>
              </a:ext>
            </a:extLst>
          </p:cNvPr>
          <p:cNvSpPr>
            <a:spLocks xmlns:a="http://schemas.openxmlformats.org/drawingml/2006/main" noGrp="1"/>
          </p:cNvSpPr>
          <p:nvPr/>
        </p:nvSpPr>
        <p:spPr>
          <a:xfrm xmlns:a="http://schemas.openxmlformats.org/drawingml/2006/main">
            <a:off x="1695450" y="4876800"/>
            <a:ext cx="0" cy="3810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0" name="">
            <a:extLst xmlns:a="http://schemas.openxmlformats.org/drawingml/2006/main">
              <a:ext uri="{FF2B5EF4-FFF2-40B4-BE49-F238E27FC236}">
                <a16:creationId xmlns:a16="http://schemas.microsoft.com/office/drawing/2014/main" id="{76C098D0-F22A-407C-BA77-E7DC060FC9BF}"/>
              </a:ext>
            </a:extLst>
          </p:cNvPr>
          <p:cNvSpPr>
            <a:spLocks xmlns:a="http://schemas.openxmlformats.org/drawingml/2006/main" noGrp="1"/>
          </p:cNvSpPr>
          <p:nvPr/>
        </p:nvSpPr>
        <p:spPr>
          <a:xfrm xmlns:a="http://schemas.openxmlformats.org/drawingml/2006/main">
            <a:off x="2152650" y="481965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1" name="">
            <a:extLst xmlns:a="http://schemas.openxmlformats.org/drawingml/2006/main">
              <a:ext uri="{FF2B5EF4-FFF2-40B4-BE49-F238E27FC236}">
                <a16:creationId xmlns:a16="http://schemas.microsoft.com/office/drawing/2014/main" id="{2A0713A6-C434-43B9-A723-785AAF7672FA}"/>
              </a:ext>
            </a:extLst>
          </p:cNvPr>
          <p:cNvSpPr>
            <a:spLocks xmlns:a="http://schemas.openxmlformats.org/drawingml/2006/main" noGrp="1"/>
          </p:cNvSpPr>
          <p:nvPr/>
        </p:nvSpPr>
        <p:spPr>
          <a:xfrm xmlns:a="http://schemas.openxmlformats.org/drawingml/2006/main">
            <a:off x="2609850" y="4762500"/>
            <a:ext cx="0" cy="6096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12" name="">
            <a:extLst xmlns:a="http://schemas.openxmlformats.org/drawingml/2006/main">
              <a:ext uri="{FF2B5EF4-FFF2-40B4-BE49-F238E27FC236}">
                <a16:creationId xmlns:a16="http://schemas.microsoft.com/office/drawing/2014/main" id="{D3DEC7BF-9B93-4FEF-8ECE-E4641CED1B13}"/>
              </a:ext>
            </a:extLst>
          </p:cNvPr>
          <p:cNvSpPr>
            <a:spLocks xmlns:a="http://schemas.openxmlformats.org/drawingml/2006/main" noGrp="1"/>
          </p:cNvSpPr>
          <p:nvPr/>
        </p:nvSpPr>
        <p:spPr>
          <a:xfrm xmlns:a="http://schemas.openxmlformats.org/drawingml/2006/main">
            <a:off x="3067050" y="4991100"/>
            <a:ext cx="0" cy="1524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3" name="">
            <a:extLst xmlns:a="http://schemas.openxmlformats.org/drawingml/2006/main">
              <a:ext uri="{FF2B5EF4-FFF2-40B4-BE49-F238E27FC236}">
                <a16:creationId xmlns:a16="http://schemas.microsoft.com/office/drawing/2014/main" id="{3949151A-18CB-463A-B177-512088EAFB8B}"/>
              </a:ext>
            </a:extLst>
          </p:cNvPr>
          <p:cNvSpPr>
            <a:spLocks xmlns:a="http://schemas.openxmlformats.org/drawingml/2006/main" noGrp="1"/>
          </p:cNvSpPr>
          <p:nvPr/>
        </p:nvSpPr>
        <p:spPr>
          <a:xfrm xmlns:a="http://schemas.openxmlformats.org/drawingml/2006/main">
            <a:off x="3524250" y="4933950"/>
            <a:ext cx="0" cy="2667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4" name="">
            <a:extLst xmlns:a="http://schemas.openxmlformats.org/drawingml/2006/main">
              <a:ext uri="{FF2B5EF4-FFF2-40B4-BE49-F238E27FC236}">
                <a16:creationId xmlns:a16="http://schemas.microsoft.com/office/drawing/2014/main" id="{4774C6AA-9B98-4113-A53E-352906109DE1}"/>
              </a:ext>
            </a:extLst>
          </p:cNvPr>
          <p:cNvSpPr>
            <a:spLocks xmlns:a="http://schemas.openxmlformats.org/drawingml/2006/main" noGrp="1"/>
          </p:cNvSpPr>
          <p:nvPr/>
        </p:nvSpPr>
        <p:spPr>
          <a:xfrm xmlns:a="http://schemas.openxmlformats.org/drawingml/2006/main">
            <a:off x="3981450" y="4876800"/>
            <a:ext cx="0" cy="3810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5" name="">
            <a:extLst xmlns:a="http://schemas.openxmlformats.org/drawingml/2006/main">
              <a:ext uri="{FF2B5EF4-FFF2-40B4-BE49-F238E27FC236}">
                <a16:creationId xmlns:a16="http://schemas.microsoft.com/office/drawing/2014/main" id="{400E4FAC-9707-4C6F-BE5A-AFA3A26684AA}"/>
              </a:ext>
            </a:extLst>
          </p:cNvPr>
          <p:cNvSpPr>
            <a:spLocks xmlns:a="http://schemas.openxmlformats.org/drawingml/2006/main" noGrp="1"/>
          </p:cNvSpPr>
          <p:nvPr/>
        </p:nvSpPr>
        <p:spPr>
          <a:xfrm xmlns:a="http://schemas.openxmlformats.org/drawingml/2006/main">
            <a:off x="4438650" y="4819650"/>
            <a:ext cx="0" cy="4953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16" name="">
            <a:extLst xmlns:a="http://schemas.openxmlformats.org/drawingml/2006/main">
              <a:ext uri="{FF2B5EF4-FFF2-40B4-BE49-F238E27FC236}">
                <a16:creationId xmlns:a16="http://schemas.microsoft.com/office/drawing/2014/main" id="{C393F237-852D-4911-9803-9D12BB316CF6}"/>
              </a:ext>
            </a:extLst>
          </p:cNvPr>
          <p:cNvSpPr>
            <a:spLocks xmlns:a="http://schemas.openxmlformats.org/drawingml/2006/main" noGrp="1"/>
          </p:cNvSpPr>
          <p:nvPr/>
        </p:nvSpPr>
        <p:spPr>
          <a:xfrm xmlns:a="http://schemas.openxmlformats.org/drawingml/2006/main">
            <a:off x="4895850" y="4762500"/>
            <a:ext cx="0" cy="609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7" name="">
            <a:extLst xmlns:a="http://schemas.openxmlformats.org/drawingml/2006/main">
              <a:ext uri="{FF2B5EF4-FFF2-40B4-BE49-F238E27FC236}">
                <a16:creationId xmlns:a16="http://schemas.microsoft.com/office/drawing/2014/main" id="{C842926D-1968-4922-9D6A-3CD356BD789C}"/>
              </a:ext>
            </a:extLst>
          </p:cNvPr>
          <p:cNvSpPr>
            <a:spLocks xmlns:a="http://schemas.openxmlformats.org/drawingml/2006/main" noGrp="1"/>
          </p:cNvSpPr>
          <p:nvPr/>
        </p:nvSpPr>
        <p:spPr>
          <a:xfrm xmlns:a="http://schemas.openxmlformats.org/drawingml/2006/main">
            <a:off x="5353050" y="4991100"/>
            <a:ext cx="0" cy="1524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8" name="">
            <a:extLst xmlns:a="http://schemas.openxmlformats.org/drawingml/2006/main">
              <a:ext uri="{FF2B5EF4-FFF2-40B4-BE49-F238E27FC236}">
                <a16:creationId xmlns:a16="http://schemas.microsoft.com/office/drawing/2014/main" id="{7C9B9749-8510-4CE7-8012-B3280D0CC4D0}"/>
              </a:ext>
            </a:extLst>
          </p:cNvPr>
          <p:cNvSpPr>
            <a:spLocks xmlns:a="http://schemas.openxmlformats.org/drawingml/2006/main" noGrp="1"/>
          </p:cNvSpPr>
          <p:nvPr/>
        </p:nvSpPr>
        <p:spPr>
          <a:xfrm xmlns:a="http://schemas.openxmlformats.org/drawingml/2006/main">
            <a:off x="5810250" y="4933950"/>
            <a:ext cx="0" cy="2667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9" name="">
            <a:extLst xmlns:a="http://schemas.openxmlformats.org/drawingml/2006/main">
              <a:ext uri="{FF2B5EF4-FFF2-40B4-BE49-F238E27FC236}">
                <a16:creationId xmlns:a16="http://schemas.microsoft.com/office/drawing/2014/main" id="{D5101E06-6E14-4D71-A2F8-B36CDE431E18}"/>
              </a:ext>
            </a:extLst>
          </p:cNvPr>
          <p:cNvSpPr>
            <a:spLocks xmlns:a="http://schemas.openxmlformats.org/drawingml/2006/main" noGrp="1"/>
          </p:cNvSpPr>
          <p:nvPr/>
        </p:nvSpPr>
        <p:spPr>
          <a:xfrm xmlns:a="http://schemas.openxmlformats.org/drawingml/2006/main">
            <a:off x="6267450" y="4876800"/>
            <a:ext cx="0" cy="3810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20" name="">
            <a:extLst xmlns:a="http://schemas.openxmlformats.org/drawingml/2006/main">
              <a:ext uri="{FF2B5EF4-FFF2-40B4-BE49-F238E27FC236}">
                <a16:creationId xmlns:a16="http://schemas.microsoft.com/office/drawing/2014/main" id="{71BE9C94-DB70-41F6-AD75-F25569D4F958}"/>
              </a:ext>
            </a:extLst>
          </p:cNvPr>
          <p:cNvSpPr>
            <a:spLocks xmlns:a="http://schemas.openxmlformats.org/drawingml/2006/main" noGrp="1"/>
          </p:cNvSpPr>
          <p:nvPr/>
        </p:nvSpPr>
        <p:spPr>
          <a:xfrm xmlns:a="http://schemas.openxmlformats.org/drawingml/2006/main">
            <a:off x="6724650" y="481965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1" name="">
            <a:extLst xmlns:a="http://schemas.openxmlformats.org/drawingml/2006/main">
              <a:ext uri="{FF2B5EF4-FFF2-40B4-BE49-F238E27FC236}">
                <a16:creationId xmlns:a16="http://schemas.microsoft.com/office/drawing/2014/main" id="{D179F3E7-6D71-48B0-8145-9BBE9C229B96}"/>
              </a:ext>
            </a:extLst>
          </p:cNvPr>
          <p:cNvSpPr>
            <a:spLocks xmlns:a="http://schemas.openxmlformats.org/drawingml/2006/main" noGrp="1"/>
          </p:cNvSpPr>
          <p:nvPr/>
        </p:nvSpPr>
        <p:spPr>
          <a:xfrm xmlns:a="http://schemas.openxmlformats.org/drawingml/2006/main">
            <a:off x="7181850" y="4762500"/>
            <a:ext cx="0" cy="609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2" name="">
            <a:extLst xmlns:a="http://schemas.openxmlformats.org/drawingml/2006/main">
              <a:ext uri="{FF2B5EF4-FFF2-40B4-BE49-F238E27FC236}">
                <a16:creationId xmlns:a16="http://schemas.microsoft.com/office/drawing/2014/main" id="{46DAE8C1-68F2-42D0-8739-DC2F53B640AF}"/>
              </a:ext>
            </a:extLst>
          </p:cNvPr>
          <p:cNvSpPr>
            <a:spLocks xmlns:a="http://schemas.openxmlformats.org/drawingml/2006/main" noGrp="1"/>
          </p:cNvSpPr>
          <p:nvPr/>
        </p:nvSpPr>
        <p:spPr>
          <a:xfrm xmlns:a="http://schemas.openxmlformats.org/drawingml/2006/main">
            <a:off x="7639050" y="4991100"/>
            <a:ext cx="0" cy="1524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3" name="">
            <a:extLst xmlns:a="http://schemas.openxmlformats.org/drawingml/2006/main">
              <a:ext uri="{FF2B5EF4-FFF2-40B4-BE49-F238E27FC236}">
                <a16:creationId xmlns:a16="http://schemas.microsoft.com/office/drawing/2014/main" id="{2BC6362D-4F56-4946-B74E-A0FEACD7F151}"/>
              </a:ext>
            </a:extLst>
          </p:cNvPr>
          <p:cNvSpPr>
            <a:spLocks xmlns:a="http://schemas.openxmlformats.org/drawingml/2006/main" noGrp="1"/>
          </p:cNvSpPr>
          <p:nvPr/>
        </p:nvSpPr>
        <p:spPr>
          <a:xfrm xmlns:a="http://schemas.openxmlformats.org/drawingml/2006/main">
            <a:off x="8096250" y="4933950"/>
            <a:ext cx="0" cy="2667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24" name="">
            <a:extLst xmlns:a="http://schemas.openxmlformats.org/drawingml/2006/main">
              <a:ext uri="{FF2B5EF4-FFF2-40B4-BE49-F238E27FC236}">
                <a16:creationId xmlns:a16="http://schemas.microsoft.com/office/drawing/2014/main" id="{55A22672-81A7-4B8A-88B0-E5A52AADC92F}"/>
              </a:ext>
            </a:extLst>
          </p:cNvPr>
          <p:cNvSpPr>
            <a:spLocks xmlns:a="http://schemas.openxmlformats.org/drawingml/2006/main" noGrp="1"/>
          </p:cNvSpPr>
          <p:nvPr/>
        </p:nvSpPr>
        <p:spPr>
          <a:xfrm xmlns:a="http://schemas.openxmlformats.org/drawingml/2006/main">
            <a:off x="8553450" y="4876800"/>
            <a:ext cx="0" cy="3810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5" name="">
            <a:extLst xmlns:a="http://schemas.openxmlformats.org/drawingml/2006/main">
              <a:ext uri="{FF2B5EF4-FFF2-40B4-BE49-F238E27FC236}">
                <a16:creationId xmlns:a16="http://schemas.microsoft.com/office/drawing/2014/main" id="{4BFD87B5-38AC-47E9-AD57-51B4E77C8BAB}"/>
              </a:ext>
            </a:extLst>
          </p:cNvPr>
          <p:cNvSpPr>
            <a:spLocks xmlns:a="http://schemas.openxmlformats.org/drawingml/2006/main" noGrp="1"/>
          </p:cNvSpPr>
          <p:nvPr/>
        </p:nvSpPr>
        <p:spPr>
          <a:xfrm xmlns:a="http://schemas.openxmlformats.org/drawingml/2006/main">
            <a:off x="9010650" y="481965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6" name="">
            <a:extLst xmlns:a="http://schemas.openxmlformats.org/drawingml/2006/main">
              <a:ext uri="{FF2B5EF4-FFF2-40B4-BE49-F238E27FC236}">
                <a16:creationId xmlns:a16="http://schemas.microsoft.com/office/drawing/2014/main" id="{33CCB657-29BD-4AC3-AD4B-A7A095456A72}"/>
              </a:ext>
            </a:extLst>
          </p:cNvPr>
          <p:cNvSpPr>
            <a:spLocks xmlns:a="http://schemas.openxmlformats.org/drawingml/2006/main" noGrp="1"/>
          </p:cNvSpPr>
          <p:nvPr/>
        </p:nvSpPr>
        <p:spPr>
          <a:xfrm xmlns:a="http://schemas.openxmlformats.org/drawingml/2006/main">
            <a:off x="9467850" y="4762500"/>
            <a:ext cx="0" cy="609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7" name="">
            <a:extLst xmlns:a="http://schemas.openxmlformats.org/drawingml/2006/main">
              <a:ext uri="{FF2B5EF4-FFF2-40B4-BE49-F238E27FC236}">
                <a16:creationId xmlns:a16="http://schemas.microsoft.com/office/drawing/2014/main" id="{2BDEDF54-23EC-449A-A2ED-6ECCC9DDD7E8}"/>
              </a:ext>
            </a:extLst>
          </p:cNvPr>
          <p:cNvSpPr>
            <a:spLocks xmlns:a="http://schemas.openxmlformats.org/drawingml/2006/main" noGrp="1"/>
          </p:cNvSpPr>
          <p:nvPr/>
        </p:nvSpPr>
        <p:spPr>
          <a:xfrm xmlns:a="http://schemas.openxmlformats.org/drawingml/2006/main">
            <a:off x="9925050" y="4991100"/>
            <a:ext cx="0" cy="1524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28" name="">
            <a:extLst xmlns:a="http://schemas.openxmlformats.org/drawingml/2006/main">
              <a:ext uri="{FF2B5EF4-FFF2-40B4-BE49-F238E27FC236}">
                <a16:creationId xmlns:a16="http://schemas.microsoft.com/office/drawing/2014/main" id="{113E38CB-2CD5-490C-B1FC-15D4D322E3A9}"/>
              </a:ext>
            </a:extLst>
          </p:cNvPr>
          <p:cNvSpPr>
            <a:spLocks xmlns:a="http://schemas.openxmlformats.org/drawingml/2006/main" noGrp="1"/>
          </p:cNvSpPr>
          <p:nvPr/>
        </p:nvSpPr>
        <p:spPr>
          <a:xfrm xmlns:a="http://schemas.openxmlformats.org/drawingml/2006/main">
            <a:off x="10382250" y="4933950"/>
            <a:ext cx="0" cy="2667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9" name="">
            <a:extLst xmlns:a="http://schemas.openxmlformats.org/drawingml/2006/main">
              <a:ext uri="{FF2B5EF4-FFF2-40B4-BE49-F238E27FC236}">
                <a16:creationId xmlns:a16="http://schemas.microsoft.com/office/drawing/2014/main" id="{81DFA761-A6D3-4065-8BB8-58A91E70F3BE}"/>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repository experiments, August 2026</a:t>
            </a:r>
          </a:p>
        </p:txBody>
      </p:sp>
    </p:spTree>
    <p:extLst>
      <p:ext uri="{BB962C8B-B14F-4D97-AF65-F5344CB8AC3E}">
        <p14:creationId xmlns:p14="http://schemas.microsoft.com/office/powerpoint/2010/main" val="11096604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1a3b8157cb349b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DC75DE-BC38-43CA-89B0-B4DC517965DE}"/>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413CE546-7CB5-4827-9047-2B06CF62B84C}"/>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02</a:t>
            </a:r>
          </a:p>
        </p:txBody>
      </p:sp>
      <p:sp>
        <p:nvSpPr>
          <p:cNvPr id="4" name="">
            <a:extLst xmlns:a="http://schemas.openxmlformats.org/drawingml/2006/main">
              <a:ext uri="{FF2B5EF4-FFF2-40B4-BE49-F238E27FC236}">
                <a16:creationId xmlns:a16="http://schemas.microsoft.com/office/drawing/2014/main" id="{1FD66C68-FB30-4309-B818-004DB3EC2642}"/>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AD48DF3B-E338-492A-8E3D-B54813935B9F}"/>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A voice agent is a real-time control system</a:t>
            </a:r>
          </a:p>
        </p:txBody>
      </p:sp>
      <p:sp>
        <p:nvSpPr>
          <p:cNvPr id="6" name="">
            <a:extLst xmlns:a="http://schemas.openxmlformats.org/drawingml/2006/main">
              <a:ext uri="{FF2B5EF4-FFF2-40B4-BE49-F238E27FC236}">
                <a16:creationId xmlns:a16="http://schemas.microsoft.com/office/drawing/2014/main" id="{6818F055-DA21-473C-8936-6BAA7646D52F}"/>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6E04BA83-9B8D-49A5-83C4-0628E17FD374}"/>
              </a:ext>
            </a:extLst>
          </p:cNvPr>
          <p:cNvSpPr>
            <a:spLocks xmlns:a="http://schemas.openxmlformats.org/drawingml/2006/main" noGrp="1"/>
          </p:cNvSpPr>
          <p:nvPr/>
        </p:nvSpPr>
        <p:spPr>
          <a:xfrm xmlns:a="http://schemas.openxmlformats.org/drawingml/2006/main">
            <a:off x="742950" y="1962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D96C5F"/>
                </a:solidFill>
                <a:latin typeface="Aptos"/>
                <a:ea typeface="Aptos"/>
                <a:cs typeface="Aptos"/>
              </a:defRPr>
            </a:pPr>
            <a:r>
              <a:rPr sz="825" b="1">
                <a:solidFill>
                  <a:srgbClr val="D96C5F"/>
                </a:solidFill>
                <a:latin typeface="Aptos"/>
                <a:ea typeface="Aptos"/>
                <a:cs typeface="Aptos"/>
              </a:rPr>
              <a:t>ONE SHARED STATE</a:t>
            </a:r>
          </a:p>
        </p:txBody>
      </p:sp>
      <p:sp>
        <p:nvSpPr>
          <p:cNvPr id="8" name="">
            <a:extLst xmlns:a="http://schemas.openxmlformats.org/drawingml/2006/main">
              <a:ext uri="{FF2B5EF4-FFF2-40B4-BE49-F238E27FC236}">
                <a16:creationId xmlns:a16="http://schemas.microsoft.com/office/drawing/2014/main" id="{E7C2A589-A757-4735-A3D6-4A0ABBC1FEE1}"/>
              </a:ext>
            </a:extLst>
          </p:cNvPr>
          <p:cNvSpPr>
            <a:spLocks xmlns:a="http://schemas.openxmlformats.org/drawingml/2006/main" noGrp="1"/>
          </p:cNvSpPr>
          <p:nvPr/>
        </p:nvSpPr>
        <p:spPr>
          <a:xfrm xmlns:a="http://schemas.openxmlformats.org/drawingml/2006/main">
            <a:off x="742950" y="2209800"/>
            <a:ext cx="10706100" cy="628650"/>
          </a:xfrm>
          <a:prstGeom xmlns:a="http://schemas.openxmlformats.org/drawingml/2006/main" prst="roundRect">
            <a:avLst>
              <a:gd name="adj" fmla="val 27273"/>
            </a:avLst>
          </a:prstGeom>
          <a:solidFill xmlns:a="http://schemas.openxmlformats.org/drawingml/2006/main">
            <a:srgbClr val="E8F3F6"/>
          </a:solidFill>
          <a:ln xmlns:a="http://schemas.openxmlformats.org/drawingml/2006/main" w="9525">
            <a:solidFill>
              <a:srgbClr val="8EBBD0"/>
            </a:solidFill>
            <a:prstDash val="solid"/>
          </a:ln>
        </p:spPr>
      </p:sp>
      <p:sp>
        <p:nvSpPr>
          <p:cNvPr id="9" name="">
            <a:extLst xmlns:a="http://schemas.openxmlformats.org/drawingml/2006/main">
              <a:ext uri="{FF2B5EF4-FFF2-40B4-BE49-F238E27FC236}">
                <a16:creationId xmlns:a16="http://schemas.microsoft.com/office/drawing/2014/main" id="{5F2DB50E-E92F-4646-9256-A927F8D6DD68}"/>
              </a:ext>
            </a:extLst>
          </p:cNvPr>
          <p:cNvSpPr>
            <a:spLocks xmlns:a="http://schemas.openxmlformats.org/drawingml/2006/main" noGrp="1"/>
          </p:cNvSpPr>
          <p:nvPr/>
        </p:nvSpPr>
        <p:spPr>
          <a:xfrm xmlns:a="http://schemas.openxmlformats.org/drawingml/2006/main">
            <a:off x="1009650" y="23145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02A43"/>
                </a:solidFill>
                <a:latin typeface="Aptos"/>
                <a:ea typeface="Aptos"/>
                <a:cs typeface="Aptos"/>
              </a:defRPr>
            </a:pPr>
            <a:r>
              <a:rPr sz="1500" b="1">
                <a:solidFill>
                  <a:srgbClr val="102A43"/>
                </a:solidFill>
                <a:latin typeface="Aptos"/>
                <a:ea typeface="Aptos"/>
                <a:cs typeface="Aptos"/>
              </a:rPr>
              <a:t>conversation state</a:t>
            </a:r>
          </a:p>
        </p:txBody>
      </p:sp>
      <p:sp>
        <p:nvSpPr>
          <p:cNvPr id="10" name="">
            <a:extLst xmlns:a="http://schemas.openxmlformats.org/drawingml/2006/main">
              <a:ext uri="{FF2B5EF4-FFF2-40B4-BE49-F238E27FC236}">
                <a16:creationId xmlns:a16="http://schemas.microsoft.com/office/drawing/2014/main" id="{EE56BB13-83A3-406D-AF88-9E4C4EFA9FEB}"/>
              </a:ext>
            </a:extLst>
          </p:cNvPr>
          <p:cNvSpPr>
            <a:spLocks xmlns:a="http://schemas.openxmlformats.org/drawingml/2006/main" noGrp="1"/>
          </p:cNvSpPr>
          <p:nvPr/>
        </p:nvSpPr>
        <p:spPr>
          <a:xfrm xmlns:a="http://schemas.openxmlformats.org/drawingml/2006/main">
            <a:off x="3752850" y="2314575"/>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00" b="0">
                <a:solidFill>
                  <a:srgbClr val="4B687A"/>
                </a:solidFill>
                <a:latin typeface="Aptos"/>
                <a:ea typeface="Aptos"/>
                <a:cs typeface="Aptos"/>
              </a:defRPr>
            </a:pPr>
            <a:r>
              <a:rPr sz="1200" b="0">
                <a:solidFill>
                  <a:srgbClr val="4B687A"/>
                </a:solidFill>
                <a:latin typeface="Aptos"/>
                <a:ea typeface="Aptos"/>
                <a:cs typeface="Aptos"/>
              </a:rPr>
              <a:t>who owns the floor  ·  current intent  ·  cancellation version</a:t>
            </a:r>
          </a:p>
        </p:txBody>
      </p:sp>
      <p:sp>
        <p:nvSpPr>
          <p:cNvPr id="11" name="">
            <a:extLst xmlns:a="http://schemas.openxmlformats.org/drawingml/2006/main">
              <a:ext uri="{FF2B5EF4-FFF2-40B4-BE49-F238E27FC236}">
                <a16:creationId xmlns:a16="http://schemas.microsoft.com/office/drawing/2014/main" id="{333A6C65-D70F-4FE7-9531-F632CE7519B5}"/>
              </a:ext>
            </a:extLst>
          </p:cNvPr>
          <p:cNvSpPr>
            <a:spLocks xmlns:a="http://schemas.openxmlformats.org/drawingml/2006/main" noGrp="1"/>
          </p:cNvSpPr>
          <p:nvPr/>
        </p:nvSpPr>
        <p:spPr>
          <a:xfrm xmlns:a="http://schemas.openxmlformats.org/drawingml/2006/main">
            <a:off x="742950" y="3162300"/>
            <a:ext cx="2990850" cy="1181100"/>
          </a:xfrm>
          <a:prstGeom xmlns:a="http://schemas.openxmlformats.org/drawingml/2006/main" prst="roundRect">
            <a:avLst>
              <a:gd name="adj" fmla="val 14516"/>
            </a:avLst>
          </a:prstGeom>
          <a:solidFill xmlns:a="http://schemas.openxmlformats.org/drawingml/2006/main">
            <a:srgbClr val="FFF8EA"/>
          </a:solidFill>
          <a:ln xmlns:a="http://schemas.openxmlformats.org/drawingml/2006/main" w="11430">
            <a:solidFill>
              <a:srgbClr val="8EBBD0"/>
            </a:solidFill>
            <a:prstDash val="solid"/>
          </a:ln>
        </p:spPr>
      </p:sp>
      <p:sp>
        <p:nvSpPr>
          <p:cNvPr id="12" name="">
            <a:extLst xmlns:a="http://schemas.openxmlformats.org/drawingml/2006/main">
              <a:ext uri="{FF2B5EF4-FFF2-40B4-BE49-F238E27FC236}">
                <a16:creationId xmlns:a16="http://schemas.microsoft.com/office/drawing/2014/main" id="{D3DE47B2-B4B2-4497-9627-04B193021B68}"/>
              </a:ext>
            </a:extLst>
          </p:cNvPr>
          <p:cNvSpPr>
            <a:spLocks xmlns:a="http://schemas.openxmlformats.org/drawingml/2006/main" noGrp="1"/>
          </p:cNvSpPr>
          <p:nvPr/>
        </p:nvSpPr>
        <p:spPr>
          <a:xfrm xmlns:a="http://schemas.openxmlformats.org/drawingml/2006/main">
            <a:off x="933450" y="33528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01</a:t>
            </a:r>
          </a:p>
        </p:txBody>
      </p:sp>
      <p:sp>
        <p:nvSpPr>
          <p:cNvPr id="13" name="">
            <a:extLst xmlns:a="http://schemas.openxmlformats.org/drawingml/2006/main">
              <a:ext uri="{FF2B5EF4-FFF2-40B4-BE49-F238E27FC236}">
                <a16:creationId xmlns:a16="http://schemas.microsoft.com/office/drawing/2014/main" id="{AEDB2E4C-FCAC-4C6A-BF74-FAFE9B2DFEB8}"/>
              </a:ext>
            </a:extLst>
          </p:cNvPr>
          <p:cNvSpPr>
            <a:spLocks xmlns:a="http://schemas.openxmlformats.org/drawingml/2006/main" noGrp="1"/>
          </p:cNvSpPr>
          <p:nvPr/>
        </p:nvSpPr>
        <p:spPr>
          <a:xfrm xmlns:a="http://schemas.openxmlformats.org/drawingml/2006/main">
            <a:off x="933450" y="3562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02A43"/>
                </a:solidFill>
                <a:latin typeface="Aptos"/>
                <a:ea typeface="Aptos"/>
                <a:cs typeface="Aptos"/>
              </a:defRPr>
            </a:pPr>
            <a:r>
              <a:rPr sz="1650" b="1">
                <a:solidFill>
                  <a:srgbClr val="102A43"/>
                </a:solidFill>
                <a:latin typeface="Aptos"/>
                <a:ea typeface="Aptos"/>
                <a:cs typeface="Aptos"/>
              </a:rPr>
              <a:t>Listen</a:t>
            </a:r>
          </a:p>
        </p:txBody>
      </p:sp>
      <p:sp>
        <p:nvSpPr>
          <p:cNvPr id="14" name="">
            <a:extLst xmlns:a="http://schemas.openxmlformats.org/drawingml/2006/main">
              <a:ext uri="{FF2B5EF4-FFF2-40B4-BE49-F238E27FC236}">
                <a16:creationId xmlns:a16="http://schemas.microsoft.com/office/drawing/2014/main" id="{F7DA2688-00BC-492D-8000-00AC2B08D43F}"/>
              </a:ext>
            </a:extLst>
          </p:cNvPr>
          <p:cNvSpPr>
            <a:spLocks xmlns:a="http://schemas.openxmlformats.org/drawingml/2006/main" noGrp="1"/>
          </p:cNvSpPr>
          <p:nvPr/>
        </p:nvSpPr>
        <p:spPr>
          <a:xfrm xmlns:a="http://schemas.openxmlformats.org/drawingml/2006/main">
            <a:off x="933450" y="3876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4444"/>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capture speech</a:t>
            </a:r>
          </a:p>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and ownership</a:t>
            </a:r>
          </a:p>
        </p:txBody>
      </p:sp>
      <p:sp>
        <p:nvSpPr>
          <p:cNvPr id="15" name="">
            <a:extLst xmlns:a="http://schemas.openxmlformats.org/drawingml/2006/main">
              <a:ext uri="{FF2B5EF4-FFF2-40B4-BE49-F238E27FC236}">
                <a16:creationId xmlns:a16="http://schemas.microsoft.com/office/drawing/2014/main" id="{92B562F1-0FFC-4626-A750-E3964DB4B84A}"/>
              </a:ext>
            </a:extLst>
          </p:cNvPr>
          <p:cNvSpPr>
            <a:spLocks xmlns:a="http://schemas.openxmlformats.org/drawingml/2006/main" noGrp="1"/>
          </p:cNvSpPr>
          <p:nvPr/>
        </p:nvSpPr>
        <p:spPr>
          <a:xfrm xmlns:a="http://schemas.openxmlformats.org/drawingml/2006/main">
            <a:off x="4229100" y="3162300"/>
            <a:ext cx="2990850" cy="1181100"/>
          </a:xfrm>
          <a:prstGeom xmlns:a="http://schemas.openxmlformats.org/drawingml/2006/main" prst="roundRect">
            <a:avLst>
              <a:gd name="adj" fmla="val 14516"/>
            </a:avLst>
          </a:prstGeom>
          <a:solidFill xmlns:a="http://schemas.openxmlformats.org/drawingml/2006/main">
            <a:srgbClr val="FFF8EA"/>
          </a:solidFill>
          <a:ln xmlns:a="http://schemas.openxmlformats.org/drawingml/2006/main" w="11430">
            <a:solidFill>
              <a:srgbClr val="8EBBD0"/>
            </a:solidFill>
            <a:prstDash val="solid"/>
          </a:ln>
        </p:spPr>
      </p:sp>
      <p:sp>
        <p:nvSpPr>
          <p:cNvPr id="16" name="">
            <a:extLst xmlns:a="http://schemas.openxmlformats.org/drawingml/2006/main">
              <a:ext uri="{FF2B5EF4-FFF2-40B4-BE49-F238E27FC236}">
                <a16:creationId xmlns:a16="http://schemas.microsoft.com/office/drawing/2014/main" id="{DD4EC6E0-6ABA-4381-A0B3-522F1CFB3DDC}"/>
              </a:ext>
            </a:extLst>
          </p:cNvPr>
          <p:cNvSpPr>
            <a:spLocks xmlns:a="http://schemas.openxmlformats.org/drawingml/2006/main" noGrp="1"/>
          </p:cNvSpPr>
          <p:nvPr/>
        </p:nvSpPr>
        <p:spPr>
          <a:xfrm xmlns:a="http://schemas.openxmlformats.org/drawingml/2006/main">
            <a:off x="4419600" y="33528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D96C5F"/>
                </a:solidFill>
                <a:latin typeface="Aptos"/>
                <a:ea typeface="Aptos"/>
                <a:cs typeface="Aptos"/>
              </a:defRPr>
            </a:pPr>
            <a:r>
              <a:rPr sz="825" b="1">
                <a:solidFill>
                  <a:srgbClr val="D96C5F"/>
                </a:solidFill>
                <a:latin typeface="Aptos"/>
                <a:ea typeface="Aptos"/>
                <a:cs typeface="Aptos"/>
              </a:rPr>
              <a:t>02</a:t>
            </a:r>
          </a:p>
        </p:txBody>
      </p:sp>
      <p:sp>
        <p:nvSpPr>
          <p:cNvPr id="17" name="">
            <a:extLst xmlns:a="http://schemas.openxmlformats.org/drawingml/2006/main">
              <a:ext uri="{FF2B5EF4-FFF2-40B4-BE49-F238E27FC236}">
                <a16:creationId xmlns:a16="http://schemas.microsoft.com/office/drawing/2014/main" id="{8EBB9FAE-957A-418B-8E02-7080593AC040}"/>
              </a:ext>
            </a:extLst>
          </p:cNvPr>
          <p:cNvSpPr>
            <a:spLocks xmlns:a="http://schemas.openxmlformats.org/drawingml/2006/main" noGrp="1"/>
          </p:cNvSpPr>
          <p:nvPr/>
        </p:nvSpPr>
        <p:spPr>
          <a:xfrm xmlns:a="http://schemas.openxmlformats.org/drawingml/2006/main">
            <a:off x="4419600" y="3562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02A43"/>
                </a:solidFill>
                <a:latin typeface="Aptos"/>
                <a:ea typeface="Aptos"/>
                <a:cs typeface="Aptos"/>
              </a:defRPr>
            </a:pPr>
            <a:r>
              <a:rPr sz="1650" b="1">
                <a:solidFill>
                  <a:srgbClr val="102A43"/>
                </a:solidFill>
                <a:latin typeface="Aptos"/>
                <a:ea typeface="Aptos"/>
                <a:cs typeface="Aptos"/>
              </a:rPr>
              <a:t>Decide</a:t>
            </a:r>
          </a:p>
        </p:txBody>
      </p:sp>
      <p:sp>
        <p:nvSpPr>
          <p:cNvPr id="18" name="">
            <a:extLst xmlns:a="http://schemas.openxmlformats.org/drawingml/2006/main">
              <a:ext uri="{FF2B5EF4-FFF2-40B4-BE49-F238E27FC236}">
                <a16:creationId xmlns:a16="http://schemas.microsoft.com/office/drawing/2014/main" id="{1A35DB37-37CC-4342-AE8A-954BA7DDA3C8}"/>
              </a:ext>
            </a:extLst>
          </p:cNvPr>
          <p:cNvSpPr>
            <a:spLocks xmlns:a="http://schemas.openxmlformats.org/drawingml/2006/main" noGrp="1"/>
          </p:cNvSpPr>
          <p:nvPr/>
        </p:nvSpPr>
        <p:spPr>
          <a:xfrm xmlns:a="http://schemas.openxmlformats.org/drawingml/2006/main">
            <a:off x="4419600" y="3876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4444"/>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facts · policy</a:t>
            </a:r>
          </a:p>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and planning</a:t>
            </a:r>
          </a:p>
        </p:txBody>
      </p:sp>
      <p:sp>
        <p:nvSpPr>
          <p:cNvPr id="19" name="">
            <a:extLst xmlns:a="http://schemas.openxmlformats.org/drawingml/2006/main">
              <a:ext uri="{FF2B5EF4-FFF2-40B4-BE49-F238E27FC236}">
                <a16:creationId xmlns:a16="http://schemas.microsoft.com/office/drawing/2014/main" id="{5E29A4F7-FE04-49B4-B78C-AAB5D8C68EF8}"/>
              </a:ext>
            </a:extLst>
          </p:cNvPr>
          <p:cNvSpPr>
            <a:spLocks xmlns:a="http://schemas.openxmlformats.org/drawingml/2006/main" noGrp="1"/>
          </p:cNvSpPr>
          <p:nvPr/>
        </p:nvSpPr>
        <p:spPr>
          <a:xfrm xmlns:a="http://schemas.openxmlformats.org/drawingml/2006/main">
            <a:off x="7715250" y="3162300"/>
            <a:ext cx="2990850" cy="1181100"/>
          </a:xfrm>
          <a:prstGeom xmlns:a="http://schemas.openxmlformats.org/drawingml/2006/main" prst="roundRect">
            <a:avLst>
              <a:gd name="adj" fmla="val 14516"/>
            </a:avLst>
          </a:prstGeom>
          <a:solidFill xmlns:a="http://schemas.openxmlformats.org/drawingml/2006/main">
            <a:srgbClr val="FFF8EA"/>
          </a:solidFill>
          <a:ln xmlns:a="http://schemas.openxmlformats.org/drawingml/2006/main" w="11430">
            <a:solidFill>
              <a:srgbClr val="8EBBD0"/>
            </a:solidFill>
            <a:prstDash val="solid"/>
          </a:ln>
        </p:spPr>
      </p:sp>
      <p:sp>
        <p:nvSpPr>
          <p:cNvPr id="20" name="">
            <a:extLst xmlns:a="http://schemas.openxmlformats.org/drawingml/2006/main">
              <a:ext uri="{FF2B5EF4-FFF2-40B4-BE49-F238E27FC236}">
                <a16:creationId xmlns:a16="http://schemas.microsoft.com/office/drawing/2014/main" id="{FF6A8769-5EDD-4FC8-91B1-8B4A1FB82E27}"/>
              </a:ext>
            </a:extLst>
          </p:cNvPr>
          <p:cNvSpPr>
            <a:spLocks xmlns:a="http://schemas.openxmlformats.org/drawingml/2006/main" noGrp="1"/>
          </p:cNvSpPr>
          <p:nvPr/>
        </p:nvSpPr>
        <p:spPr>
          <a:xfrm xmlns:a="http://schemas.openxmlformats.org/drawingml/2006/main">
            <a:off x="7905750" y="33528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68C82"/>
                </a:solidFill>
                <a:latin typeface="Aptos"/>
                <a:ea typeface="Aptos"/>
                <a:cs typeface="Aptos"/>
              </a:defRPr>
            </a:pPr>
            <a:r>
              <a:rPr sz="825" b="1">
                <a:solidFill>
                  <a:srgbClr val="268C82"/>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BB483C32-F400-46B5-8033-B4131AA034B8}"/>
              </a:ext>
            </a:extLst>
          </p:cNvPr>
          <p:cNvSpPr>
            <a:spLocks xmlns:a="http://schemas.openxmlformats.org/drawingml/2006/main" noGrp="1"/>
          </p:cNvSpPr>
          <p:nvPr/>
        </p:nvSpPr>
        <p:spPr>
          <a:xfrm xmlns:a="http://schemas.openxmlformats.org/drawingml/2006/main">
            <a:off x="7905750" y="3562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02A43"/>
                </a:solidFill>
                <a:latin typeface="Aptos"/>
                <a:ea typeface="Aptos"/>
                <a:cs typeface="Aptos"/>
              </a:defRPr>
            </a:pPr>
            <a:r>
              <a:rPr sz="1650" b="1">
                <a:solidFill>
                  <a:srgbClr val="102A43"/>
                </a:solidFill>
                <a:latin typeface="Aptos"/>
                <a:ea typeface="Aptos"/>
                <a:cs typeface="Aptos"/>
              </a:rPr>
              <a:t>Speak</a:t>
            </a:r>
          </a:p>
        </p:txBody>
      </p:sp>
      <p:sp>
        <p:nvSpPr>
          <p:cNvPr id="22" name="">
            <a:extLst xmlns:a="http://schemas.openxmlformats.org/drawingml/2006/main">
              <a:ext uri="{FF2B5EF4-FFF2-40B4-BE49-F238E27FC236}">
                <a16:creationId xmlns:a16="http://schemas.microsoft.com/office/drawing/2014/main" id="{4F1AF2FE-6189-413C-BA21-B7C38C5FCE52}"/>
              </a:ext>
            </a:extLst>
          </p:cNvPr>
          <p:cNvSpPr>
            <a:spLocks xmlns:a="http://schemas.openxmlformats.org/drawingml/2006/main" noGrp="1"/>
          </p:cNvSpPr>
          <p:nvPr/>
        </p:nvSpPr>
        <p:spPr>
          <a:xfrm xmlns:a="http://schemas.openxmlformats.org/drawingml/2006/main">
            <a:off x="7905750" y="3876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4444"/>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stream voice</a:t>
            </a:r>
          </a:p>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and stay cancellable</a:t>
            </a:r>
          </a:p>
        </p:txBody>
      </p:sp>
      <p:sp>
        <p:nvSpPr>
          <p:cNvPr id="23" name="">
            <a:extLst xmlns:a="http://schemas.openxmlformats.org/drawingml/2006/main">
              <a:ext uri="{FF2B5EF4-FFF2-40B4-BE49-F238E27FC236}">
                <a16:creationId xmlns:a16="http://schemas.microsoft.com/office/drawing/2014/main" id="{E4D7EB21-7682-43C4-96E4-DEB2A442B11D}"/>
              </a:ext>
            </a:extLst>
          </p:cNvPr>
          <p:cNvSpPr>
            <a:spLocks xmlns:a="http://schemas.openxmlformats.org/drawingml/2006/main" noGrp="1"/>
          </p:cNvSpPr>
          <p:nvPr/>
        </p:nvSpPr>
        <p:spPr>
          <a:xfrm xmlns:a="http://schemas.openxmlformats.org/drawingml/2006/main">
            <a:off x="3771900" y="3514725"/>
            <a:ext cx="304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D96C5F"/>
                </a:solidFill>
                <a:latin typeface="Aptos"/>
                <a:ea typeface="Aptos"/>
                <a:cs typeface="Aptos"/>
              </a:defRPr>
            </a:pPr>
            <a:r>
              <a:rPr sz="2100" b="1">
                <a:solidFill>
                  <a:srgbClr val="D96C5F"/>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B1F65BB5-829B-4E1A-937A-01C6BFAAC578}"/>
              </a:ext>
            </a:extLst>
          </p:cNvPr>
          <p:cNvSpPr>
            <a:spLocks xmlns:a="http://schemas.openxmlformats.org/drawingml/2006/main" noGrp="1"/>
          </p:cNvSpPr>
          <p:nvPr/>
        </p:nvSpPr>
        <p:spPr>
          <a:xfrm xmlns:a="http://schemas.openxmlformats.org/drawingml/2006/main">
            <a:off x="7258050" y="3514725"/>
            <a:ext cx="304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D96C5F"/>
                </a:solidFill>
                <a:latin typeface="Aptos"/>
                <a:ea typeface="Aptos"/>
                <a:cs typeface="Aptos"/>
              </a:defRPr>
            </a:pPr>
            <a:r>
              <a:rPr sz="2100" b="1">
                <a:solidFill>
                  <a:srgbClr val="D96C5F"/>
                </a:solidFill>
                <a:latin typeface="Aptos"/>
                <a:ea typeface="Aptos"/>
                <a:cs typeface="Aptos"/>
              </a:rPr>
              <a:t>→</a:t>
            </a:r>
          </a:p>
        </p:txBody>
      </p:sp>
      <p:sp>
        <p:nvSpPr>
          <p:cNvPr id="25" name="">
            <a:extLst xmlns:a="http://schemas.openxmlformats.org/drawingml/2006/main">
              <a:ext uri="{FF2B5EF4-FFF2-40B4-BE49-F238E27FC236}">
                <a16:creationId xmlns:a16="http://schemas.microsoft.com/office/drawing/2014/main" id="{DF7F8200-6251-402A-963D-34BF2AB7856A}"/>
              </a:ext>
            </a:extLst>
          </p:cNvPr>
          <p:cNvSpPr>
            <a:spLocks xmlns:a="http://schemas.openxmlformats.org/drawingml/2006/main" noGrp="1"/>
          </p:cNvSpPr>
          <p:nvPr/>
        </p:nvSpPr>
        <p:spPr>
          <a:xfrm xmlns:a="http://schemas.openxmlformats.org/drawingml/2006/main">
            <a:off x="742950" y="46863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CONTINUOUS CAPABILITIES</a:t>
            </a:r>
          </a:p>
        </p:txBody>
      </p:sp>
      <p:sp>
        <p:nvSpPr>
          <p:cNvPr id="26" name="">
            <a:extLst xmlns:a="http://schemas.openxmlformats.org/drawingml/2006/main">
              <a:ext uri="{FF2B5EF4-FFF2-40B4-BE49-F238E27FC236}">
                <a16:creationId xmlns:a16="http://schemas.microsoft.com/office/drawing/2014/main" id="{831D480C-4AA0-4E39-9470-551F98793C2B}"/>
              </a:ext>
            </a:extLst>
          </p:cNvPr>
          <p:cNvSpPr>
            <a:spLocks xmlns:a="http://schemas.openxmlformats.org/drawingml/2006/main" noGrp="1"/>
          </p:cNvSpPr>
          <p:nvPr/>
        </p:nvSpPr>
        <p:spPr>
          <a:xfrm xmlns:a="http://schemas.openxmlformats.org/drawingml/2006/main">
            <a:off x="6838950" y="4686300"/>
            <a:ext cx="461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0">
                <a:solidFill>
                  <a:srgbClr val="4B687A"/>
                </a:solidFill>
                <a:latin typeface="Aptos"/>
                <a:ea typeface="Aptos"/>
                <a:cs typeface="Aptos"/>
              </a:defRPr>
            </a:pPr>
            <a:r>
              <a:rPr sz="1050" b="0">
                <a:solidFill>
                  <a:srgbClr val="4B687A"/>
                </a:solidFill>
                <a:latin typeface="Aptos"/>
                <a:ea typeface="Aptos"/>
                <a:cs typeface="Aptos"/>
              </a:rPr>
              <a:t>They run beside the turn—not after it.</a:t>
            </a:r>
          </a:p>
        </p:txBody>
      </p:sp>
      <p:sp>
        <p:nvSpPr>
          <p:cNvPr id="27" name="">
            <a:extLst xmlns:a="http://schemas.openxmlformats.org/drawingml/2006/main">
              <a:ext uri="{FF2B5EF4-FFF2-40B4-BE49-F238E27FC236}">
                <a16:creationId xmlns:a16="http://schemas.microsoft.com/office/drawing/2014/main" id="{BF179088-CDBF-4DF3-96A0-B7C834D224D5}"/>
              </a:ext>
            </a:extLst>
          </p:cNvPr>
          <p:cNvSpPr>
            <a:spLocks xmlns:a="http://schemas.openxmlformats.org/drawingml/2006/main" noGrp="1"/>
          </p:cNvSpPr>
          <p:nvPr/>
        </p:nvSpPr>
        <p:spPr>
          <a:xfrm xmlns:a="http://schemas.openxmlformats.org/drawingml/2006/main">
            <a:off x="742950" y="4991100"/>
            <a:ext cx="2990850" cy="590550"/>
          </a:xfrm>
          <a:prstGeom xmlns:a="http://schemas.openxmlformats.org/drawingml/2006/main" prst="roundRect">
            <a:avLst>
              <a:gd name="adj" fmla="val 25806"/>
            </a:avLst>
          </a:prstGeom>
          <a:solidFill xmlns:a="http://schemas.openxmlformats.org/drawingml/2006/main">
            <a:srgbClr val="FFFFFF">
              <a:alpha val="55000"/>
            </a:srgbClr>
          </a:solidFill>
          <a:ln xmlns:a="http://schemas.openxmlformats.org/drawingml/2006/main" w="9525">
            <a:solidFill>
              <a:srgbClr val="8EBBD0"/>
            </a:solidFill>
            <a:prstDash val="solid"/>
          </a:ln>
        </p:spPr>
      </p:sp>
      <p:sp>
        <p:nvSpPr>
          <p:cNvPr id="28" name="">
            <a:extLst xmlns:a="http://schemas.openxmlformats.org/drawingml/2006/main">
              <a:ext uri="{FF2B5EF4-FFF2-40B4-BE49-F238E27FC236}">
                <a16:creationId xmlns:a16="http://schemas.microsoft.com/office/drawing/2014/main" id="{14394CA6-4747-4B4E-B11D-26FACFB98887}"/>
              </a:ext>
            </a:extLst>
          </p:cNvPr>
          <p:cNvSpPr>
            <a:spLocks xmlns:a="http://schemas.openxmlformats.org/drawingml/2006/main" noGrp="1"/>
          </p:cNvSpPr>
          <p:nvPr/>
        </p:nvSpPr>
        <p:spPr>
          <a:xfrm xmlns:a="http://schemas.openxmlformats.org/drawingml/2006/main">
            <a:off x="933450" y="50863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288DC1"/>
                </a:solidFill>
                <a:latin typeface="Aptos"/>
                <a:ea typeface="Aptos"/>
                <a:cs typeface="Aptos"/>
              </a:defRPr>
            </a:pPr>
            <a:r>
              <a:rPr sz="1275" b="1">
                <a:solidFill>
                  <a:srgbClr val="288DC1"/>
                </a:solidFill>
                <a:latin typeface="Aptos"/>
                <a:ea typeface="Aptos"/>
                <a:cs typeface="Aptos"/>
              </a:rPr>
              <a:t>Remember</a:t>
            </a:r>
          </a:p>
        </p:txBody>
      </p:sp>
      <p:sp>
        <p:nvSpPr>
          <p:cNvPr id="29" name="">
            <a:extLst xmlns:a="http://schemas.openxmlformats.org/drawingml/2006/main">
              <a:ext uri="{FF2B5EF4-FFF2-40B4-BE49-F238E27FC236}">
                <a16:creationId xmlns:a16="http://schemas.microsoft.com/office/drawing/2014/main" id="{A03BC2AF-D73E-404D-9E2E-699B0435E176}"/>
              </a:ext>
            </a:extLst>
          </p:cNvPr>
          <p:cNvSpPr>
            <a:spLocks xmlns:a="http://schemas.openxmlformats.org/drawingml/2006/main" noGrp="1"/>
          </p:cNvSpPr>
          <p:nvPr/>
        </p:nvSpPr>
        <p:spPr>
          <a:xfrm xmlns:a="http://schemas.openxmlformats.org/drawingml/2006/main">
            <a:off x="1962150" y="5086350"/>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0">
                <a:solidFill>
                  <a:srgbClr val="4B687A"/>
                </a:solidFill>
                <a:latin typeface="Aptos"/>
                <a:ea typeface="Aptos"/>
                <a:cs typeface="Aptos"/>
              </a:defRPr>
            </a:pPr>
            <a:r>
              <a:rPr sz="1050" b="0">
                <a:solidFill>
                  <a:srgbClr val="4B687A"/>
                </a:solidFill>
                <a:latin typeface="Aptos"/>
                <a:ea typeface="Aptos"/>
                <a:cs typeface="Aptos"/>
              </a:rPr>
              <a:t>retain useful context</a:t>
            </a:r>
          </a:p>
        </p:txBody>
      </p:sp>
      <p:sp>
        <p:nvSpPr>
          <p:cNvPr id="30" name="">
            <a:extLst xmlns:a="http://schemas.openxmlformats.org/drawingml/2006/main">
              <a:ext uri="{FF2B5EF4-FFF2-40B4-BE49-F238E27FC236}">
                <a16:creationId xmlns:a16="http://schemas.microsoft.com/office/drawing/2014/main" id="{51DBF5E1-C418-4BAA-B0A5-F4FE8A563768}"/>
              </a:ext>
            </a:extLst>
          </p:cNvPr>
          <p:cNvSpPr>
            <a:spLocks xmlns:a="http://schemas.openxmlformats.org/drawingml/2006/main" noGrp="1"/>
          </p:cNvSpPr>
          <p:nvPr/>
        </p:nvSpPr>
        <p:spPr>
          <a:xfrm xmlns:a="http://schemas.openxmlformats.org/drawingml/2006/main">
            <a:off x="4229100" y="4991100"/>
            <a:ext cx="2990850" cy="590550"/>
          </a:xfrm>
          <a:prstGeom xmlns:a="http://schemas.openxmlformats.org/drawingml/2006/main" prst="roundRect">
            <a:avLst>
              <a:gd name="adj" fmla="val 25806"/>
            </a:avLst>
          </a:prstGeom>
          <a:solidFill xmlns:a="http://schemas.openxmlformats.org/drawingml/2006/main">
            <a:srgbClr val="FFFFFF">
              <a:alpha val="55000"/>
            </a:srgbClr>
          </a:solidFill>
          <a:ln xmlns:a="http://schemas.openxmlformats.org/drawingml/2006/main" w="9525">
            <a:solidFill>
              <a:srgbClr val="8EBBD0"/>
            </a:solidFill>
            <a:prstDash val="solid"/>
          </a:ln>
        </p:spPr>
      </p:sp>
      <p:sp>
        <p:nvSpPr>
          <p:cNvPr id="31" name="">
            <a:extLst xmlns:a="http://schemas.openxmlformats.org/drawingml/2006/main">
              <a:ext uri="{FF2B5EF4-FFF2-40B4-BE49-F238E27FC236}">
                <a16:creationId xmlns:a16="http://schemas.microsoft.com/office/drawing/2014/main" id="{327C8896-1BBD-4615-AFF0-F234D38CF437}"/>
              </a:ext>
            </a:extLst>
          </p:cNvPr>
          <p:cNvSpPr>
            <a:spLocks xmlns:a="http://schemas.openxmlformats.org/drawingml/2006/main" noGrp="1"/>
          </p:cNvSpPr>
          <p:nvPr/>
        </p:nvSpPr>
        <p:spPr>
          <a:xfrm xmlns:a="http://schemas.openxmlformats.org/drawingml/2006/main">
            <a:off x="4419600" y="50863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D96C5F"/>
                </a:solidFill>
                <a:latin typeface="Aptos"/>
                <a:ea typeface="Aptos"/>
                <a:cs typeface="Aptos"/>
              </a:defRPr>
            </a:pPr>
            <a:r>
              <a:rPr sz="1275" b="1">
                <a:solidFill>
                  <a:srgbClr val="D96C5F"/>
                </a:solidFill>
                <a:latin typeface="Aptos"/>
                <a:ea typeface="Aptos"/>
                <a:cs typeface="Aptos"/>
              </a:rPr>
              <a:t>Yield</a:t>
            </a:r>
          </a:p>
        </p:txBody>
      </p:sp>
      <p:sp>
        <p:nvSpPr>
          <p:cNvPr id="32" name="">
            <a:extLst xmlns:a="http://schemas.openxmlformats.org/drawingml/2006/main">
              <a:ext uri="{FF2B5EF4-FFF2-40B4-BE49-F238E27FC236}">
                <a16:creationId xmlns:a16="http://schemas.microsoft.com/office/drawing/2014/main" id="{0650A58B-09BE-4314-9AC4-CDB279A8C50E}"/>
              </a:ext>
            </a:extLst>
          </p:cNvPr>
          <p:cNvSpPr>
            <a:spLocks xmlns:a="http://schemas.openxmlformats.org/drawingml/2006/main" noGrp="1"/>
          </p:cNvSpPr>
          <p:nvPr/>
        </p:nvSpPr>
        <p:spPr>
          <a:xfrm xmlns:a="http://schemas.openxmlformats.org/drawingml/2006/main">
            <a:off x="5448300" y="5086350"/>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0">
                <a:solidFill>
                  <a:srgbClr val="4B687A"/>
                </a:solidFill>
                <a:latin typeface="Aptos"/>
                <a:ea typeface="Aptos"/>
                <a:cs typeface="Aptos"/>
              </a:defRPr>
            </a:pPr>
            <a:r>
              <a:rPr sz="1050" b="0">
                <a:solidFill>
                  <a:srgbClr val="4B687A"/>
                </a:solidFill>
                <a:latin typeface="Aptos"/>
                <a:ea typeface="Aptos"/>
                <a:cs typeface="Aptos"/>
              </a:rPr>
              <a:t>give the caller the floor</a:t>
            </a:r>
          </a:p>
        </p:txBody>
      </p:sp>
      <p:sp>
        <p:nvSpPr>
          <p:cNvPr id="33" name="">
            <a:extLst xmlns:a="http://schemas.openxmlformats.org/drawingml/2006/main">
              <a:ext uri="{FF2B5EF4-FFF2-40B4-BE49-F238E27FC236}">
                <a16:creationId xmlns:a16="http://schemas.microsoft.com/office/drawing/2014/main" id="{662A1C40-829E-4C71-AC26-3FABBF77D8CE}"/>
              </a:ext>
            </a:extLst>
          </p:cNvPr>
          <p:cNvSpPr>
            <a:spLocks xmlns:a="http://schemas.openxmlformats.org/drawingml/2006/main" noGrp="1"/>
          </p:cNvSpPr>
          <p:nvPr/>
        </p:nvSpPr>
        <p:spPr>
          <a:xfrm xmlns:a="http://schemas.openxmlformats.org/drawingml/2006/main">
            <a:off x="7715250" y="4991100"/>
            <a:ext cx="2990850" cy="590550"/>
          </a:xfrm>
          <a:prstGeom xmlns:a="http://schemas.openxmlformats.org/drawingml/2006/main" prst="roundRect">
            <a:avLst>
              <a:gd name="adj" fmla="val 25806"/>
            </a:avLst>
          </a:prstGeom>
          <a:solidFill xmlns:a="http://schemas.openxmlformats.org/drawingml/2006/main">
            <a:srgbClr val="FFFFFF">
              <a:alpha val="55000"/>
            </a:srgbClr>
          </a:solidFill>
          <a:ln xmlns:a="http://schemas.openxmlformats.org/drawingml/2006/main" w="9525">
            <a:solidFill>
              <a:srgbClr val="8EBBD0"/>
            </a:solidFill>
            <a:prstDash val="solid"/>
          </a:ln>
        </p:spPr>
      </p:sp>
      <p:sp>
        <p:nvSpPr>
          <p:cNvPr id="34" name="">
            <a:extLst xmlns:a="http://schemas.openxmlformats.org/drawingml/2006/main">
              <a:ext uri="{FF2B5EF4-FFF2-40B4-BE49-F238E27FC236}">
                <a16:creationId xmlns:a16="http://schemas.microsoft.com/office/drawing/2014/main" id="{F6E7627C-3CA9-41FE-AE04-D4D2D265F958}"/>
              </a:ext>
            </a:extLst>
          </p:cNvPr>
          <p:cNvSpPr>
            <a:spLocks xmlns:a="http://schemas.openxmlformats.org/drawingml/2006/main" noGrp="1"/>
          </p:cNvSpPr>
          <p:nvPr/>
        </p:nvSpPr>
        <p:spPr>
          <a:xfrm xmlns:a="http://schemas.openxmlformats.org/drawingml/2006/main">
            <a:off x="7905750" y="50863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268C82"/>
                </a:solidFill>
                <a:latin typeface="Aptos"/>
                <a:ea typeface="Aptos"/>
                <a:cs typeface="Aptos"/>
              </a:defRPr>
            </a:pPr>
            <a:r>
              <a:rPr sz="1275" b="1">
                <a:solidFill>
                  <a:srgbClr val="268C82"/>
                </a:solidFill>
                <a:latin typeface="Aptos"/>
                <a:ea typeface="Aptos"/>
                <a:cs typeface="Aptos"/>
              </a:rPr>
              <a:t>Act</a:t>
            </a:r>
          </a:p>
        </p:txBody>
      </p:sp>
      <p:sp>
        <p:nvSpPr>
          <p:cNvPr id="35" name="">
            <a:extLst xmlns:a="http://schemas.openxmlformats.org/drawingml/2006/main">
              <a:ext uri="{FF2B5EF4-FFF2-40B4-BE49-F238E27FC236}">
                <a16:creationId xmlns:a16="http://schemas.microsoft.com/office/drawing/2014/main" id="{28BDAFB7-77D3-4118-8064-F5609F8318B6}"/>
              </a:ext>
            </a:extLst>
          </p:cNvPr>
          <p:cNvSpPr>
            <a:spLocks xmlns:a="http://schemas.openxmlformats.org/drawingml/2006/main" noGrp="1"/>
          </p:cNvSpPr>
          <p:nvPr/>
        </p:nvSpPr>
        <p:spPr>
          <a:xfrm xmlns:a="http://schemas.openxmlformats.org/drawingml/2006/main">
            <a:off x="8934450" y="5086350"/>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0">
                <a:solidFill>
                  <a:srgbClr val="4B687A"/>
                </a:solidFill>
                <a:latin typeface="Aptos"/>
                <a:ea typeface="Aptos"/>
                <a:cs typeface="Aptos"/>
              </a:defRPr>
            </a:pPr>
            <a:r>
              <a:rPr sz="1050" b="0">
                <a:solidFill>
                  <a:srgbClr val="4B687A"/>
                </a:solidFill>
                <a:latin typeface="Aptos"/>
                <a:ea typeface="Aptos"/>
                <a:cs typeface="Aptos"/>
              </a:rPr>
              <a:t>request safe next steps</a:t>
            </a:r>
          </a:p>
        </p:txBody>
      </p:sp>
      <p:sp>
        <p:nvSpPr>
          <p:cNvPr id="36" name="">
            <a:extLst xmlns:a="http://schemas.openxmlformats.org/drawingml/2006/main">
              <a:ext uri="{FF2B5EF4-FFF2-40B4-BE49-F238E27FC236}">
                <a16:creationId xmlns:a16="http://schemas.microsoft.com/office/drawing/2014/main" id="{9A534C3F-75A1-4682-94D0-1A7BB59D11DC}"/>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architecture</a:t>
            </a:r>
          </a:p>
        </p:txBody>
      </p:sp>
    </p:spTree>
    <p:extLst>
      <p:ext uri="{BB962C8B-B14F-4D97-AF65-F5344CB8AC3E}">
        <p14:creationId xmlns:p14="http://schemas.microsoft.com/office/powerpoint/2010/main" val="5352413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3de817423ff49b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2596B5-0250-459B-A4BA-F8E08812F478}"/>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D5DDD89A-4531-4A8A-B3F4-5FB5E053ABE9}"/>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03</a:t>
            </a:r>
          </a:p>
        </p:txBody>
      </p:sp>
      <p:sp>
        <p:nvSpPr>
          <p:cNvPr id="4" name="">
            <a:extLst xmlns:a="http://schemas.openxmlformats.org/drawingml/2006/main">
              <a:ext uri="{FF2B5EF4-FFF2-40B4-BE49-F238E27FC236}">
                <a16:creationId xmlns:a16="http://schemas.microsoft.com/office/drawing/2014/main" id="{6DC83E56-CED4-4016-89DB-6E541C5FC6D5}"/>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4DD71058-F9B6-4B79-A6C5-F4089FD0050B}"/>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Demystifying the jargon</a:t>
            </a:r>
          </a:p>
        </p:txBody>
      </p:sp>
      <p:sp>
        <p:nvSpPr>
          <p:cNvPr id="6" name="">
            <a:extLst xmlns:a="http://schemas.openxmlformats.org/drawingml/2006/main">
              <a:ext uri="{FF2B5EF4-FFF2-40B4-BE49-F238E27FC236}">
                <a16:creationId xmlns:a16="http://schemas.microsoft.com/office/drawing/2014/main" id="{D5569C9F-FEA4-4951-8546-8F9175422840}"/>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6EDF04E6-2A10-449E-BCBD-1775D227A626}"/>
              </a:ext>
            </a:extLst>
          </p:cNvPr>
          <p:cNvSpPr>
            <a:spLocks xmlns:a="http://schemas.openxmlformats.org/drawingml/2006/main" noGrp="1"/>
          </p:cNvSpPr>
          <p:nvPr/>
        </p:nvSpPr>
        <p:spPr>
          <a:xfrm xmlns:a="http://schemas.openxmlformats.org/drawingml/2006/main">
            <a:off x="876300" y="1885950"/>
            <a:ext cx="1771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88DC1"/>
                </a:solidFill>
                <a:latin typeface="Aptos"/>
                <a:ea typeface="Aptos"/>
                <a:cs typeface="Aptos"/>
              </a:defRPr>
            </a:pPr>
            <a:r>
              <a:rPr sz="750" b="1">
                <a:solidFill>
                  <a:srgbClr val="288DC1"/>
                </a:solidFill>
                <a:latin typeface="Aptos"/>
                <a:ea typeface="Aptos"/>
                <a:cs typeface="Aptos"/>
              </a:rPr>
              <a:t>TERM</a:t>
            </a:r>
          </a:p>
        </p:txBody>
      </p:sp>
      <p:sp>
        <p:nvSpPr>
          <p:cNvPr id="8" name="">
            <a:extLst xmlns:a="http://schemas.openxmlformats.org/drawingml/2006/main">
              <a:ext uri="{FF2B5EF4-FFF2-40B4-BE49-F238E27FC236}">
                <a16:creationId xmlns:a16="http://schemas.microsoft.com/office/drawing/2014/main" id="{A0D4987D-8391-438A-B41B-249AB8AC992D}"/>
              </a:ext>
            </a:extLst>
          </p:cNvPr>
          <p:cNvSpPr>
            <a:spLocks xmlns:a="http://schemas.openxmlformats.org/drawingml/2006/main" noGrp="1"/>
          </p:cNvSpPr>
          <p:nvPr/>
        </p:nvSpPr>
        <p:spPr>
          <a:xfrm xmlns:a="http://schemas.openxmlformats.org/drawingml/2006/main">
            <a:off x="2895600" y="18859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88DC1"/>
                </a:solidFill>
                <a:latin typeface="Aptos"/>
                <a:ea typeface="Aptos"/>
                <a:cs typeface="Aptos"/>
              </a:defRPr>
            </a:pPr>
            <a:r>
              <a:rPr sz="750" b="1">
                <a:solidFill>
                  <a:srgbClr val="288DC1"/>
                </a:solidFill>
                <a:latin typeface="Aptos"/>
                <a:ea typeface="Aptos"/>
                <a:cs typeface="Aptos"/>
              </a:rPr>
              <a:t>WHAT IT LITERALLY MEANS</a:t>
            </a:r>
          </a:p>
        </p:txBody>
      </p:sp>
      <p:sp>
        <p:nvSpPr>
          <p:cNvPr id="9" name="">
            <a:extLst xmlns:a="http://schemas.openxmlformats.org/drawingml/2006/main">
              <a:ext uri="{FF2B5EF4-FFF2-40B4-BE49-F238E27FC236}">
                <a16:creationId xmlns:a16="http://schemas.microsoft.com/office/drawing/2014/main" id="{E6584810-9ECB-4D9C-8AC4-84D230ABFB9D}"/>
              </a:ext>
            </a:extLst>
          </p:cNvPr>
          <p:cNvSpPr>
            <a:spLocks xmlns:a="http://schemas.openxmlformats.org/drawingml/2006/main" noGrp="1"/>
          </p:cNvSpPr>
          <p:nvPr/>
        </p:nvSpPr>
        <p:spPr>
          <a:xfrm xmlns:a="http://schemas.openxmlformats.org/drawingml/2006/main">
            <a:off x="6057900" y="1885950"/>
            <a:ext cx="422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88DC1"/>
                </a:solidFill>
                <a:latin typeface="Aptos"/>
                <a:ea typeface="Aptos"/>
                <a:cs typeface="Aptos"/>
              </a:defRPr>
            </a:pPr>
            <a:r>
              <a:rPr sz="750" b="1">
                <a:solidFill>
                  <a:srgbClr val="288DC1"/>
                </a:solidFill>
                <a:latin typeface="Aptos"/>
                <a:ea typeface="Aptos"/>
                <a:cs typeface="Aptos"/>
              </a:rPr>
              <a:t>IN A CONVERSATION</a:t>
            </a:r>
          </a:p>
        </p:txBody>
      </p:sp>
      <p:sp>
        <p:nvSpPr>
          <p:cNvPr id="10" name="">
            <a:extLst xmlns:a="http://schemas.openxmlformats.org/drawingml/2006/main">
              <a:ext uri="{FF2B5EF4-FFF2-40B4-BE49-F238E27FC236}">
                <a16:creationId xmlns:a16="http://schemas.microsoft.com/office/drawing/2014/main" id="{F8E01AFA-F5D2-4F30-9D6C-94126317203C}"/>
              </a:ext>
            </a:extLst>
          </p:cNvPr>
          <p:cNvSpPr>
            <a:spLocks xmlns:a="http://schemas.openxmlformats.org/drawingml/2006/main" noGrp="1"/>
          </p:cNvSpPr>
          <p:nvPr/>
        </p:nvSpPr>
        <p:spPr>
          <a:xfrm xmlns:a="http://schemas.openxmlformats.org/drawingml/2006/main">
            <a:off x="876300" y="2114550"/>
            <a:ext cx="1771650" cy="381000"/>
          </a:xfrm>
          <a:prstGeom xmlns:a="http://schemas.openxmlformats.org/drawingml/2006/main" prst="roundRect">
            <a:avLst>
              <a:gd name="adj" fmla="val 375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VAD</a:t>
            </a:r>
          </a:p>
        </p:txBody>
      </p:sp>
      <p:sp>
        <p:nvSpPr>
          <p:cNvPr id="11" name="">
            <a:extLst xmlns:a="http://schemas.openxmlformats.org/drawingml/2006/main">
              <a:ext uri="{FF2B5EF4-FFF2-40B4-BE49-F238E27FC236}">
                <a16:creationId xmlns:a16="http://schemas.microsoft.com/office/drawing/2014/main" id="{82F50E6E-49DF-402B-9549-09EDB9BBA099}"/>
              </a:ext>
            </a:extLst>
          </p:cNvPr>
          <p:cNvSpPr>
            <a:spLocks xmlns:a="http://schemas.openxmlformats.org/drawingml/2006/main" noGrp="1"/>
          </p:cNvSpPr>
          <p:nvPr/>
        </p:nvSpPr>
        <p:spPr>
          <a:xfrm xmlns:a="http://schemas.openxmlformats.org/drawingml/2006/main">
            <a:off x="2895600" y="2114550"/>
            <a:ext cx="2857500" cy="381000"/>
          </a:xfrm>
          <a:prstGeom xmlns:a="http://schemas.openxmlformats.org/drawingml/2006/main" prst="roundRect">
            <a:avLst>
              <a:gd name="adj" fmla="val 35000"/>
            </a:avLst>
          </a:prstGeom>
          <a:solidFill xmlns:a="http://schemas.openxmlformats.org/drawingml/2006/main">
            <a:srgbClr val="FFFFFF">
              <a:alpha val="60000"/>
            </a:srgbClr>
          </a:solidFill>
          <a:ln xmlns:a="http://schemas.openxmlformats.org/drawingml/2006/main" w="9525">
            <a:solidFill>
              <a:srgbClr val="8EBBD0"/>
            </a:solidFill>
            <a:prstDash val="solid"/>
          </a:ln>
        </p:spPr>
        <p:txBody>
          <a:bodyPr xmlns:a="http://schemas.openxmlformats.org/drawingml/2006/main" lIns="133350" tIns="0" rIns="95250" bIns="0" anchor="ctr">
            <a:normAutofit fontScale="100000"/>
          </a:bodyPr>
          <a:lstStyle xmlns:a="http://schemas.openxmlformats.org/drawingml/2006/main"/>
          <a:p xmlns:a="http://schemas.openxmlformats.org/drawingml/2006/main">
            <a:pPr algn="l">
              <a:defRPr sz="1050" b="0">
                <a:solidFill>
                  <a:srgbClr val="102A43"/>
                </a:solidFill>
                <a:latin typeface="Aptos"/>
                <a:ea typeface="Aptos"/>
                <a:cs typeface="Aptos"/>
              </a:defRPr>
            </a:pPr>
            <a:r>
              <a:rPr sz="1050" b="0">
                <a:solidFill>
                  <a:srgbClr val="102A43"/>
                </a:solidFill>
                <a:latin typeface="Aptos"/>
                <a:ea typeface="Aptos"/>
                <a:cs typeface="Aptos"/>
              </a:rPr>
              <a:t>Voice Activity Detection</a:t>
            </a:r>
          </a:p>
        </p:txBody>
      </p:sp>
      <p:sp>
        <p:nvSpPr>
          <p:cNvPr id="12" name="">
            <a:extLst xmlns:a="http://schemas.openxmlformats.org/drawingml/2006/main">
              <a:ext uri="{FF2B5EF4-FFF2-40B4-BE49-F238E27FC236}">
                <a16:creationId xmlns:a16="http://schemas.microsoft.com/office/drawing/2014/main" id="{41C3DC4C-A913-47C7-89E3-E9CB3AE15EC5}"/>
              </a:ext>
            </a:extLst>
          </p:cNvPr>
          <p:cNvSpPr>
            <a:spLocks xmlns:a="http://schemas.openxmlformats.org/drawingml/2006/main" noGrp="1"/>
          </p:cNvSpPr>
          <p:nvPr/>
        </p:nvSpPr>
        <p:spPr>
          <a:xfrm xmlns:a="http://schemas.openxmlformats.org/drawingml/2006/main">
            <a:off x="6057900" y="2114550"/>
            <a:ext cx="4229100" cy="381000"/>
          </a:xfrm>
          <a:prstGeom xmlns:a="http://schemas.openxmlformats.org/drawingml/2006/main" prst="roundRect">
            <a:avLst>
              <a:gd name="adj" fmla="val 35000"/>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9525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Is someone speaking?</a:t>
            </a:r>
          </a:p>
        </p:txBody>
      </p:sp>
      <p:sp>
        <p:nvSpPr>
          <p:cNvPr id="13" name="">
            <a:extLst xmlns:a="http://schemas.openxmlformats.org/drawingml/2006/main">
              <a:ext uri="{FF2B5EF4-FFF2-40B4-BE49-F238E27FC236}">
                <a16:creationId xmlns:a16="http://schemas.microsoft.com/office/drawing/2014/main" id="{1B68AE42-68DF-4887-B644-521E6464F73D}"/>
              </a:ext>
            </a:extLst>
          </p:cNvPr>
          <p:cNvSpPr>
            <a:spLocks xmlns:a="http://schemas.openxmlformats.org/drawingml/2006/main" noGrp="1"/>
          </p:cNvSpPr>
          <p:nvPr/>
        </p:nvSpPr>
        <p:spPr>
          <a:xfrm xmlns:a="http://schemas.openxmlformats.org/drawingml/2006/main">
            <a:off x="876300" y="2609850"/>
            <a:ext cx="1771650" cy="381000"/>
          </a:xfrm>
          <a:prstGeom xmlns:a="http://schemas.openxmlformats.org/drawingml/2006/main" prst="roundRect">
            <a:avLst>
              <a:gd name="adj" fmla="val 37500"/>
            </a:avLst>
          </a:prstGeom>
          <a:solidFill xmlns:a="http://schemas.openxmlformats.org/drawingml/2006/main">
            <a:srgbClr val="268C82"/>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ASR / STT</a:t>
            </a:r>
          </a:p>
        </p:txBody>
      </p:sp>
      <p:sp>
        <p:nvSpPr>
          <p:cNvPr id="14" name="">
            <a:extLst xmlns:a="http://schemas.openxmlformats.org/drawingml/2006/main">
              <a:ext uri="{FF2B5EF4-FFF2-40B4-BE49-F238E27FC236}">
                <a16:creationId xmlns:a16="http://schemas.microsoft.com/office/drawing/2014/main" id="{E85771BE-B7F1-4C3A-90E6-BEBFCFDC665A}"/>
              </a:ext>
            </a:extLst>
          </p:cNvPr>
          <p:cNvSpPr>
            <a:spLocks xmlns:a="http://schemas.openxmlformats.org/drawingml/2006/main" noGrp="1"/>
          </p:cNvSpPr>
          <p:nvPr/>
        </p:nvSpPr>
        <p:spPr>
          <a:xfrm xmlns:a="http://schemas.openxmlformats.org/drawingml/2006/main">
            <a:off x="2895600" y="2609850"/>
            <a:ext cx="2857500" cy="381000"/>
          </a:xfrm>
          <a:prstGeom xmlns:a="http://schemas.openxmlformats.org/drawingml/2006/main" prst="roundRect">
            <a:avLst>
              <a:gd name="adj" fmla="val 35000"/>
            </a:avLst>
          </a:prstGeom>
          <a:solidFill xmlns:a="http://schemas.openxmlformats.org/drawingml/2006/main">
            <a:srgbClr val="FFFFFF">
              <a:alpha val="60000"/>
            </a:srgbClr>
          </a:solidFill>
          <a:ln xmlns:a="http://schemas.openxmlformats.org/drawingml/2006/main" w="9525">
            <a:solidFill>
              <a:srgbClr val="8EBBD0"/>
            </a:solidFill>
            <a:prstDash val="solid"/>
          </a:ln>
        </p:spPr>
        <p:txBody>
          <a:bodyPr xmlns:a="http://schemas.openxmlformats.org/drawingml/2006/main" lIns="133350" tIns="0" rIns="95250" bIns="0" anchor="ctr">
            <a:normAutofit fontScale="94640"/>
          </a:bodyPr>
          <a:lstStyle xmlns:a="http://schemas.openxmlformats.org/drawingml/2006/main"/>
          <a:p xmlns:a="http://schemas.openxmlformats.org/drawingml/2006/main">
            <a:pPr algn="l">
              <a:defRPr sz="1050" b="0">
                <a:solidFill>
                  <a:srgbClr val="102A43"/>
                </a:solidFill>
                <a:latin typeface="Aptos"/>
                <a:ea typeface="Aptos"/>
                <a:cs typeface="Aptos"/>
              </a:defRPr>
            </a:pPr>
            <a:r>
              <a:rPr sz="1050" b="0">
                <a:solidFill>
                  <a:srgbClr val="102A43"/>
                </a:solidFill>
                <a:latin typeface="Aptos"/>
                <a:ea typeface="Aptos"/>
                <a:cs typeface="Aptos"/>
              </a:rPr>
              <a:t>Automatic Speech Recognition / Speech-to-Text</a:t>
            </a:r>
          </a:p>
        </p:txBody>
      </p:sp>
      <p:sp>
        <p:nvSpPr>
          <p:cNvPr id="15" name="">
            <a:extLst xmlns:a="http://schemas.openxmlformats.org/drawingml/2006/main">
              <a:ext uri="{FF2B5EF4-FFF2-40B4-BE49-F238E27FC236}">
                <a16:creationId xmlns:a16="http://schemas.microsoft.com/office/drawing/2014/main" id="{3DAFA67E-BE1C-4402-A241-FA440642C100}"/>
              </a:ext>
            </a:extLst>
          </p:cNvPr>
          <p:cNvSpPr>
            <a:spLocks xmlns:a="http://schemas.openxmlformats.org/drawingml/2006/main" noGrp="1"/>
          </p:cNvSpPr>
          <p:nvPr/>
        </p:nvSpPr>
        <p:spPr>
          <a:xfrm xmlns:a="http://schemas.openxmlformats.org/drawingml/2006/main">
            <a:off x="6057900" y="2609850"/>
            <a:ext cx="4229100" cy="381000"/>
          </a:xfrm>
          <a:prstGeom xmlns:a="http://schemas.openxmlformats.org/drawingml/2006/main" prst="roundRect">
            <a:avLst>
              <a:gd name="adj" fmla="val 35000"/>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9525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What did they say?</a:t>
            </a:r>
          </a:p>
        </p:txBody>
      </p:sp>
      <p:sp>
        <p:nvSpPr>
          <p:cNvPr id="16" name="">
            <a:extLst xmlns:a="http://schemas.openxmlformats.org/drawingml/2006/main">
              <a:ext uri="{FF2B5EF4-FFF2-40B4-BE49-F238E27FC236}">
                <a16:creationId xmlns:a16="http://schemas.microsoft.com/office/drawing/2014/main" id="{E435B3F1-123A-422A-AE3E-6898FD5F5C03}"/>
              </a:ext>
            </a:extLst>
          </p:cNvPr>
          <p:cNvSpPr>
            <a:spLocks xmlns:a="http://schemas.openxmlformats.org/drawingml/2006/main" noGrp="1"/>
          </p:cNvSpPr>
          <p:nvPr/>
        </p:nvSpPr>
        <p:spPr>
          <a:xfrm xmlns:a="http://schemas.openxmlformats.org/drawingml/2006/main">
            <a:off x="876300" y="3105150"/>
            <a:ext cx="1771650" cy="381000"/>
          </a:xfrm>
          <a:prstGeom xmlns:a="http://schemas.openxmlformats.org/drawingml/2006/main" prst="roundRect">
            <a:avLst>
              <a:gd name="adj" fmla="val 375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EOU</a:t>
            </a:r>
          </a:p>
        </p:txBody>
      </p:sp>
      <p:sp>
        <p:nvSpPr>
          <p:cNvPr id="17" name="">
            <a:extLst xmlns:a="http://schemas.openxmlformats.org/drawingml/2006/main">
              <a:ext uri="{FF2B5EF4-FFF2-40B4-BE49-F238E27FC236}">
                <a16:creationId xmlns:a16="http://schemas.microsoft.com/office/drawing/2014/main" id="{8F206764-3245-4FD9-8019-FB20A8F1DD06}"/>
              </a:ext>
            </a:extLst>
          </p:cNvPr>
          <p:cNvSpPr>
            <a:spLocks xmlns:a="http://schemas.openxmlformats.org/drawingml/2006/main" noGrp="1"/>
          </p:cNvSpPr>
          <p:nvPr/>
        </p:nvSpPr>
        <p:spPr>
          <a:xfrm xmlns:a="http://schemas.openxmlformats.org/drawingml/2006/main">
            <a:off x="2895600" y="3105150"/>
            <a:ext cx="2857500" cy="381000"/>
          </a:xfrm>
          <a:prstGeom xmlns:a="http://schemas.openxmlformats.org/drawingml/2006/main" prst="roundRect">
            <a:avLst>
              <a:gd name="adj" fmla="val 35000"/>
            </a:avLst>
          </a:prstGeom>
          <a:solidFill xmlns:a="http://schemas.openxmlformats.org/drawingml/2006/main">
            <a:srgbClr val="FFFFFF">
              <a:alpha val="60000"/>
            </a:srgbClr>
          </a:solidFill>
          <a:ln xmlns:a="http://schemas.openxmlformats.org/drawingml/2006/main" w="9525">
            <a:solidFill>
              <a:srgbClr val="8EBBD0"/>
            </a:solidFill>
            <a:prstDash val="solid"/>
          </a:ln>
        </p:spPr>
        <p:txBody>
          <a:bodyPr xmlns:a="http://schemas.openxmlformats.org/drawingml/2006/main" lIns="133350" tIns="0" rIns="95250" bIns="0" anchor="ctr">
            <a:normAutofit fontScale="100000"/>
          </a:bodyPr>
          <a:lstStyle xmlns:a="http://schemas.openxmlformats.org/drawingml/2006/main"/>
          <a:p xmlns:a="http://schemas.openxmlformats.org/drawingml/2006/main">
            <a:pPr algn="l">
              <a:defRPr sz="1050" b="0">
                <a:solidFill>
                  <a:srgbClr val="102A43"/>
                </a:solidFill>
                <a:latin typeface="Aptos"/>
                <a:ea typeface="Aptos"/>
                <a:cs typeface="Aptos"/>
              </a:defRPr>
            </a:pPr>
            <a:r>
              <a:rPr sz="1050" b="0">
                <a:solidFill>
                  <a:srgbClr val="102A43"/>
                </a:solidFill>
                <a:latin typeface="Aptos"/>
                <a:ea typeface="Aptos"/>
                <a:cs typeface="Aptos"/>
              </a:rPr>
              <a:t>End of Utterance / endpointing</a:t>
            </a:r>
          </a:p>
        </p:txBody>
      </p:sp>
      <p:sp>
        <p:nvSpPr>
          <p:cNvPr id="18" name="">
            <a:extLst xmlns:a="http://schemas.openxmlformats.org/drawingml/2006/main">
              <a:ext uri="{FF2B5EF4-FFF2-40B4-BE49-F238E27FC236}">
                <a16:creationId xmlns:a16="http://schemas.microsoft.com/office/drawing/2014/main" id="{511766E1-11FE-40FE-B929-2B85B8065D20}"/>
              </a:ext>
            </a:extLst>
          </p:cNvPr>
          <p:cNvSpPr>
            <a:spLocks xmlns:a="http://schemas.openxmlformats.org/drawingml/2006/main" noGrp="1"/>
          </p:cNvSpPr>
          <p:nvPr/>
        </p:nvSpPr>
        <p:spPr>
          <a:xfrm xmlns:a="http://schemas.openxmlformats.org/drawingml/2006/main">
            <a:off x="6057900" y="3105150"/>
            <a:ext cx="4229100" cy="381000"/>
          </a:xfrm>
          <a:prstGeom xmlns:a="http://schemas.openxmlformats.org/drawingml/2006/main" prst="roundRect">
            <a:avLst>
              <a:gd name="adj" fmla="val 35000"/>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9525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Are they finished?</a:t>
            </a:r>
          </a:p>
        </p:txBody>
      </p:sp>
      <p:sp>
        <p:nvSpPr>
          <p:cNvPr id="19" name="">
            <a:extLst xmlns:a="http://schemas.openxmlformats.org/drawingml/2006/main">
              <a:ext uri="{FF2B5EF4-FFF2-40B4-BE49-F238E27FC236}">
                <a16:creationId xmlns:a16="http://schemas.microsoft.com/office/drawing/2014/main" id="{7F3B2B8D-51EE-4519-91CD-5D48AF0ED790}"/>
              </a:ext>
            </a:extLst>
          </p:cNvPr>
          <p:cNvSpPr>
            <a:spLocks xmlns:a="http://schemas.openxmlformats.org/drawingml/2006/main" noGrp="1"/>
          </p:cNvSpPr>
          <p:nvPr/>
        </p:nvSpPr>
        <p:spPr>
          <a:xfrm xmlns:a="http://schemas.openxmlformats.org/drawingml/2006/main">
            <a:off x="876300" y="3600450"/>
            <a:ext cx="1771650" cy="381000"/>
          </a:xfrm>
          <a:prstGeom xmlns:a="http://schemas.openxmlformats.org/drawingml/2006/main" prst="roundRect">
            <a:avLst>
              <a:gd name="adj" fmla="val 37500"/>
            </a:avLst>
          </a:prstGeom>
          <a:solidFill xmlns:a="http://schemas.openxmlformats.org/drawingml/2006/main">
            <a:srgbClr val="268C82"/>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LLM TTFT</a:t>
            </a:r>
          </a:p>
        </p:txBody>
      </p:sp>
      <p:sp>
        <p:nvSpPr>
          <p:cNvPr id="20" name="">
            <a:extLst xmlns:a="http://schemas.openxmlformats.org/drawingml/2006/main">
              <a:ext uri="{FF2B5EF4-FFF2-40B4-BE49-F238E27FC236}">
                <a16:creationId xmlns:a16="http://schemas.microsoft.com/office/drawing/2014/main" id="{385E0D6C-E36E-4C71-8F14-4BFF6025337C}"/>
              </a:ext>
            </a:extLst>
          </p:cNvPr>
          <p:cNvSpPr>
            <a:spLocks xmlns:a="http://schemas.openxmlformats.org/drawingml/2006/main" noGrp="1"/>
          </p:cNvSpPr>
          <p:nvPr/>
        </p:nvSpPr>
        <p:spPr>
          <a:xfrm xmlns:a="http://schemas.openxmlformats.org/drawingml/2006/main">
            <a:off x="2895600" y="3600450"/>
            <a:ext cx="2857500" cy="381000"/>
          </a:xfrm>
          <a:prstGeom xmlns:a="http://schemas.openxmlformats.org/drawingml/2006/main" prst="roundRect">
            <a:avLst>
              <a:gd name="adj" fmla="val 35000"/>
            </a:avLst>
          </a:prstGeom>
          <a:solidFill xmlns:a="http://schemas.openxmlformats.org/drawingml/2006/main">
            <a:srgbClr val="FFFFFF">
              <a:alpha val="60000"/>
            </a:srgbClr>
          </a:solidFill>
          <a:ln xmlns:a="http://schemas.openxmlformats.org/drawingml/2006/main" w="9525">
            <a:solidFill>
              <a:srgbClr val="8EBBD0"/>
            </a:solidFill>
            <a:prstDash val="solid"/>
          </a:ln>
        </p:spPr>
        <p:txBody>
          <a:bodyPr xmlns:a="http://schemas.openxmlformats.org/drawingml/2006/main" lIns="133350" tIns="0" rIns="95250" bIns="0" anchor="ctr">
            <a:normAutofit fontScale="100000"/>
          </a:bodyPr>
          <a:lstStyle xmlns:a="http://schemas.openxmlformats.org/drawingml/2006/main"/>
          <a:p xmlns:a="http://schemas.openxmlformats.org/drawingml/2006/main">
            <a:pPr algn="l">
              <a:defRPr sz="1050" b="0">
                <a:solidFill>
                  <a:srgbClr val="102A43"/>
                </a:solidFill>
                <a:latin typeface="Aptos"/>
                <a:ea typeface="Aptos"/>
                <a:cs typeface="Aptos"/>
              </a:defRPr>
            </a:pPr>
            <a:r>
              <a:rPr sz="1050" b="0">
                <a:solidFill>
                  <a:srgbClr val="102A43"/>
                </a:solidFill>
                <a:latin typeface="Aptos"/>
                <a:ea typeface="Aptos"/>
                <a:cs typeface="Aptos"/>
              </a:rPr>
              <a:t>Large-language-model time to first token</a:t>
            </a:r>
          </a:p>
        </p:txBody>
      </p:sp>
      <p:sp>
        <p:nvSpPr>
          <p:cNvPr id="21" name="">
            <a:extLst xmlns:a="http://schemas.openxmlformats.org/drawingml/2006/main">
              <a:ext uri="{FF2B5EF4-FFF2-40B4-BE49-F238E27FC236}">
                <a16:creationId xmlns:a16="http://schemas.microsoft.com/office/drawing/2014/main" id="{C79B7314-E200-479F-B54C-5E3ACEA82405}"/>
              </a:ext>
            </a:extLst>
          </p:cNvPr>
          <p:cNvSpPr>
            <a:spLocks xmlns:a="http://schemas.openxmlformats.org/drawingml/2006/main" noGrp="1"/>
          </p:cNvSpPr>
          <p:nvPr/>
        </p:nvSpPr>
        <p:spPr>
          <a:xfrm xmlns:a="http://schemas.openxmlformats.org/drawingml/2006/main">
            <a:off x="6057900" y="3600450"/>
            <a:ext cx="4229100" cy="381000"/>
          </a:xfrm>
          <a:prstGeom xmlns:a="http://schemas.openxmlformats.org/drawingml/2006/main" prst="roundRect">
            <a:avLst>
              <a:gd name="adj" fmla="val 35000"/>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9525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When does thinking begin?</a:t>
            </a:r>
          </a:p>
        </p:txBody>
      </p:sp>
      <p:sp>
        <p:nvSpPr>
          <p:cNvPr id="22" name="">
            <a:extLst xmlns:a="http://schemas.openxmlformats.org/drawingml/2006/main">
              <a:ext uri="{FF2B5EF4-FFF2-40B4-BE49-F238E27FC236}">
                <a16:creationId xmlns:a16="http://schemas.microsoft.com/office/drawing/2014/main" id="{077896BE-6E5B-4FDD-9AC5-2BDBDE54C9EF}"/>
              </a:ext>
            </a:extLst>
          </p:cNvPr>
          <p:cNvSpPr>
            <a:spLocks xmlns:a="http://schemas.openxmlformats.org/drawingml/2006/main" noGrp="1"/>
          </p:cNvSpPr>
          <p:nvPr/>
        </p:nvSpPr>
        <p:spPr>
          <a:xfrm xmlns:a="http://schemas.openxmlformats.org/drawingml/2006/main">
            <a:off x="876300" y="4095750"/>
            <a:ext cx="1771650" cy="381000"/>
          </a:xfrm>
          <a:prstGeom xmlns:a="http://schemas.openxmlformats.org/drawingml/2006/main" prst="roundRect">
            <a:avLst>
              <a:gd name="adj" fmla="val 375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TTS TTFB</a:t>
            </a:r>
          </a:p>
        </p:txBody>
      </p:sp>
      <p:sp>
        <p:nvSpPr>
          <p:cNvPr id="23" name="">
            <a:extLst xmlns:a="http://schemas.openxmlformats.org/drawingml/2006/main">
              <a:ext uri="{FF2B5EF4-FFF2-40B4-BE49-F238E27FC236}">
                <a16:creationId xmlns:a16="http://schemas.microsoft.com/office/drawing/2014/main" id="{BE38BA04-D029-42FF-857C-F9C23881B2D3}"/>
              </a:ext>
            </a:extLst>
          </p:cNvPr>
          <p:cNvSpPr>
            <a:spLocks xmlns:a="http://schemas.openxmlformats.org/drawingml/2006/main" noGrp="1"/>
          </p:cNvSpPr>
          <p:nvPr/>
        </p:nvSpPr>
        <p:spPr>
          <a:xfrm xmlns:a="http://schemas.openxmlformats.org/drawingml/2006/main">
            <a:off x="2895600" y="4095750"/>
            <a:ext cx="2857500" cy="381000"/>
          </a:xfrm>
          <a:prstGeom xmlns:a="http://schemas.openxmlformats.org/drawingml/2006/main" prst="roundRect">
            <a:avLst>
              <a:gd name="adj" fmla="val 35000"/>
            </a:avLst>
          </a:prstGeom>
          <a:solidFill xmlns:a="http://schemas.openxmlformats.org/drawingml/2006/main">
            <a:srgbClr val="FFFFFF">
              <a:alpha val="60000"/>
            </a:srgbClr>
          </a:solidFill>
          <a:ln xmlns:a="http://schemas.openxmlformats.org/drawingml/2006/main" w="9525">
            <a:solidFill>
              <a:srgbClr val="8EBBD0"/>
            </a:solidFill>
            <a:prstDash val="solid"/>
          </a:ln>
        </p:spPr>
        <p:txBody>
          <a:bodyPr xmlns:a="http://schemas.openxmlformats.org/drawingml/2006/main" lIns="133350" tIns="0" rIns="95250" bIns="0" anchor="ctr">
            <a:normAutofit fontScale="100000"/>
          </a:bodyPr>
          <a:lstStyle xmlns:a="http://schemas.openxmlformats.org/drawingml/2006/main"/>
          <a:p xmlns:a="http://schemas.openxmlformats.org/drawingml/2006/main">
            <a:pPr algn="l">
              <a:defRPr sz="1050" b="0">
                <a:solidFill>
                  <a:srgbClr val="102A43"/>
                </a:solidFill>
                <a:latin typeface="Aptos"/>
                <a:ea typeface="Aptos"/>
                <a:cs typeface="Aptos"/>
              </a:defRPr>
            </a:pPr>
            <a:r>
              <a:rPr sz="1050" b="0">
                <a:solidFill>
                  <a:srgbClr val="102A43"/>
                </a:solidFill>
                <a:latin typeface="Aptos"/>
                <a:ea typeface="Aptos"/>
                <a:cs typeface="Aptos"/>
              </a:rPr>
              <a:t>Text-to-speech time to first byte</a:t>
            </a:r>
          </a:p>
        </p:txBody>
      </p:sp>
      <p:sp>
        <p:nvSpPr>
          <p:cNvPr id="24" name="">
            <a:extLst xmlns:a="http://schemas.openxmlformats.org/drawingml/2006/main">
              <a:ext uri="{FF2B5EF4-FFF2-40B4-BE49-F238E27FC236}">
                <a16:creationId xmlns:a16="http://schemas.microsoft.com/office/drawing/2014/main" id="{D44253EB-4CC5-4D6A-A9D7-95196CB4E81B}"/>
              </a:ext>
            </a:extLst>
          </p:cNvPr>
          <p:cNvSpPr>
            <a:spLocks xmlns:a="http://schemas.openxmlformats.org/drawingml/2006/main" noGrp="1"/>
          </p:cNvSpPr>
          <p:nvPr/>
        </p:nvSpPr>
        <p:spPr>
          <a:xfrm xmlns:a="http://schemas.openxmlformats.org/drawingml/2006/main">
            <a:off x="6057900" y="4095750"/>
            <a:ext cx="4229100" cy="381000"/>
          </a:xfrm>
          <a:prstGeom xmlns:a="http://schemas.openxmlformats.org/drawingml/2006/main" prst="roundRect">
            <a:avLst>
              <a:gd name="adj" fmla="val 35000"/>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9525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When can speech begin?</a:t>
            </a:r>
          </a:p>
        </p:txBody>
      </p:sp>
      <p:sp>
        <p:nvSpPr>
          <p:cNvPr id="25" name="">
            <a:extLst xmlns:a="http://schemas.openxmlformats.org/drawingml/2006/main">
              <a:ext uri="{FF2B5EF4-FFF2-40B4-BE49-F238E27FC236}">
                <a16:creationId xmlns:a16="http://schemas.microsoft.com/office/drawing/2014/main" id="{26F2D7DC-12D9-4A8D-B268-D27FD49FD284}"/>
              </a:ext>
            </a:extLst>
          </p:cNvPr>
          <p:cNvSpPr>
            <a:spLocks xmlns:a="http://schemas.openxmlformats.org/drawingml/2006/main" noGrp="1"/>
          </p:cNvSpPr>
          <p:nvPr/>
        </p:nvSpPr>
        <p:spPr>
          <a:xfrm xmlns:a="http://schemas.openxmlformats.org/drawingml/2006/main">
            <a:off x="876300" y="4591050"/>
            <a:ext cx="1771650" cy="381000"/>
          </a:xfrm>
          <a:prstGeom xmlns:a="http://schemas.openxmlformats.org/drawingml/2006/main" prst="roundRect">
            <a:avLst>
              <a:gd name="adj" fmla="val 37500"/>
            </a:avLst>
          </a:prstGeom>
          <a:solidFill xmlns:a="http://schemas.openxmlformats.org/drawingml/2006/main">
            <a:srgbClr val="268C82"/>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Barge-in</a:t>
            </a:r>
          </a:p>
        </p:txBody>
      </p:sp>
      <p:sp>
        <p:nvSpPr>
          <p:cNvPr id="26" name="">
            <a:extLst xmlns:a="http://schemas.openxmlformats.org/drawingml/2006/main">
              <a:ext uri="{FF2B5EF4-FFF2-40B4-BE49-F238E27FC236}">
                <a16:creationId xmlns:a16="http://schemas.microsoft.com/office/drawing/2014/main" id="{4107F7AD-9EB6-45CE-AFD5-AA227AC6E4EA}"/>
              </a:ext>
            </a:extLst>
          </p:cNvPr>
          <p:cNvSpPr>
            <a:spLocks xmlns:a="http://schemas.openxmlformats.org/drawingml/2006/main" noGrp="1"/>
          </p:cNvSpPr>
          <p:nvPr/>
        </p:nvSpPr>
        <p:spPr>
          <a:xfrm xmlns:a="http://schemas.openxmlformats.org/drawingml/2006/main">
            <a:off x="2895600" y="4591050"/>
            <a:ext cx="2857500" cy="381000"/>
          </a:xfrm>
          <a:prstGeom xmlns:a="http://schemas.openxmlformats.org/drawingml/2006/main" prst="roundRect">
            <a:avLst>
              <a:gd name="adj" fmla="val 35000"/>
            </a:avLst>
          </a:prstGeom>
          <a:solidFill xmlns:a="http://schemas.openxmlformats.org/drawingml/2006/main">
            <a:srgbClr val="FFFFFF">
              <a:alpha val="60000"/>
            </a:srgbClr>
          </a:solidFill>
          <a:ln xmlns:a="http://schemas.openxmlformats.org/drawingml/2006/main" w="9525">
            <a:solidFill>
              <a:srgbClr val="8EBBD0"/>
            </a:solidFill>
            <a:prstDash val="solid"/>
          </a:ln>
        </p:spPr>
        <p:txBody>
          <a:bodyPr xmlns:a="http://schemas.openxmlformats.org/drawingml/2006/main" lIns="133350" tIns="0" rIns="95250" bIns="0" anchor="ctr">
            <a:normAutofit fontScale="100000"/>
          </a:bodyPr>
          <a:lstStyle xmlns:a="http://schemas.openxmlformats.org/drawingml/2006/main"/>
          <a:p xmlns:a="http://schemas.openxmlformats.org/drawingml/2006/main">
            <a:pPr algn="l">
              <a:defRPr sz="1050" b="0">
                <a:solidFill>
                  <a:srgbClr val="102A43"/>
                </a:solidFill>
                <a:latin typeface="Aptos"/>
                <a:ea typeface="Aptos"/>
                <a:cs typeface="Aptos"/>
              </a:defRPr>
            </a:pPr>
            <a:r>
              <a:rPr sz="1050" b="0">
                <a:solidFill>
                  <a:srgbClr val="102A43"/>
                </a:solidFill>
                <a:latin typeface="Aptos"/>
                <a:ea typeface="Aptos"/>
                <a:cs typeface="Aptos"/>
              </a:rPr>
              <a:t>Interruption detection and recovery</a:t>
            </a:r>
          </a:p>
        </p:txBody>
      </p:sp>
      <p:sp>
        <p:nvSpPr>
          <p:cNvPr id="27" name="">
            <a:extLst xmlns:a="http://schemas.openxmlformats.org/drawingml/2006/main">
              <a:ext uri="{FF2B5EF4-FFF2-40B4-BE49-F238E27FC236}">
                <a16:creationId xmlns:a16="http://schemas.microsoft.com/office/drawing/2014/main" id="{EF5502BA-A72F-41C0-84D7-0E6742E8199C}"/>
              </a:ext>
            </a:extLst>
          </p:cNvPr>
          <p:cNvSpPr>
            <a:spLocks xmlns:a="http://schemas.openxmlformats.org/drawingml/2006/main" noGrp="1"/>
          </p:cNvSpPr>
          <p:nvPr/>
        </p:nvSpPr>
        <p:spPr>
          <a:xfrm xmlns:a="http://schemas.openxmlformats.org/drawingml/2006/main">
            <a:off x="6057900" y="4591050"/>
            <a:ext cx="4229100" cy="381000"/>
          </a:xfrm>
          <a:prstGeom xmlns:a="http://schemas.openxmlformats.org/drawingml/2006/main" prst="roundRect">
            <a:avLst>
              <a:gd name="adj" fmla="val 35000"/>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9525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Can the caller take the floor?</a:t>
            </a:r>
          </a:p>
        </p:txBody>
      </p:sp>
      <p:sp>
        <p:nvSpPr>
          <p:cNvPr id="28" name="">
            <a:extLst xmlns:a="http://schemas.openxmlformats.org/drawingml/2006/main">
              <a:ext uri="{FF2B5EF4-FFF2-40B4-BE49-F238E27FC236}">
                <a16:creationId xmlns:a16="http://schemas.microsoft.com/office/drawing/2014/main" id="{36F6AA5E-9219-4182-AFDA-C819E84C0F51}"/>
              </a:ext>
            </a:extLst>
          </p:cNvPr>
          <p:cNvSpPr>
            <a:spLocks xmlns:a="http://schemas.openxmlformats.org/drawingml/2006/main" noGrp="1"/>
          </p:cNvSpPr>
          <p:nvPr/>
        </p:nvSpPr>
        <p:spPr>
          <a:xfrm xmlns:a="http://schemas.openxmlformats.org/drawingml/2006/main">
            <a:off x="876300" y="5086350"/>
            <a:ext cx="1771650" cy="381000"/>
          </a:xfrm>
          <a:prstGeom xmlns:a="http://schemas.openxmlformats.org/drawingml/2006/main" prst="roundRect">
            <a:avLst>
              <a:gd name="adj" fmla="val 375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RTF</a:t>
            </a:r>
          </a:p>
        </p:txBody>
      </p:sp>
      <p:sp>
        <p:nvSpPr>
          <p:cNvPr id="29" name="">
            <a:extLst xmlns:a="http://schemas.openxmlformats.org/drawingml/2006/main">
              <a:ext uri="{FF2B5EF4-FFF2-40B4-BE49-F238E27FC236}">
                <a16:creationId xmlns:a16="http://schemas.microsoft.com/office/drawing/2014/main" id="{F1EED9CC-46BF-490A-B3DF-5500E0FE9FD2}"/>
              </a:ext>
            </a:extLst>
          </p:cNvPr>
          <p:cNvSpPr>
            <a:spLocks xmlns:a="http://schemas.openxmlformats.org/drawingml/2006/main" noGrp="1"/>
          </p:cNvSpPr>
          <p:nvPr/>
        </p:nvSpPr>
        <p:spPr>
          <a:xfrm xmlns:a="http://schemas.openxmlformats.org/drawingml/2006/main">
            <a:off x="2895600" y="5086350"/>
            <a:ext cx="2857500" cy="381000"/>
          </a:xfrm>
          <a:prstGeom xmlns:a="http://schemas.openxmlformats.org/drawingml/2006/main" prst="roundRect">
            <a:avLst>
              <a:gd name="adj" fmla="val 35000"/>
            </a:avLst>
          </a:prstGeom>
          <a:solidFill xmlns:a="http://schemas.openxmlformats.org/drawingml/2006/main">
            <a:srgbClr val="FFFFFF">
              <a:alpha val="60000"/>
            </a:srgbClr>
          </a:solidFill>
          <a:ln xmlns:a="http://schemas.openxmlformats.org/drawingml/2006/main" w="9525">
            <a:solidFill>
              <a:srgbClr val="8EBBD0"/>
            </a:solidFill>
            <a:prstDash val="solid"/>
          </a:ln>
        </p:spPr>
        <p:txBody>
          <a:bodyPr xmlns:a="http://schemas.openxmlformats.org/drawingml/2006/main" lIns="133350" tIns="0" rIns="95250" bIns="0" anchor="ctr">
            <a:normAutofit fontScale="100000"/>
          </a:bodyPr>
          <a:lstStyle xmlns:a="http://schemas.openxmlformats.org/drawingml/2006/main"/>
          <a:p xmlns:a="http://schemas.openxmlformats.org/drawingml/2006/main">
            <a:pPr algn="l">
              <a:defRPr sz="1050" b="0">
                <a:solidFill>
                  <a:srgbClr val="102A43"/>
                </a:solidFill>
                <a:latin typeface="Aptos"/>
                <a:ea typeface="Aptos"/>
                <a:cs typeface="Aptos"/>
              </a:defRPr>
            </a:pPr>
            <a:r>
              <a:rPr sz="1050" b="0">
                <a:solidFill>
                  <a:srgbClr val="102A43"/>
                </a:solidFill>
                <a:latin typeface="Aptos"/>
                <a:ea typeface="Aptos"/>
                <a:cs typeface="Aptos"/>
              </a:rPr>
              <a:t>Real-time factor</a:t>
            </a:r>
          </a:p>
        </p:txBody>
      </p:sp>
      <p:sp>
        <p:nvSpPr>
          <p:cNvPr id="30" name="">
            <a:extLst xmlns:a="http://schemas.openxmlformats.org/drawingml/2006/main">
              <a:ext uri="{FF2B5EF4-FFF2-40B4-BE49-F238E27FC236}">
                <a16:creationId xmlns:a16="http://schemas.microsoft.com/office/drawing/2014/main" id="{A0240CDC-CC3A-4A3E-8F83-A4C598656AF1}"/>
              </a:ext>
            </a:extLst>
          </p:cNvPr>
          <p:cNvSpPr>
            <a:spLocks xmlns:a="http://schemas.openxmlformats.org/drawingml/2006/main" noGrp="1"/>
          </p:cNvSpPr>
          <p:nvPr/>
        </p:nvSpPr>
        <p:spPr>
          <a:xfrm xmlns:a="http://schemas.openxmlformats.org/drawingml/2006/main">
            <a:off x="6057900" y="5086350"/>
            <a:ext cx="4229100" cy="381000"/>
          </a:xfrm>
          <a:prstGeom xmlns:a="http://schemas.openxmlformats.org/drawingml/2006/main" prst="roundRect">
            <a:avLst>
              <a:gd name="adj" fmla="val 35000"/>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9525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Can inference keep up with speech?</a:t>
            </a:r>
          </a:p>
        </p:txBody>
      </p:sp>
      <p:sp>
        <p:nvSpPr>
          <p:cNvPr id="31" name="">
            <a:extLst xmlns:a="http://schemas.openxmlformats.org/drawingml/2006/main">
              <a:ext uri="{FF2B5EF4-FFF2-40B4-BE49-F238E27FC236}">
                <a16:creationId xmlns:a16="http://schemas.microsoft.com/office/drawing/2014/main" id="{BA689C47-8DF6-4027-A764-2E6203954703}"/>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learning guide</a:t>
            </a:r>
          </a:p>
        </p:txBody>
      </p:sp>
    </p:spTree>
    <p:extLst>
      <p:ext uri="{BB962C8B-B14F-4D97-AF65-F5344CB8AC3E}">
        <p14:creationId xmlns:p14="http://schemas.microsoft.com/office/powerpoint/2010/main" val="136778792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8a0419cb97c4c0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D1323F-C2E8-4D1C-A95E-BAA646DBF026}"/>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5E7CB1F1-A610-4B1B-8803-F83D7397A351}"/>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04</a:t>
            </a:r>
          </a:p>
        </p:txBody>
      </p:sp>
      <p:sp>
        <p:nvSpPr>
          <p:cNvPr id="4" name="">
            <a:extLst xmlns:a="http://schemas.openxmlformats.org/drawingml/2006/main">
              <a:ext uri="{FF2B5EF4-FFF2-40B4-BE49-F238E27FC236}">
                <a16:creationId xmlns:a16="http://schemas.microsoft.com/office/drawing/2014/main" id="{DDC13F99-5E9F-4670-9706-5BD448DD7EBA}"/>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65730EC6-1892-4BB1-93E6-54FCD79882A3}"/>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The waterfall tax</a:t>
            </a:r>
          </a:p>
        </p:txBody>
      </p:sp>
      <p:sp>
        <p:nvSpPr>
          <p:cNvPr id="6" name="">
            <a:extLst xmlns:a="http://schemas.openxmlformats.org/drawingml/2006/main">
              <a:ext uri="{FF2B5EF4-FFF2-40B4-BE49-F238E27FC236}">
                <a16:creationId xmlns:a16="http://schemas.microsoft.com/office/drawing/2014/main" id="{0A1CF1D4-DB4C-4CD3-B8FD-CE95829949B8}"/>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F0283D53-D31A-4FD3-848F-A79607EE615A}"/>
              </a:ext>
            </a:extLst>
          </p:cNvPr>
          <p:cNvSpPr>
            <a:spLocks xmlns:a="http://schemas.openxmlformats.org/drawingml/2006/main" noGrp="1"/>
          </p:cNvSpPr>
          <p:nvPr/>
        </p:nvSpPr>
        <p:spPr>
          <a:xfrm xmlns:a="http://schemas.openxmlformats.org/drawingml/2006/main">
            <a:off x="857250" y="2647950"/>
            <a:ext cx="1238250" cy="857250"/>
          </a:xfrm>
          <a:prstGeom xmlns:a="http://schemas.openxmlformats.org/drawingml/2006/main" prst="roundRect">
            <a:avLst>
              <a:gd name="adj" fmla="val 17778"/>
            </a:avLst>
          </a:prstGeom>
          <a:solidFill xmlns:a="http://schemas.openxmlformats.org/drawingml/2006/main">
            <a:srgbClr val="E8F3F6"/>
          </a:solidFill>
          <a:ln xmlns:a="http://schemas.openxmlformats.org/drawingml/2006/main" w="0">
            <a:solidFill>
              <a:srgbClr val="E8F3F6"/>
            </a:solidFill>
            <a:prstDash val="solid"/>
          </a:ln>
        </p:spPr>
      </p:sp>
      <p:sp>
        <p:nvSpPr>
          <p:cNvPr id="8" name="">
            <a:extLst xmlns:a="http://schemas.openxmlformats.org/drawingml/2006/main">
              <a:ext uri="{FF2B5EF4-FFF2-40B4-BE49-F238E27FC236}">
                <a16:creationId xmlns:a16="http://schemas.microsoft.com/office/drawing/2014/main" id="{31FA2CC5-D683-4036-8CC8-7D132760C822}"/>
              </a:ext>
            </a:extLst>
          </p:cNvPr>
          <p:cNvSpPr>
            <a:spLocks xmlns:a="http://schemas.openxmlformats.org/drawingml/2006/main" noGrp="1"/>
          </p:cNvSpPr>
          <p:nvPr/>
        </p:nvSpPr>
        <p:spPr>
          <a:xfrm xmlns:a="http://schemas.openxmlformats.org/drawingml/2006/main">
            <a:off x="933450" y="264795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speech end</a:t>
            </a:r>
          </a:p>
        </p:txBody>
      </p:sp>
      <p:sp>
        <p:nvSpPr>
          <p:cNvPr id="9" name="">
            <a:extLst xmlns:a="http://schemas.openxmlformats.org/drawingml/2006/main">
              <a:ext uri="{FF2B5EF4-FFF2-40B4-BE49-F238E27FC236}">
                <a16:creationId xmlns:a16="http://schemas.microsoft.com/office/drawing/2014/main" id="{DA9C97EA-AF48-48C0-8C2C-70BC839E9675}"/>
              </a:ext>
            </a:extLst>
          </p:cNvPr>
          <p:cNvSpPr>
            <a:spLocks xmlns:a="http://schemas.openxmlformats.org/drawingml/2006/main" noGrp="1"/>
          </p:cNvSpPr>
          <p:nvPr/>
        </p:nvSpPr>
        <p:spPr>
          <a:xfrm xmlns:a="http://schemas.openxmlformats.org/drawingml/2006/main">
            <a:off x="2076450" y="28575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D96C5F"/>
                </a:solidFill>
                <a:latin typeface="Aptos"/>
                <a:ea typeface="Aptos"/>
                <a:cs typeface="Aptos"/>
              </a:defRPr>
            </a:pPr>
            <a:r>
              <a:rPr sz="1800" b="1">
                <a:solidFill>
                  <a:srgbClr val="D96C5F"/>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63FDE0C2-360B-4CB2-A334-8BA7CB0DD5AC}"/>
              </a:ext>
            </a:extLst>
          </p:cNvPr>
          <p:cNvSpPr>
            <a:spLocks xmlns:a="http://schemas.openxmlformats.org/drawingml/2006/main" noGrp="1"/>
          </p:cNvSpPr>
          <p:nvPr/>
        </p:nvSpPr>
        <p:spPr>
          <a:xfrm xmlns:a="http://schemas.openxmlformats.org/drawingml/2006/main">
            <a:off x="2266950" y="2647950"/>
            <a:ext cx="1238250" cy="857250"/>
          </a:xfrm>
          <a:prstGeom xmlns:a="http://schemas.openxmlformats.org/drawingml/2006/main" prst="roundRect">
            <a:avLst>
              <a:gd name="adj" fmla="val 17778"/>
            </a:avLst>
          </a:prstGeom>
          <a:solidFill xmlns:a="http://schemas.openxmlformats.org/drawingml/2006/main">
            <a:srgbClr val="DDEFF3"/>
          </a:solidFill>
          <a:ln xmlns:a="http://schemas.openxmlformats.org/drawingml/2006/main" w="0">
            <a:solidFill>
              <a:srgbClr val="DDEFF3"/>
            </a:solidFill>
            <a:prstDash val="solid"/>
          </a:ln>
        </p:spPr>
      </p:sp>
      <p:sp>
        <p:nvSpPr>
          <p:cNvPr id="11" name="">
            <a:extLst xmlns:a="http://schemas.openxmlformats.org/drawingml/2006/main">
              <a:ext uri="{FF2B5EF4-FFF2-40B4-BE49-F238E27FC236}">
                <a16:creationId xmlns:a16="http://schemas.microsoft.com/office/drawing/2014/main" id="{EC9DC12C-40A6-420B-AF4A-24545429924A}"/>
              </a:ext>
            </a:extLst>
          </p:cNvPr>
          <p:cNvSpPr>
            <a:spLocks xmlns:a="http://schemas.openxmlformats.org/drawingml/2006/main" noGrp="1"/>
          </p:cNvSpPr>
          <p:nvPr/>
        </p:nvSpPr>
        <p:spPr>
          <a:xfrm xmlns:a="http://schemas.openxmlformats.org/drawingml/2006/main">
            <a:off x="2343150" y="264795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endpoint</a:t>
            </a:r>
          </a:p>
        </p:txBody>
      </p:sp>
      <p:sp>
        <p:nvSpPr>
          <p:cNvPr id="12" name="">
            <a:extLst xmlns:a="http://schemas.openxmlformats.org/drawingml/2006/main">
              <a:ext uri="{FF2B5EF4-FFF2-40B4-BE49-F238E27FC236}">
                <a16:creationId xmlns:a16="http://schemas.microsoft.com/office/drawing/2014/main" id="{8EC6949C-DCA4-4561-89C9-078E21AB6225}"/>
              </a:ext>
            </a:extLst>
          </p:cNvPr>
          <p:cNvSpPr>
            <a:spLocks xmlns:a="http://schemas.openxmlformats.org/drawingml/2006/main" noGrp="1"/>
          </p:cNvSpPr>
          <p:nvPr/>
        </p:nvSpPr>
        <p:spPr>
          <a:xfrm xmlns:a="http://schemas.openxmlformats.org/drawingml/2006/main">
            <a:off x="3486150" y="28575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D96C5F"/>
                </a:solidFill>
                <a:latin typeface="Aptos"/>
                <a:ea typeface="Aptos"/>
                <a:cs typeface="Aptos"/>
              </a:defRPr>
            </a:pPr>
            <a:r>
              <a:rPr sz="1800" b="1">
                <a:solidFill>
                  <a:srgbClr val="D96C5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F94AD6CE-CB0D-43F4-8359-FE12FF97CC3A}"/>
              </a:ext>
            </a:extLst>
          </p:cNvPr>
          <p:cNvSpPr>
            <a:spLocks xmlns:a="http://schemas.openxmlformats.org/drawingml/2006/main" noGrp="1"/>
          </p:cNvSpPr>
          <p:nvPr/>
        </p:nvSpPr>
        <p:spPr>
          <a:xfrm xmlns:a="http://schemas.openxmlformats.org/drawingml/2006/main">
            <a:off x="3676650" y="2647950"/>
            <a:ext cx="1238250" cy="857250"/>
          </a:xfrm>
          <a:prstGeom xmlns:a="http://schemas.openxmlformats.org/drawingml/2006/main" prst="roundRect">
            <a:avLst>
              <a:gd name="adj" fmla="val 17778"/>
            </a:avLst>
          </a:prstGeom>
          <a:solidFill xmlns:a="http://schemas.openxmlformats.org/drawingml/2006/main">
            <a:srgbClr val="CBE8EE"/>
          </a:solidFill>
          <a:ln xmlns:a="http://schemas.openxmlformats.org/drawingml/2006/main" w="0">
            <a:solidFill>
              <a:srgbClr val="CBE8EE"/>
            </a:solidFill>
            <a:prstDash val="solid"/>
          </a:ln>
        </p:spPr>
      </p:sp>
      <p:sp>
        <p:nvSpPr>
          <p:cNvPr id="14" name="">
            <a:extLst xmlns:a="http://schemas.openxmlformats.org/drawingml/2006/main">
              <a:ext uri="{FF2B5EF4-FFF2-40B4-BE49-F238E27FC236}">
                <a16:creationId xmlns:a16="http://schemas.microsoft.com/office/drawing/2014/main" id="{5E33B8AC-94BB-4589-AF99-EA8CC668419E}"/>
              </a:ext>
            </a:extLst>
          </p:cNvPr>
          <p:cNvSpPr>
            <a:spLocks xmlns:a="http://schemas.openxmlformats.org/drawingml/2006/main" noGrp="1"/>
          </p:cNvSpPr>
          <p:nvPr/>
        </p:nvSpPr>
        <p:spPr>
          <a:xfrm xmlns:a="http://schemas.openxmlformats.org/drawingml/2006/main">
            <a:off x="3752850" y="264795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ASR</a:t>
            </a:r>
          </a:p>
        </p:txBody>
      </p:sp>
      <p:sp>
        <p:nvSpPr>
          <p:cNvPr id="15" name="">
            <a:extLst xmlns:a="http://schemas.openxmlformats.org/drawingml/2006/main">
              <a:ext uri="{FF2B5EF4-FFF2-40B4-BE49-F238E27FC236}">
                <a16:creationId xmlns:a16="http://schemas.microsoft.com/office/drawing/2014/main" id="{5EE988AF-C592-44F3-9D9C-DF5655731694}"/>
              </a:ext>
            </a:extLst>
          </p:cNvPr>
          <p:cNvSpPr>
            <a:spLocks xmlns:a="http://schemas.openxmlformats.org/drawingml/2006/main" noGrp="1"/>
          </p:cNvSpPr>
          <p:nvPr/>
        </p:nvSpPr>
        <p:spPr>
          <a:xfrm xmlns:a="http://schemas.openxmlformats.org/drawingml/2006/main">
            <a:off x="4895850" y="28575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D96C5F"/>
                </a:solidFill>
                <a:latin typeface="Aptos"/>
                <a:ea typeface="Aptos"/>
                <a:cs typeface="Aptos"/>
              </a:defRPr>
            </a:pPr>
            <a:r>
              <a:rPr sz="1800" b="1">
                <a:solidFill>
                  <a:srgbClr val="D96C5F"/>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07835737-5C5E-4532-96DD-669068CA2A34}"/>
              </a:ext>
            </a:extLst>
          </p:cNvPr>
          <p:cNvSpPr>
            <a:spLocks xmlns:a="http://schemas.openxmlformats.org/drawingml/2006/main" noGrp="1"/>
          </p:cNvSpPr>
          <p:nvPr/>
        </p:nvSpPr>
        <p:spPr>
          <a:xfrm xmlns:a="http://schemas.openxmlformats.org/drawingml/2006/main">
            <a:off x="5086350" y="2647950"/>
            <a:ext cx="2428875" cy="857250"/>
          </a:xfrm>
          <a:prstGeom xmlns:a="http://schemas.openxmlformats.org/drawingml/2006/main" prst="roundRect">
            <a:avLst>
              <a:gd name="adj" fmla="val 17778"/>
            </a:avLst>
          </a:prstGeom>
          <a:solidFill xmlns:a="http://schemas.openxmlformats.org/drawingml/2006/main">
            <a:srgbClr val="D96C5F"/>
          </a:solidFill>
          <a:ln xmlns:a="http://schemas.openxmlformats.org/drawingml/2006/main" w="0">
            <a:solidFill>
              <a:srgbClr val="D96C5F"/>
            </a:solidFill>
            <a:prstDash val="solid"/>
          </a:ln>
        </p:spPr>
      </p:sp>
      <p:sp>
        <p:nvSpPr>
          <p:cNvPr id="17" name="">
            <a:extLst xmlns:a="http://schemas.openxmlformats.org/drawingml/2006/main">
              <a:ext uri="{FF2B5EF4-FFF2-40B4-BE49-F238E27FC236}">
                <a16:creationId xmlns:a16="http://schemas.microsoft.com/office/drawing/2014/main" id="{9D90104E-0443-4375-93F2-7D7A4C1D6746}"/>
              </a:ext>
            </a:extLst>
          </p:cNvPr>
          <p:cNvSpPr>
            <a:spLocks xmlns:a="http://schemas.openxmlformats.org/drawingml/2006/main" noGrp="1"/>
          </p:cNvSpPr>
          <p:nvPr/>
        </p:nvSpPr>
        <p:spPr>
          <a:xfrm xmlns:a="http://schemas.openxmlformats.org/drawingml/2006/main">
            <a:off x="5162550" y="2647950"/>
            <a:ext cx="2276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a:ea typeface="Aptos"/>
                <a:cs typeface="Aptos"/>
              </a:defRPr>
            </a:pPr>
            <a:r>
              <a:rPr sz="1275" b="1">
                <a:solidFill>
                  <a:srgbClr val="FFF8EA"/>
                </a:solidFill>
                <a:latin typeface="Aptos"/>
                <a:ea typeface="Aptos"/>
                <a:cs typeface="Aptos"/>
              </a:rPr>
              <a:t>reasoning</a:t>
            </a:r>
          </a:p>
        </p:txBody>
      </p:sp>
      <p:sp>
        <p:nvSpPr>
          <p:cNvPr id="18" name="">
            <a:extLst xmlns:a="http://schemas.openxmlformats.org/drawingml/2006/main">
              <a:ext uri="{FF2B5EF4-FFF2-40B4-BE49-F238E27FC236}">
                <a16:creationId xmlns:a16="http://schemas.microsoft.com/office/drawing/2014/main" id="{990E9329-E380-4361-BB65-8F5FBE173D09}"/>
              </a:ext>
            </a:extLst>
          </p:cNvPr>
          <p:cNvSpPr>
            <a:spLocks xmlns:a="http://schemas.openxmlformats.org/drawingml/2006/main" noGrp="1"/>
          </p:cNvSpPr>
          <p:nvPr/>
        </p:nvSpPr>
        <p:spPr>
          <a:xfrm xmlns:a="http://schemas.openxmlformats.org/drawingml/2006/main">
            <a:off x="7496175" y="28575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D96C5F"/>
                </a:solidFill>
                <a:latin typeface="Aptos"/>
                <a:ea typeface="Aptos"/>
                <a:cs typeface="Aptos"/>
              </a:defRPr>
            </a:pPr>
            <a:r>
              <a:rPr sz="1800" b="1">
                <a:solidFill>
                  <a:srgbClr val="D96C5F"/>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15FACF47-F5FA-4802-B487-B7C65BADBA13}"/>
              </a:ext>
            </a:extLst>
          </p:cNvPr>
          <p:cNvSpPr>
            <a:spLocks xmlns:a="http://schemas.openxmlformats.org/drawingml/2006/main" noGrp="1"/>
          </p:cNvSpPr>
          <p:nvPr/>
        </p:nvSpPr>
        <p:spPr>
          <a:xfrm xmlns:a="http://schemas.openxmlformats.org/drawingml/2006/main">
            <a:off x="7686675" y="2647950"/>
            <a:ext cx="1333500" cy="857250"/>
          </a:xfrm>
          <a:prstGeom xmlns:a="http://schemas.openxmlformats.org/drawingml/2006/main" prst="roundRect">
            <a:avLst>
              <a:gd name="adj" fmla="val 17778"/>
            </a:avLst>
          </a:prstGeom>
          <a:solidFill xmlns:a="http://schemas.openxmlformats.org/drawingml/2006/main">
            <a:srgbClr val="82BFD1"/>
          </a:solidFill>
          <a:ln xmlns:a="http://schemas.openxmlformats.org/drawingml/2006/main" w="0">
            <a:solidFill>
              <a:srgbClr val="82BFD1"/>
            </a:solidFill>
            <a:prstDash val="solid"/>
          </a:ln>
        </p:spPr>
      </p:sp>
      <p:sp>
        <p:nvSpPr>
          <p:cNvPr id="20" name="">
            <a:extLst xmlns:a="http://schemas.openxmlformats.org/drawingml/2006/main">
              <a:ext uri="{FF2B5EF4-FFF2-40B4-BE49-F238E27FC236}">
                <a16:creationId xmlns:a16="http://schemas.microsoft.com/office/drawing/2014/main" id="{31B20C06-EB76-4BE4-A819-4C1A816D85F7}"/>
              </a:ext>
            </a:extLst>
          </p:cNvPr>
          <p:cNvSpPr>
            <a:spLocks xmlns:a="http://schemas.openxmlformats.org/drawingml/2006/main" noGrp="1"/>
          </p:cNvSpPr>
          <p:nvPr/>
        </p:nvSpPr>
        <p:spPr>
          <a:xfrm xmlns:a="http://schemas.openxmlformats.org/drawingml/2006/main">
            <a:off x="7762875" y="2647950"/>
            <a:ext cx="1181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TTS</a:t>
            </a:r>
          </a:p>
        </p:txBody>
      </p:sp>
      <p:sp>
        <p:nvSpPr>
          <p:cNvPr id="21" name="">
            <a:extLst xmlns:a="http://schemas.openxmlformats.org/drawingml/2006/main">
              <a:ext uri="{FF2B5EF4-FFF2-40B4-BE49-F238E27FC236}">
                <a16:creationId xmlns:a16="http://schemas.microsoft.com/office/drawing/2014/main" id="{005F9A2A-2017-48F9-B38B-937038839C7B}"/>
              </a:ext>
            </a:extLst>
          </p:cNvPr>
          <p:cNvSpPr>
            <a:spLocks xmlns:a="http://schemas.openxmlformats.org/drawingml/2006/main" noGrp="1"/>
          </p:cNvSpPr>
          <p:nvPr/>
        </p:nvSpPr>
        <p:spPr>
          <a:xfrm xmlns:a="http://schemas.openxmlformats.org/drawingml/2006/main">
            <a:off x="9001125" y="28575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D96C5F"/>
                </a:solidFill>
                <a:latin typeface="Aptos"/>
                <a:ea typeface="Aptos"/>
                <a:cs typeface="Aptos"/>
              </a:defRPr>
            </a:pPr>
            <a:r>
              <a:rPr sz="1800" b="1">
                <a:solidFill>
                  <a:srgbClr val="D96C5F"/>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C4665CD1-C354-4A51-8155-AE6804E7590B}"/>
              </a:ext>
            </a:extLst>
          </p:cNvPr>
          <p:cNvSpPr>
            <a:spLocks xmlns:a="http://schemas.openxmlformats.org/drawingml/2006/main" noGrp="1"/>
          </p:cNvSpPr>
          <p:nvPr/>
        </p:nvSpPr>
        <p:spPr>
          <a:xfrm xmlns:a="http://schemas.openxmlformats.org/drawingml/2006/main">
            <a:off x="9191625" y="2647950"/>
            <a:ext cx="1381125" cy="857250"/>
          </a:xfrm>
          <a:prstGeom xmlns:a="http://schemas.openxmlformats.org/drawingml/2006/main" prst="roundRect">
            <a:avLst>
              <a:gd name="adj" fmla="val 17778"/>
            </a:avLst>
          </a:prstGeom>
          <a:solidFill xmlns:a="http://schemas.openxmlformats.org/drawingml/2006/main">
            <a:srgbClr val="268C82"/>
          </a:solidFill>
          <a:ln xmlns:a="http://schemas.openxmlformats.org/drawingml/2006/main" w="0">
            <a:solidFill>
              <a:srgbClr val="268C82"/>
            </a:solidFill>
            <a:prstDash val="solid"/>
          </a:ln>
        </p:spPr>
      </p:sp>
      <p:sp>
        <p:nvSpPr>
          <p:cNvPr id="23" name="">
            <a:extLst xmlns:a="http://schemas.openxmlformats.org/drawingml/2006/main">
              <a:ext uri="{FF2B5EF4-FFF2-40B4-BE49-F238E27FC236}">
                <a16:creationId xmlns:a16="http://schemas.microsoft.com/office/drawing/2014/main" id="{57CE9CC3-65D8-4266-A9F6-38D2289C0F1E}"/>
              </a:ext>
            </a:extLst>
          </p:cNvPr>
          <p:cNvSpPr>
            <a:spLocks xmlns:a="http://schemas.openxmlformats.org/drawingml/2006/main" noGrp="1"/>
          </p:cNvSpPr>
          <p:nvPr/>
        </p:nvSpPr>
        <p:spPr>
          <a:xfrm xmlns:a="http://schemas.openxmlformats.org/drawingml/2006/main">
            <a:off x="9267825" y="2647950"/>
            <a:ext cx="12287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playback</a:t>
            </a:r>
          </a:p>
        </p:txBody>
      </p:sp>
      <p:sp>
        <p:nvSpPr>
          <p:cNvPr id="24" name="">
            <a:extLst xmlns:a="http://schemas.openxmlformats.org/drawingml/2006/main">
              <a:ext uri="{FF2B5EF4-FFF2-40B4-BE49-F238E27FC236}">
                <a16:creationId xmlns:a16="http://schemas.microsoft.com/office/drawing/2014/main" id="{DF591D67-89DB-4D7F-8017-B8E943DBA4E5}"/>
              </a:ext>
            </a:extLst>
          </p:cNvPr>
          <p:cNvSpPr>
            <a:spLocks xmlns:a="http://schemas.openxmlformats.org/drawingml/2006/main" noGrp="1"/>
          </p:cNvSpPr>
          <p:nvPr/>
        </p:nvSpPr>
        <p:spPr>
          <a:xfrm xmlns:a="http://schemas.openxmlformats.org/drawingml/2006/main">
            <a:off x="2667000" y="40767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625" b="1">
                <a:solidFill>
                  <a:srgbClr val="D96C5F"/>
                </a:solidFill>
                <a:latin typeface="Aptos Mono"/>
                <a:ea typeface="Aptos Mono"/>
                <a:cs typeface="Aptos Mono"/>
              </a:defRPr>
            </a:pPr>
            <a:r>
              <a:rPr sz="2625" b="1">
                <a:solidFill>
                  <a:srgbClr val="D96C5F"/>
                </a:solidFill>
                <a:latin typeface="Aptos Mono"/>
                <a:ea typeface="Aptos Mono"/>
                <a:cs typeface="Aptos Mono"/>
              </a:rPr>
              <a:t>wait + wait + wait + wait</a:t>
            </a:r>
          </a:p>
        </p:txBody>
      </p:sp>
      <p:sp>
        <p:nvSpPr>
          <p:cNvPr id="25" name="">
            <a:extLst xmlns:a="http://schemas.openxmlformats.org/drawingml/2006/main">
              <a:ext uri="{FF2B5EF4-FFF2-40B4-BE49-F238E27FC236}">
                <a16:creationId xmlns:a16="http://schemas.microsoft.com/office/drawing/2014/main" id="{D6649A1D-CA74-4E8D-ABDB-9B72943AABAA}"/>
              </a:ext>
            </a:extLst>
          </p:cNvPr>
          <p:cNvSpPr>
            <a:spLocks xmlns:a="http://schemas.openxmlformats.org/drawingml/2006/main" noGrp="1"/>
          </p:cNvSpPr>
          <p:nvPr/>
        </p:nvSpPr>
        <p:spPr>
          <a:xfrm xmlns:a="http://schemas.openxmlformats.org/drawingml/2006/main">
            <a:off x="2857500" y="4857750"/>
            <a:ext cx="647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02A43"/>
                </a:solidFill>
                <a:latin typeface="Aptos"/>
                <a:ea typeface="Aptos"/>
                <a:cs typeface="Aptos"/>
              </a:defRPr>
            </a:pPr>
            <a:r>
              <a:rPr sz="1500" b="1">
                <a:solidFill>
                  <a:srgbClr val="102A43"/>
                </a:solidFill>
                <a:latin typeface="Aptos"/>
                <a:ea typeface="Aptos"/>
                <a:cs typeface="Aptos"/>
              </a:rPr>
              <a:t>Measured rich-response median: 2,715 ms</a:t>
            </a:r>
          </a:p>
        </p:txBody>
      </p:sp>
      <p:sp>
        <p:nvSpPr>
          <p:cNvPr id="26" name="">
            <a:extLst xmlns:a="http://schemas.openxmlformats.org/drawingml/2006/main">
              <a:ext uri="{FF2B5EF4-FFF2-40B4-BE49-F238E27FC236}">
                <a16:creationId xmlns:a16="http://schemas.microsoft.com/office/drawing/2014/main" id="{8D53EEAB-EEA2-4324-82D0-2E65DBB715D4}"/>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Decision 0021 · docs/LATENCY_ARCHITECTURE.md</a:t>
            </a:r>
          </a:p>
        </p:txBody>
      </p:sp>
    </p:spTree>
    <p:extLst>
      <p:ext uri="{BB962C8B-B14F-4D97-AF65-F5344CB8AC3E}">
        <p14:creationId xmlns:p14="http://schemas.microsoft.com/office/powerpoint/2010/main" val="4982440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f2b00d1e1e5476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49F89E-46E7-4BB4-8F78-75698893B695}"/>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388E708A-861A-4B7E-9DF0-A2187954B4AB}"/>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05</a:t>
            </a:r>
          </a:p>
        </p:txBody>
      </p:sp>
      <p:sp>
        <p:nvSpPr>
          <p:cNvPr id="4" name="">
            <a:extLst xmlns:a="http://schemas.openxmlformats.org/drawingml/2006/main">
              <a:ext uri="{FF2B5EF4-FFF2-40B4-BE49-F238E27FC236}">
                <a16:creationId xmlns:a16="http://schemas.microsoft.com/office/drawing/2014/main" id="{8718A530-0E6B-4F44-A73C-A9F182BD319E}"/>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E1E9643E-A909-4DEE-BEC5-1027AEC5EFB8}"/>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Fast models do not guarantee a fast conversation</a:t>
            </a:r>
          </a:p>
        </p:txBody>
      </p:sp>
      <p:sp>
        <p:nvSpPr>
          <p:cNvPr id="6" name="">
            <a:extLst xmlns:a="http://schemas.openxmlformats.org/drawingml/2006/main">
              <a:ext uri="{FF2B5EF4-FFF2-40B4-BE49-F238E27FC236}">
                <a16:creationId xmlns:a16="http://schemas.microsoft.com/office/drawing/2014/main" id="{431EDC21-A51C-4360-A518-7D17D928C735}"/>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1205FC79-270E-48F8-AE24-CBD8D559A7CD}"/>
              </a:ext>
            </a:extLst>
          </p:cNvPr>
          <p:cNvSpPr>
            <a:spLocks xmlns:a="http://schemas.openxmlformats.org/drawingml/2006/main" noGrp="1"/>
          </p:cNvSpPr>
          <p:nvPr/>
        </p:nvSpPr>
        <p:spPr>
          <a:xfrm xmlns:a="http://schemas.openxmlformats.org/drawingml/2006/main">
            <a:off x="781050" y="2266950"/>
            <a:ext cx="2362200" cy="1695450"/>
          </a:xfrm>
          <a:prstGeom xmlns:a="http://schemas.openxmlformats.org/drawingml/2006/main" prst="roundRect">
            <a:avLst>
              <a:gd name="adj" fmla="val 10112"/>
            </a:avLst>
          </a:prstGeom>
          <a:solidFill xmlns:a="http://schemas.openxmlformats.org/drawingml/2006/main">
            <a:srgbClr val="FFF8EA"/>
          </a:solidFill>
          <a:ln xmlns:a="http://schemas.openxmlformats.org/drawingml/2006/main" w="9525">
            <a:solidFill>
              <a:srgbClr val="8EBBD0"/>
            </a:solidFill>
            <a:prstDash val="solid"/>
          </a:ln>
        </p:spPr>
      </p:sp>
      <p:sp>
        <p:nvSpPr>
          <p:cNvPr id="8" name="">
            <a:extLst xmlns:a="http://schemas.openxmlformats.org/drawingml/2006/main">
              <a:ext uri="{FF2B5EF4-FFF2-40B4-BE49-F238E27FC236}">
                <a16:creationId xmlns:a16="http://schemas.microsoft.com/office/drawing/2014/main" id="{161A47BF-C99C-487F-8FE0-D31730ECFF9D}"/>
              </a:ext>
            </a:extLst>
          </p:cNvPr>
          <p:cNvSpPr>
            <a:spLocks xmlns:a="http://schemas.openxmlformats.org/drawingml/2006/main" noGrp="1"/>
          </p:cNvSpPr>
          <p:nvPr/>
        </p:nvSpPr>
        <p:spPr>
          <a:xfrm xmlns:a="http://schemas.openxmlformats.org/drawingml/2006/main">
            <a:off x="781050" y="2266950"/>
            <a:ext cx="66675" cy="16954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9" name="">
            <a:extLst xmlns:a="http://schemas.openxmlformats.org/drawingml/2006/main">
              <a:ext uri="{FF2B5EF4-FFF2-40B4-BE49-F238E27FC236}">
                <a16:creationId xmlns:a16="http://schemas.microsoft.com/office/drawing/2014/main" id="{45F1C3A2-ABD1-4463-84B8-70A485C7A1AA}"/>
              </a:ext>
            </a:extLst>
          </p:cNvPr>
          <p:cNvSpPr>
            <a:spLocks xmlns:a="http://schemas.openxmlformats.org/drawingml/2006/main" noGrp="1"/>
          </p:cNvSpPr>
          <p:nvPr/>
        </p:nvSpPr>
        <p:spPr>
          <a:xfrm xmlns:a="http://schemas.openxmlformats.org/drawingml/2006/main">
            <a:off x="1009650" y="2409825"/>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01</a:t>
            </a:r>
          </a:p>
        </p:txBody>
      </p:sp>
      <p:sp>
        <p:nvSpPr>
          <p:cNvPr id="10" name="">
            <a:extLst xmlns:a="http://schemas.openxmlformats.org/drawingml/2006/main">
              <a:ext uri="{FF2B5EF4-FFF2-40B4-BE49-F238E27FC236}">
                <a16:creationId xmlns:a16="http://schemas.microsoft.com/office/drawing/2014/main" id="{B1793DA0-4A1E-43DF-BEBC-23D979F7E41B}"/>
              </a:ext>
            </a:extLst>
          </p:cNvPr>
          <p:cNvSpPr>
            <a:spLocks xmlns:a="http://schemas.openxmlformats.org/drawingml/2006/main" noGrp="1"/>
          </p:cNvSpPr>
          <p:nvPr/>
        </p:nvSpPr>
        <p:spPr>
          <a:xfrm xmlns:a="http://schemas.openxmlformats.org/drawingml/2006/main">
            <a:off x="1009650" y="2724150"/>
            <a:ext cx="1962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turn timing</a:t>
            </a:r>
          </a:p>
        </p:txBody>
      </p:sp>
      <p:sp>
        <p:nvSpPr>
          <p:cNvPr id="11" name="">
            <a:extLst xmlns:a="http://schemas.openxmlformats.org/drawingml/2006/main">
              <a:ext uri="{FF2B5EF4-FFF2-40B4-BE49-F238E27FC236}">
                <a16:creationId xmlns:a16="http://schemas.microsoft.com/office/drawing/2014/main" id="{EECC7F1F-3E2E-486D-8355-B1B5A08F4A1A}"/>
              </a:ext>
            </a:extLst>
          </p:cNvPr>
          <p:cNvSpPr>
            <a:spLocks xmlns:a="http://schemas.openxmlformats.org/drawingml/2006/main" noGrp="1"/>
          </p:cNvSpPr>
          <p:nvPr/>
        </p:nvSpPr>
        <p:spPr>
          <a:xfrm xmlns:a="http://schemas.openxmlformats.org/drawingml/2006/main">
            <a:off x="3505200" y="2266950"/>
            <a:ext cx="2362200" cy="1695450"/>
          </a:xfrm>
          <a:prstGeom xmlns:a="http://schemas.openxmlformats.org/drawingml/2006/main" prst="roundRect">
            <a:avLst>
              <a:gd name="adj" fmla="val 10112"/>
            </a:avLst>
          </a:prstGeom>
          <a:solidFill xmlns:a="http://schemas.openxmlformats.org/drawingml/2006/main">
            <a:srgbClr val="FFF8EA"/>
          </a:solidFill>
          <a:ln xmlns:a="http://schemas.openxmlformats.org/drawingml/2006/main" w="9525">
            <a:solidFill>
              <a:srgbClr val="8EBBD0"/>
            </a:solidFill>
            <a:prstDash val="solid"/>
          </a:ln>
        </p:spPr>
      </p:sp>
      <p:sp>
        <p:nvSpPr>
          <p:cNvPr id="12" name="">
            <a:extLst xmlns:a="http://schemas.openxmlformats.org/drawingml/2006/main">
              <a:ext uri="{FF2B5EF4-FFF2-40B4-BE49-F238E27FC236}">
                <a16:creationId xmlns:a16="http://schemas.microsoft.com/office/drawing/2014/main" id="{B00CE34D-6176-4510-B165-DDBDA5A24586}"/>
              </a:ext>
            </a:extLst>
          </p:cNvPr>
          <p:cNvSpPr>
            <a:spLocks xmlns:a="http://schemas.openxmlformats.org/drawingml/2006/main" noGrp="1"/>
          </p:cNvSpPr>
          <p:nvPr/>
        </p:nvSpPr>
        <p:spPr>
          <a:xfrm xmlns:a="http://schemas.openxmlformats.org/drawingml/2006/main">
            <a:off x="3505200" y="2266950"/>
            <a:ext cx="66675" cy="1695450"/>
          </a:xfrm>
          <a:prstGeom xmlns:a="http://schemas.openxmlformats.org/drawingml/2006/main" prst="roundRect">
            <a:avLst>
              <a:gd name="adj" fmla="val 42857"/>
            </a:avLst>
          </a:prstGeom>
          <a:solidFill xmlns:a="http://schemas.openxmlformats.org/drawingml/2006/main">
            <a:srgbClr val="D96C5F"/>
          </a:solidFill>
          <a:ln xmlns:a="http://schemas.openxmlformats.org/drawingml/2006/main" w="0">
            <a:solidFill>
              <a:srgbClr val="D96C5F"/>
            </a:solidFill>
            <a:prstDash val="solid"/>
          </a:ln>
        </p:spPr>
      </p:sp>
      <p:sp>
        <p:nvSpPr>
          <p:cNvPr id="13" name="">
            <a:extLst xmlns:a="http://schemas.openxmlformats.org/drawingml/2006/main">
              <a:ext uri="{FF2B5EF4-FFF2-40B4-BE49-F238E27FC236}">
                <a16:creationId xmlns:a16="http://schemas.microsoft.com/office/drawing/2014/main" id="{986367A1-E26C-4A3D-A8AF-316480983871}"/>
              </a:ext>
            </a:extLst>
          </p:cNvPr>
          <p:cNvSpPr>
            <a:spLocks xmlns:a="http://schemas.openxmlformats.org/drawingml/2006/main" noGrp="1"/>
          </p:cNvSpPr>
          <p:nvPr/>
        </p:nvSpPr>
        <p:spPr>
          <a:xfrm xmlns:a="http://schemas.openxmlformats.org/drawingml/2006/main">
            <a:off x="3733800" y="2409825"/>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D96C5F"/>
                </a:solidFill>
                <a:latin typeface="Aptos"/>
                <a:ea typeface="Aptos"/>
                <a:cs typeface="Aptos"/>
              </a:defRPr>
            </a:pPr>
            <a:r>
              <a:rPr sz="1050" b="1">
                <a:solidFill>
                  <a:srgbClr val="D96C5F"/>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6566D369-7B92-4CA2-BC9C-A9F73568D985}"/>
              </a:ext>
            </a:extLst>
          </p:cNvPr>
          <p:cNvSpPr>
            <a:spLocks xmlns:a="http://schemas.openxmlformats.org/drawingml/2006/main" noGrp="1"/>
          </p:cNvSpPr>
          <p:nvPr/>
        </p:nvSpPr>
        <p:spPr>
          <a:xfrm xmlns:a="http://schemas.openxmlformats.org/drawingml/2006/main">
            <a:off x="3733800" y="2724150"/>
            <a:ext cx="1962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reasoning</a:t>
            </a:r>
          </a:p>
        </p:txBody>
      </p:sp>
      <p:sp>
        <p:nvSpPr>
          <p:cNvPr id="15" name="">
            <a:extLst xmlns:a="http://schemas.openxmlformats.org/drawingml/2006/main">
              <a:ext uri="{FF2B5EF4-FFF2-40B4-BE49-F238E27FC236}">
                <a16:creationId xmlns:a16="http://schemas.microsoft.com/office/drawing/2014/main" id="{CFB694B4-E8B3-4635-A61D-CBAF99A76196}"/>
              </a:ext>
            </a:extLst>
          </p:cNvPr>
          <p:cNvSpPr>
            <a:spLocks xmlns:a="http://schemas.openxmlformats.org/drawingml/2006/main" noGrp="1"/>
          </p:cNvSpPr>
          <p:nvPr/>
        </p:nvSpPr>
        <p:spPr>
          <a:xfrm xmlns:a="http://schemas.openxmlformats.org/drawingml/2006/main">
            <a:off x="6229350" y="2266950"/>
            <a:ext cx="2362200" cy="1695450"/>
          </a:xfrm>
          <a:prstGeom xmlns:a="http://schemas.openxmlformats.org/drawingml/2006/main" prst="roundRect">
            <a:avLst>
              <a:gd name="adj" fmla="val 10112"/>
            </a:avLst>
          </a:prstGeom>
          <a:solidFill xmlns:a="http://schemas.openxmlformats.org/drawingml/2006/main">
            <a:srgbClr val="FFF8EA"/>
          </a:solidFill>
          <a:ln xmlns:a="http://schemas.openxmlformats.org/drawingml/2006/main" w="9525">
            <a:solidFill>
              <a:srgbClr val="8EBBD0"/>
            </a:solidFill>
            <a:prstDash val="solid"/>
          </a:ln>
        </p:spPr>
      </p:sp>
      <p:sp>
        <p:nvSpPr>
          <p:cNvPr id="16" name="">
            <a:extLst xmlns:a="http://schemas.openxmlformats.org/drawingml/2006/main">
              <a:ext uri="{FF2B5EF4-FFF2-40B4-BE49-F238E27FC236}">
                <a16:creationId xmlns:a16="http://schemas.microsoft.com/office/drawing/2014/main" id="{411DAA61-9ADF-4F4B-817A-667B3B8660C7}"/>
              </a:ext>
            </a:extLst>
          </p:cNvPr>
          <p:cNvSpPr>
            <a:spLocks xmlns:a="http://schemas.openxmlformats.org/drawingml/2006/main" noGrp="1"/>
          </p:cNvSpPr>
          <p:nvPr/>
        </p:nvSpPr>
        <p:spPr>
          <a:xfrm xmlns:a="http://schemas.openxmlformats.org/drawingml/2006/main">
            <a:off x="6229350" y="2266950"/>
            <a:ext cx="66675" cy="16954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17" name="">
            <a:extLst xmlns:a="http://schemas.openxmlformats.org/drawingml/2006/main">
              <a:ext uri="{FF2B5EF4-FFF2-40B4-BE49-F238E27FC236}">
                <a16:creationId xmlns:a16="http://schemas.microsoft.com/office/drawing/2014/main" id="{406EFA1B-4EC3-428E-B9DF-6509D18F7133}"/>
              </a:ext>
            </a:extLst>
          </p:cNvPr>
          <p:cNvSpPr>
            <a:spLocks xmlns:a="http://schemas.openxmlformats.org/drawingml/2006/main" noGrp="1"/>
          </p:cNvSpPr>
          <p:nvPr/>
        </p:nvSpPr>
        <p:spPr>
          <a:xfrm xmlns:a="http://schemas.openxmlformats.org/drawingml/2006/main">
            <a:off x="6457950" y="2409825"/>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125A5D2B-A963-4476-AAE5-C24AB014D951}"/>
              </a:ext>
            </a:extLst>
          </p:cNvPr>
          <p:cNvSpPr>
            <a:spLocks xmlns:a="http://schemas.openxmlformats.org/drawingml/2006/main" noGrp="1"/>
          </p:cNvSpPr>
          <p:nvPr/>
        </p:nvSpPr>
        <p:spPr>
          <a:xfrm xmlns:a="http://schemas.openxmlformats.org/drawingml/2006/main">
            <a:off x="6457950" y="2724150"/>
            <a:ext cx="1962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speech start</a:t>
            </a:r>
          </a:p>
        </p:txBody>
      </p:sp>
      <p:sp>
        <p:nvSpPr>
          <p:cNvPr id="19" name="">
            <a:extLst xmlns:a="http://schemas.openxmlformats.org/drawingml/2006/main">
              <a:ext uri="{FF2B5EF4-FFF2-40B4-BE49-F238E27FC236}">
                <a16:creationId xmlns:a16="http://schemas.microsoft.com/office/drawing/2014/main" id="{3D9C3839-D084-45B9-B5DF-E2874CAAF751}"/>
              </a:ext>
            </a:extLst>
          </p:cNvPr>
          <p:cNvSpPr>
            <a:spLocks xmlns:a="http://schemas.openxmlformats.org/drawingml/2006/main" noGrp="1"/>
          </p:cNvSpPr>
          <p:nvPr/>
        </p:nvSpPr>
        <p:spPr>
          <a:xfrm xmlns:a="http://schemas.openxmlformats.org/drawingml/2006/main">
            <a:off x="8953500" y="2266950"/>
            <a:ext cx="2362200" cy="1695450"/>
          </a:xfrm>
          <a:prstGeom xmlns:a="http://schemas.openxmlformats.org/drawingml/2006/main" prst="roundRect">
            <a:avLst>
              <a:gd name="adj" fmla="val 10112"/>
            </a:avLst>
          </a:prstGeom>
          <a:solidFill xmlns:a="http://schemas.openxmlformats.org/drawingml/2006/main">
            <a:srgbClr val="FFF8EA"/>
          </a:solidFill>
          <a:ln xmlns:a="http://schemas.openxmlformats.org/drawingml/2006/main" w="9525">
            <a:solidFill>
              <a:srgbClr val="8EBBD0"/>
            </a:solidFill>
            <a:prstDash val="solid"/>
          </a:ln>
        </p:spPr>
      </p:sp>
      <p:sp>
        <p:nvSpPr>
          <p:cNvPr id="20" name="">
            <a:extLst xmlns:a="http://schemas.openxmlformats.org/drawingml/2006/main">
              <a:ext uri="{FF2B5EF4-FFF2-40B4-BE49-F238E27FC236}">
                <a16:creationId xmlns:a16="http://schemas.microsoft.com/office/drawing/2014/main" id="{C58DAB7C-EC56-4797-BB31-332C74FB5EBA}"/>
              </a:ext>
            </a:extLst>
          </p:cNvPr>
          <p:cNvSpPr>
            <a:spLocks xmlns:a="http://schemas.openxmlformats.org/drawingml/2006/main" noGrp="1"/>
          </p:cNvSpPr>
          <p:nvPr/>
        </p:nvSpPr>
        <p:spPr>
          <a:xfrm xmlns:a="http://schemas.openxmlformats.org/drawingml/2006/main">
            <a:off x="8953500" y="2266950"/>
            <a:ext cx="66675" cy="16954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21" name="">
            <a:extLst xmlns:a="http://schemas.openxmlformats.org/drawingml/2006/main">
              <a:ext uri="{FF2B5EF4-FFF2-40B4-BE49-F238E27FC236}">
                <a16:creationId xmlns:a16="http://schemas.microsoft.com/office/drawing/2014/main" id="{7D5EE94D-DE69-46A8-A002-862F19BC704B}"/>
              </a:ext>
            </a:extLst>
          </p:cNvPr>
          <p:cNvSpPr>
            <a:spLocks xmlns:a="http://schemas.openxmlformats.org/drawingml/2006/main" noGrp="1"/>
          </p:cNvSpPr>
          <p:nvPr/>
        </p:nvSpPr>
        <p:spPr>
          <a:xfrm xmlns:a="http://schemas.openxmlformats.org/drawingml/2006/main">
            <a:off x="9182100" y="2409825"/>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04</a:t>
            </a:r>
          </a:p>
        </p:txBody>
      </p:sp>
      <p:sp>
        <p:nvSpPr>
          <p:cNvPr id="22" name="">
            <a:extLst xmlns:a="http://schemas.openxmlformats.org/drawingml/2006/main">
              <a:ext uri="{FF2B5EF4-FFF2-40B4-BE49-F238E27FC236}">
                <a16:creationId xmlns:a16="http://schemas.microsoft.com/office/drawing/2014/main" id="{A3249759-B7E7-423A-B580-068F0A600A24}"/>
              </a:ext>
            </a:extLst>
          </p:cNvPr>
          <p:cNvSpPr>
            <a:spLocks xmlns:a="http://schemas.openxmlformats.org/drawingml/2006/main" noGrp="1"/>
          </p:cNvSpPr>
          <p:nvPr/>
        </p:nvSpPr>
        <p:spPr>
          <a:xfrm xmlns:a="http://schemas.openxmlformats.org/drawingml/2006/main">
            <a:off x="9182100" y="2724150"/>
            <a:ext cx="1962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playout</a:t>
            </a:r>
          </a:p>
        </p:txBody>
      </p:sp>
      <p:sp>
        <p:nvSpPr>
          <p:cNvPr id="23" name="">
            <a:extLst xmlns:a="http://schemas.openxmlformats.org/drawingml/2006/main">
              <a:ext uri="{FF2B5EF4-FFF2-40B4-BE49-F238E27FC236}">
                <a16:creationId xmlns:a16="http://schemas.microsoft.com/office/drawing/2014/main" id="{17BEA3A8-F605-4372-8A0B-DE9E601525A7}"/>
              </a:ext>
            </a:extLst>
          </p:cNvPr>
          <p:cNvSpPr>
            <a:spLocks xmlns:a="http://schemas.openxmlformats.org/drawingml/2006/main" noGrp="1"/>
          </p:cNvSpPr>
          <p:nvPr/>
        </p:nvSpPr>
        <p:spPr>
          <a:xfrm xmlns:a="http://schemas.openxmlformats.org/drawingml/2006/main">
            <a:off x="1009650" y="320040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wait for enough</a:t>
            </a:r>
          </a:p>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silence to hand off</a:t>
            </a:r>
          </a:p>
        </p:txBody>
      </p:sp>
      <p:sp>
        <p:nvSpPr>
          <p:cNvPr id="24" name="">
            <a:extLst xmlns:a="http://schemas.openxmlformats.org/drawingml/2006/main">
              <a:ext uri="{FF2B5EF4-FFF2-40B4-BE49-F238E27FC236}">
                <a16:creationId xmlns:a16="http://schemas.microsoft.com/office/drawing/2014/main" id="{15A2D3F8-A4A6-4082-BFC6-FAF9B80CE9CA}"/>
              </a:ext>
            </a:extLst>
          </p:cNvPr>
          <p:cNvSpPr>
            <a:spLocks xmlns:a="http://schemas.openxmlformats.org/drawingml/2006/main" noGrp="1"/>
          </p:cNvSpPr>
          <p:nvPr/>
        </p:nvSpPr>
        <p:spPr>
          <a:xfrm xmlns:a="http://schemas.openxmlformats.org/drawingml/2006/main">
            <a:off x="3733800" y="320040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wait for stable intent</a:t>
            </a:r>
          </a:p>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and verified facts</a:t>
            </a:r>
          </a:p>
        </p:txBody>
      </p:sp>
      <p:sp>
        <p:nvSpPr>
          <p:cNvPr id="25" name="">
            <a:extLst xmlns:a="http://schemas.openxmlformats.org/drawingml/2006/main">
              <a:ext uri="{FF2B5EF4-FFF2-40B4-BE49-F238E27FC236}">
                <a16:creationId xmlns:a16="http://schemas.microsoft.com/office/drawing/2014/main" id="{B0B0C733-56CF-4E4A-9B5B-4BC550295623}"/>
              </a:ext>
            </a:extLst>
          </p:cNvPr>
          <p:cNvSpPr>
            <a:spLocks xmlns:a="http://schemas.openxmlformats.org/drawingml/2006/main" noGrp="1"/>
          </p:cNvSpPr>
          <p:nvPr/>
        </p:nvSpPr>
        <p:spPr>
          <a:xfrm xmlns:a="http://schemas.openxmlformats.org/drawingml/2006/main">
            <a:off x="6457950" y="320040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wait for a safe</a:t>
            </a:r>
          </a:p>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first clause</a:t>
            </a:r>
          </a:p>
        </p:txBody>
      </p:sp>
      <p:sp>
        <p:nvSpPr>
          <p:cNvPr id="26" name="">
            <a:extLst xmlns:a="http://schemas.openxmlformats.org/drawingml/2006/main">
              <a:ext uri="{FF2B5EF4-FFF2-40B4-BE49-F238E27FC236}">
                <a16:creationId xmlns:a16="http://schemas.microsoft.com/office/drawing/2014/main" id="{60C75CE1-D861-43CA-AA18-53BBCF7DD4F9}"/>
              </a:ext>
            </a:extLst>
          </p:cNvPr>
          <p:cNvSpPr>
            <a:spLocks xmlns:a="http://schemas.openxmlformats.org/drawingml/2006/main" noGrp="1"/>
          </p:cNvSpPr>
          <p:nvPr/>
        </p:nvSpPr>
        <p:spPr>
          <a:xfrm xmlns:a="http://schemas.openxmlformats.org/drawingml/2006/main">
            <a:off x="9182100" y="320040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wait for transport</a:t>
            </a:r>
          </a:p>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and device buffer</a:t>
            </a:r>
          </a:p>
        </p:txBody>
      </p:sp>
      <p:sp>
        <p:nvSpPr>
          <p:cNvPr id="27" name="">
            <a:extLst xmlns:a="http://schemas.openxmlformats.org/drawingml/2006/main">
              <a:ext uri="{FF2B5EF4-FFF2-40B4-BE49-F238E27FC236}">
                <a16:creationId xmlns:a16="http://schemas.microsoft.com/office/drawing/2014/main" id="{7F3DB680-2F41-456A-842E-A144DFF647AB}"/>
              </a:ext>
            </a:extLst>
          </p:cNvPr>
          <p:cNvSpPr>
            <a:spLocks xmlns:a="http://schemas.openxmlformats.org/drawingml/2006/main" noGrp="1"/>
          </p:cNvSpPr>
          <p:nvPr/>
        </p:nvSpPr>
        <p:spPr>
          <a:xfrm xmlns:a="http://schemas.openxmlformats.org/drawingml/2006/main">
            <a:off x="1524000" y="4552950"/>
            <a:ext cx="914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D96C5F"/>
                </a:solidFill>
                <a:latin typeface="Aptos"/>
                <a:ea typeface="Aptos"/>
                <a:cs typeface="Aptos"/>
              </a:defRPr>
            </a:pPr>
            <a:r>
              <a:rPr sz="825" b="1">
                <a:solidFill>
                  <a:srgbClr val="D96C5F"/>
                </a:solidFill>
                <a:latin typeface="Aptos"/>
                <a:ea typeface="Aptos"/>
                <a:cs typeface="Aptos"/>
              </a:rPr>
              <a:t>FAST MODELS LOSE AT THE HANDOFF</a:t>
            </a:r>
          </a:p>
        </p:txBody>
      </p:sp>
      <p:sp>
        <p:nvSpPr>
          <p:cNvPr id="28" name="">
            <a:extLst xmlns:a="http://schemas.openxmlformats.org/drawingml/2006/main">
              <a:ext uri="{FF2B5EF4-FFF2-40B4-BE49-F238E27FC236}">
                <a16:creationId xmlns:a16="http://schemas.microsoft.com/office/drawing/2014/main" id="{28A5D97A-2C16-4C2C-AE17-C5C8CE1FD828}"/>
              </a:ext>
            </a:extLst>
          </p:cNvPr>
          <p:cNvSpPr>
            <a:spLocks xmlns:a="http://schemas.openxmlformats.org/drawingml/2006/main" noGrp="1"/>
          </p:cNvSpPr>
          <p:nvPr/>
        </p:nvSpPr>
        <p:spPr>
          <a:xfrm xmlns:a="http://schemas.openxmlformats.org/drawingml/2006/main">
            <a:off x="1428750" y="4810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532"/>
          </a:bodyPr>
          <a:lstStyle xmlns:a="http://schemas.openxmlformats.org/drawingml/2006/main"/>
          <a:p xmlns:a="http://schemas.openxmlformats.org/drawingml/2006/main">
            <a:pPr algn="ctr">
              <a:defRPr sz="1500" b="1">
                <a:solidFill>
                  <a:srgbClr val="102A43"/>
                </a:solidFill>
                <a:latin typeface="Aptos"/>
                <a:ea typeface="Aptos"/>
                <a:cs typeface="Aptos"/>
              </a:defRPr>
            </a:pPr>
            <a:r>
              <a:rPr sz="1500" b="1">
                <a:solidFill>
                  <a:srgbClr val="102A43"/>
                </a:solidFill>
                <a:latin typeface="Aptos"/>
                <a:ea typeface="Aptos"/>
                <a:cs typeface="Aptos"/>
              </a:rPr>
              <a:t>Each component can be fast in isolation. The conversation waits until the next decision is safe to commit.</a:t>
            </a:r>
          </a:p>
        </p:txBody>
      </p:sp>
      <p:sp>
        <p:nvSpPr>
          <p:cNvPr id="29" name="">
            <a:extLst xmlns:a="http://schemas.openxmlformats.org/drawingml/2006/main">
              <a:ext uri="{FF2B5EF4-FFF2-40B4-BE49-F238E27FC236}">
                <a16:creationId xmlns:a16="http://schemas.microsoft.com/office/drawing/2014/main" id="{C5878248-F81C-4031-BA9D-469AD38C0311}"/>
              </a:ext>
            </a:extLst>
          </p:cNvPr>
          <p:cNvSpPr>
            <a:spLocks xmlns:a="http://schemas.openxmlformats.org/drawingml/2006/main" noGrp="1"/>
          </p:cNvSpPr>
          <p:nvPr/>
        </p:nvSpPr>
        <p:spPr>
          <a:xfrm xmlns:a="http://schemas.openxmlformats.org/drawingml/2006/main">
            <a:off x="1581150" y="5267325"/>
            <a:ext cx="1790700" cy="323850"/>
          </a:xfrm>
          <a:prstGeom xmlns:a="http://schemas.openxmlformats.org/drawingml/2006/main" prst="roundRect">
            <a:avLst>
              <a:gd name="adj" fmla="val 44118"/>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caller finished</a:t>
            </a:r>
          </a:p>
        </p:txBody>
      </p:sp>
      <p:sp>
        <p:nvSpPr>
          <p:cNvPr id="30" name="">
            <a:extLst xmlns:a="http://schemas.openxmlformats.org/drawingml/2006/main">
              <a:ext uri="{FF2B5EF4-FFF2-40B4-BE49-F238E27FC236}">
                <a16:creationId xmlns:a16="http://schemas.microsoft.com/office/drawing/2014/main" id="{185AFAE2-24EE-46E0-960B-C1594D58C2CA}"/>
              </a:ext>
            </a:extLst>
          </p:cNvPr>
          <p:cNvSpPr>
            <a:spLocks xmlns:a="http://schemas.openxmlformats.org/drawingml/2006/main" noGrp="1"/>
          </p:cNvSpPr>
          <p:nvPr/>
        </p:nvSpPr>
        <p:spPr>
          <a:xfrm xmlns:a="http://schemas.openxmlformats.org/drawingml/2006/main">
            <a:off x="3448050" y="52387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D96C5F"/>
                </a:solidFill>
                <a:latin typeface="Aptos"/>
                <a:ea typeface="Aptos"/>
                <a:cs typeface="Aptos"/>
              </a:defRPr>
            </a:pPr>
            <a:r>
              <a:rPr sz="1725" b="1">
                <a:solidFill>
                  <a:srgbClr val="D96C5F"/>
                </a:solidFill>
                <a:latin typeface="Aptos"/>
                <a:ea typeface="Aptos"/>
                <a:cs typeface="Aptos"/>
              </a:rPr>
              <a:t>→</a:t>
            </a:r>
          </a:p>
        </p:txBody>
      </p:sp>
      <p:sp>
        <p:nvSpPr>
          <p:cNvPr id="31" name="">
            <a:extLst xmlns:a="http://schemas.openxmlformats.org/drawingml/2006/main">
              <a:ext uri="{FF2B5EF4-FFF2-40B4-BE49-F238E27FC236}">
                <a16:creationId xmlns:a16="http://schemas.microsoft.com/office/drawing/2014/main" id="{4C019ABA-FE20-417F-8E12-CD7D490C3D94}"/>
              </a:ext>
            </a:extLst>
          </p:cNvPr>
          <p:cNvSpPr>
            <a:spLocks xmlns:a="http://schemas.openxmlformats.org/drawingml/2006/main" noGrp="1"/>
          </p:cNvSpPr>
          <p:nvPr/>
        </p:nvSpPr>
        <p:spPr>
          <a:xfrm xmlns:a="http://schemas.openxmlformats.org/drawingml/2006/main">
            <a:off x="3924300" y="5267325"/>
            <a:ext cx="1790700" cy="323850"/>
          </a:xfrm>
          <a:prstGeom xmlns:a="http://schemas.openxmlformats.org/drawingml/2006/main" prst="roundRect">
            <a:avLst>
              <a:gd name="adj" fmla="val 44118"/>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meaning stable</a:t>
            </a:r>
          </a:p>
        </p:txBody>
      </p:sp>
      <p:sp>
        <p:nvSpPr>
          <p:cNvPr id="32" name="">
            <a:extLst xmlns:a="http://schemas.openxmlformats.org/drawingml/2006/main">
              <a:ext uri="{FF2B5EF4-FFF2-40B4-BE49-F238E27FC236}">
                <a16:creationId xmlns:a16="http://schemas.microsoft.com/office/drawing/2014/main" id="{A4F80D56-4FB1-480F-A207-36D14C341182}"/>
              </a:ext>
            </a:extLst>
          </p:cNvPr>
          <p:cNvSpPr>
            <a:spLocks xmlns:a="http://schemas.openxmlformats.org/drawingml/2006/main" noGrp="1"/>
          </p:cNvSpPr>
          <p:nvPr/>
        </p:nvSpPr>
        <p:spPr>
          <a:xfrm xmlns:a="http://schemas.openxmlformats.org/drawingml/2006/main">
            <a:off x="5791200" y="52387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D96C5F"/>
                </a:solidFill>
                <a:latin typeface="Aptos"/>
                <a:ea typeface="Aptos"/>
                <a:cs typeface="Aptos"/>
              </a:defRPr>
            </a:pPr>
            <a:r>
              <a:rPr sz="1725" b="1">
                <a:solidFill>
                  <a:srgbClr val="D96C5F"/>
                </a:solidFill>
                <a:latin typeface="Aptos"/>
                <a:ea typeface="Aptos"/>
                <a:cs typeface="Aptos"/>
              </a:rPr>
              <a:t>→</a:t>
            </a:r>
          </a:p>
        </p:txBody>
      </p:sp>
      <p:sp>
        <p:nvSpPr>
          <p:cNvPr id="33" name="">
            <a:extLst xmlns:a="http://schemas.openxmlformats.org/drawingml/2006/main">
              <a:ext uri="{FF2B5EF4-FFF2-40B4-BE49-F238E27FC236}">
                <a16:creationId xmlns:a16="http://schemas.microsoft.com/office/drawing/2014/main" id="{1D869ECE-38C6-4367-80A7-B674577AF646}"/>
              </a:ext>
            </a:extLst>
          </p:cNvPr>
          <p:cNvSpPr>
            <a:spLocks xmlns:a="http://schemas.openxmlformats.org/drawingml/2006/main" noGrp="1"/>
          </p:cNvSpPr>
          <p:nvPr/>
        </p:nvSpPr>
        <p:spPr>
          <a:xfrm xmlns:a="http://schemas.openxmlformats.org/drawingml/2006/main">
            <a:off x="6267450" y="5267325"/>
            <a:ext cx="1790700" cy="323850"/>
          </a:xfrm>
          <a:prstGeom xmlns:a="http://schemas.openxmlformats.org/drawingml/2006/main" prst="roundRect">
            <a:avLst>
              <a:gd name="adj" fmla="val 44118"/>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safe first clause</a:t>
            </a:r>
          </a:p>
        </p:txBody>
      </p:sp>
      <p:sp>
        <p:nvSpPr>
          <p:cNvPr id="34" name="">
            <a:extLst xmlns:a="http://schemas.openxmlformats.org/drawingml/2006/main">
              <a:ext uri="{FF2B5EF4-FFF2-40B4-BE49-F238E27FC236}">
                <a16:creationId xmlns:a16="http://schemas.microsoft.com/office/drawing/2014/main" id="{84803342-24B3-4AFF-BE9A-9FA938097E76}"/>
              </a:ext>
            </a:extLst>
          </p:cNvPr>
          <p:cNvSpPr>
            <a:spLocks xmlns:a="http://schemas.openxmlformats.org/drawingml/2006/main" noGrp="1"/>
          </p:cNvSpPr>
          <p:nvPr/>
        </p:nvSpPr>
        <p:spPr>
          <a:xfrm xmlns:a="http://schemas.openxmlformats.org/drawingml/2006/main">
            <a:off x="8134350" y="52387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D96C5F"/>
                </a:solidFill>
                <a:latin typeface="Aptos"/>
                <a:ea typeface="Aptos"/>
                <a:cs typeface="Aptos"/>
              </a:defRPr>
            </a:pPr>
            <a:r>
              <a:rPr sz="1725" b="1">
                <a:solidFill>
                  <a:srgbClr val="D96C5F"/>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3AF2BD18-6BB8-4FF1-9E43-6C1CF8AA910F}"/>
              </a:ext>
            </a:extLst>
          </p:cNvPr>
          <p:cNvSpPr>
            <a:spLocks xmlns:a="http://schemas.openxmlformats.org/drawingml/2006/main" noGrp="1"/>
          </p:cNvSpPr>
          <p:nvPr/>
        </p:nvSpPr>
        <p:spPr>
          <a:xfrm xmlns:a="http://schemas.openxmlformats.org/drawingml/2006/main">
            <a:off x="8610600" y="5267325"/>
            <a:ext cx="1790700" cy="323850"/>
          </a:xfrm>
          <a:prstGeom xmlns:a="http://schemas.openxmlformats.org/drawingml/2006/main" prst="roundRect">
            <a:avLst>
              <a:gd name="adj" fmla="val 44118"/>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playable audio</a:t>
            </a:r>
          </a:p>
        </p:txBody>
      </p:sp>
      <p:sp>
        <p:nvSpPr>
          <p:cNvPr id="36" name="">
            <a:extLst xmlns:a="http://schemas.openxmlformats.org/drawingml/2006/main">
              <a:ext uri="{FF2B5EF4-FFF2-40B4-BE49-F238E27FC236}">
                <a16:creationId xmlns:a16="http://schemas.microsoft.com/office/drawing/2014/main" id="{68AE233B-4410-4E46-93B6-0267D2F363B5}"/>
              </a:ext>
            </a:extLst>
          </p:cNvPr>
          <p:cNvSpPr>
            <a:spLocks xmlns:a="http://schemas.openxmlformats.org/drawingml/2006/main" noGrp="1"/>
          </p:cNvSpPr>
          <p:nvPr/>
        </p:nvSpPr>
        <p:spPr>
          <a:xfrm xmlns:a="http://schemas.openxmlformats.org/drawingml/2006/main">
            <a:off x="1333500" y="56959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0">
                <a:solidFill>
                  <a:srgbClr val="4B687A"/>
                </a:solidFill>
                <a:latin typeface="Aptos"/>
                <a:ea typeface="Aptos"/>
                <a:cs typeface="Aptos"/>
              </a:defRPr>
            </a:pPr>
            <a:r>
              <a:rPr sz="1125" b="0">
                <a:solidFill>
                  <a:srgbClr val="4B687A"/>
                </a:solidFill>
                <a:latin typeface="Aptos"/>
                <a:ea typeface="Aptos"/>
                <a:cs typeface="Aptos"/>
              </a:rPr>
              <a:t>The delay is in the boundary between engines—not only inside the engine.</a:t>
            </a:r>
          </a:p>
        </p:txBody>
      </p:sp>
      <p:sp>
        <p:nvSpPr>
          <p:cNvPr id="37" name="">
            <a:extLst xmlns:a="http://schemas.openxmlformats.org/drawingml/2006/main">
              <a:ext uri="{FF2B5EF4-FFF2-40B4-BE49-F238E27FC236}">
                <a16:creationId xmlns:a16="http://schemas.microsoft.com/office/drawing/2014/main" id="{87F0E8B9-8856-4896-9308-8D04E5A4713D}"/>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latency architecture</a:t>
            </a:r>
          </a:p>
        </p:txBody>
      </p:sp>
    </p:spTree>
    <p:extLst>
      <p:ext uri="{BB962C8B-B14F-4D97-AF65-F5344CB8AC3E}">
        <p14:creationId xmlns:p14="http://schemas.microsoft.com/office/powerpoint/2010/main" val="8483248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a51dfb5656545a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B01C20-531C-482C-9B10-516C09AE4786}"/>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B8A7991B-8E57-470E-83F2-8C9A45500496}"/>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06</a:t>
            </a:r>
          </a:p>
        </p:txBody>
      </p:sp>
      <p:sp>
        <p:nvSpPr>
          <p:cNvPr id="4" name="">
            <a:extLst xmlns:a="http://schemas.openxmlformats.org/drawingml/2006/main">
              <a:ext uri="{FF2B5EF4-FFF2-40B4-BE49-F238E27FC236}">
                <a16:creationId xmlns:a16="http://schemas.microsoft.com/office/drawing/2014/main" id="{8B819264-758A-42FA-A467-9020E5275CD7}"/>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75E0362C-E5C6-4315-8B03-40FBDA0C6C98}"/>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Duet’s thesis: guarded speculative duplex</a:t>
            </a:r>
          </a:p>
        </p:txBody>
      </p:sp>
      <p:sp>
        <p:nvSpPr>
          <p:cNvPr id="6" name="">
            <a:extLst xmlns:a="http://schemas.openxmlformats.org/drawingml/2006/main">
              <a:ext uri="{FF2B5EF4-FFF2-40B4-BE49-F238E27FC236}">
                <a16:creationId xmlns:a16="http://schemas.microsoft.com/office/drawing/2014/main" id="{CCAD23B9-7B06-420D-B4C3-544DF16A7155}"/>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AF7EEBB3-B553-486E-A510-8F87E008EBD2}"/>
              </a:ext>
            </a:extLst>
          </p:cNvPr>
          <p:cNvSpPr>
            <a:spLocks xmlns:a="http://schemas.openxmlformats.org/drawingml/2006/main" noGrp="1"/>
          </p:cNvSpPr>
          <p:nvPr/>
        </p:nvSpPr>
        <p:spPr>
          <a:xfrm xmlns:a="http://schemas.openxmlformats.org/drawingml/2006/main">
            <a:off x="857250" y="2305050"/>
            <a:ext cx="2000250" cy="457200"/>
          </a:xfrm>
          <a:prstGeom xmlns:a="http://schemas.openxmlformats.org/drawingml/2006/main" prst="roundRect">
            <a:avLst>
              <a:gd name="adj" fmla="val 37500"/>
            </a:avLst>
          </a:prstGeom>
          <a:solidFill xmlns:a="http://schemas.openxmlformats.org/drawingml/2006/main">
            <a:srgbClr val="E8F3F6"/>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2A43"/>
                </a:solidFill>
                <a:latin typeface="Aptos"/>
                <a:ea typeface="Aptos"/>
                <a:cs typeface="Aptos"/>
              </a:defRPr>
            </a:pPr>
            <a:r>
              <a:rPr sz="1350" b="1">
                <a:solidFill>
                  <a:srgbClr val="102A43"/>
                </a:solidFill>
                <a:latin typeface="Aptos"/>
                <a:ea typeface="Aptos"/>
                <a:cs typeface="Aptos"/>
              </a:rPr>
              <a:t>partial transcript</a:t>
            </a:r>
          </a:p>
        </p:txBody>
      </p:sp>
      <p:sp>
        <p:nvSpPr>
          <p:cNvPr id="8" name="">
            <a:extLst xmlns:a="http://schemas.openxmlformats.org/drawingml/2006/main">
              <a:ext uri="{FF2B5EF4-FFF2-40B4-BE49-F238E27FC236}">
                <a16:creationId xmlns:a16="http://schemas.microsoft.com/office/drawing/2014/main" id="{886C6D50-F664-4A7A-9C04-E3F9A321394D}"/>
              </a:ext>
            </a:extLst>
          </p:cNvPr>
          <p:cNvSpPr>
            <a:spLocks xmlns:a="http://schemas.openxmlformats.org/drawingml/2006/main" noGrp="1"/>
          </p:cNvSpPr>
          <p:nvPr/>
        </p:nvSpPr>
        <p:spPr>
          <a:xfrm xmlns:a="http://schemas.openxmlformats.org/drawingml/2006/main">
            <a:off x="2857500" y="2533650"/>
            <a:ext cx="1381125"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9" name="">
            <a:extLst xmlns:a="http://schemas.openxmlformats.org/drawingml/2006/main">
              <a:ext uri="{FF2B5EF4-FFF2-40B4-BE49-F238E27FC236}">
                <a16:creationId xmlns:a16="http://schemas.microsoft.com/office/drawing/2014/main" id="{F227AD6C-65A0-4E63-93AD-497985CC6356}"/>
              </a:ext>
            </a:extLst>
          </p:cNvPr>
          <p:cNvSpPr>
            <a:spLocks xmlns:a="http://schemas.openxmlformats.org/drawingml/2006/main" noGrp="1"/>
          </p:cNvSpPr>
          <p:nvPr/>
        </p:nvSpPr>
        <p:spPr>
          <a:xfrm xmlns:a="http://schemas.openxmlformats.org/drawingml/2006/main">
            <a:off x="4238625" y="2019300"/>
            <a:ext cx="2286000" cy="1047750"/>
          </a:xfrm>
          <a:prstGeom xmlns:a="http://schemas.openxmlformats.org/drawingml/2006/main" prst="roundRect">
            <a:avLst>
              <a:gd name="adj" fmla="val 18182"/>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8EA"/>
                </a:solidFill>
                <a:latin typeface="Aptos"/>
                <a:ea typeface="Aptos"/>
                <a:cs typeface="Aptos"/>
              </a:defRPr>
            </a:pPr>
            <a:r>
              <a:rPr sz="1650" b="1">
                <a:solidFill>
                  <a:srgbClr val="FFF8EA"/>
                </a:solidFill>
                <a:latin typeface="Aptos"/>
                <a:ea typeface="Aptos"/>
                <a:cs typeface="Aptos"/>
              </a:rPr>
              <a:t>quarantined</a:t>
            </a:r>
          </a:p>
          <a:p xmlns:a="http://schemas.openxmlformats.org/drawingml/2006/main">
            <a:pPr algn="ctr">
              <a:defRPr sz="1650" b="1">
                <a:solidFill>
                  <a:srgbClr val="FFF8EA"/>
                </a:solidFill>
                <a:latin typeface="Aptos"/>
                <a:ea typeface="Aptos"/>
                <a:cs typeface="Aptos"/>
              </a:defRPr>
            </a:pPr>
            <a:r>
              <a:rPr sz="1650" b="1">
                <a:solidFill>
                  <a:srgbClr val="FFF8EA"/>
                </a:solidFill>
                <a:latin typeface="Aptos"/>
                <a:ea typeface="Aptos"/>
                <a:cs typeface="Aptos"/>
              </a:rPr>
              <a:t>speculation</a:t>
            </a:r>
          </a:p>
        </p:txBody>
      </p:sp>
      <p:sp>
        <p:nvSpPr>
          <p:cNvPr id="10" name="">
            <a:extLst xmlns:a="http://schemas.openxmlformats.org/drawingml/2006/main">
              <a:ext uri="{FF2B5EF4-FFF2-40B4-BE49-F238E27FC236}">
                <a16:creationId xmlns:a16="http://schemas.microsoft.com/office/drawing/2014/main" id="{03F49622-3678-4E6F-895B-8EF6FE09B9DF}"/>
              </a:ext>
            </a:extLst>
          </p:cNvPr>
          <p:cNvSpPr>
            <a:spLocks xmlns:a="http://schemas.openxmlformats.org/drawingml/2006/main" noGrp="1"/>
          </p:cNvSpPr>
          <p:nvPr/>
        </p:nvSpPr>
        <p:spPr>
          <a:xfrm xmlns:a="http://schemas.openxmlformats.org/drawingml/2006/main">
            <a:off x="6524625" y="2533650"/>
            <a:ext cx="1381125"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11" name="">
            <a:extLst xmlns:a="http://schemas.openxmlformats.org/drawingml/2006/main">
              <a:ext uri="{FF2B5EF4-FFF2-40B4-BE49-F238E27FC236}">
                <a16:creationId xmlns:a16="http://schemas.microsoft.com/office/drawing/2014/main" id="{D328F734-8CF4-40BC-BF25-4215C1879768}"/>
              </a:ext>
            </a:extLst>
          </p:cNvPr>
          <p:cNvSpPr>
            <a:spLocks xmlns:a="http://schemas.openxmlformats.org/drawingml/2006/main" noGrp="1"/>
          </p:cNvSpPr>
          <p:nvPr/>
        </p:nvSpPr>
        <p:spPr>
          <a:xfrm xmlns:a="http://schemas.openxmlformats.org/drawingml/2006/main">
            <a:off x="7905750" y="2019300"/>
            <a:ext cx="2476500" cy="1047750"/>
          </a:xfrm>
          <a:prstGeom xmlns:a="http://schemas.openxmlformats.org/drawingml/2006/main" prst="roundRect">
            <a:avLst>
              <a:gd name="adj" fmla="val 18182"/>
            </a:avLst>
          </a:prstGeom>
          <a:solidFill xmlns:a="http://schemas.openxmlformats.org/drawingml/2006/main">
            <a:srgbClr val="FFF8EA"/>
          </a:solidFill>
          <a:ln xmlns:a="http://schemas.openxmlformats.org/drawingml/2006/main" w="28575">
            <a:solidFill>
              <a:srgbClr val="268C82"/>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102A43"/>
                </a:solidFill>
                <a:latin typeface="Aptos"/>
                <a:ea typeface="Aptos"/>
                <a:cs typeface="Aptos"/>
              </a:defRPr>
            </a:pPr>
            <a:r>
              <a:rPr sz="1650" b="1">
                <a:solidFill>
                  <a:srgbClr val="102A43"/>
                </a:solidFill>
                <a:latin typeface="Aptos"/>
                <a:ea typeface="Aptos"/>
                <a:cs typeface="Aptos"/>
              </a:rPr>
              <a:t>final meaning</a:t>
            </a:r>
          </a:p>
          <a:p xmlns:a="http://schemas.openxmlformats.org/drawingml/2006/main">
            <a:pPr algn="ctr">
              <a:defRPr sz="1650" b="1">
                <a:solidFill>
                  <a:srgbClr val="102A43"/>
                </a:solidFill>
                <a:latin typeface="Aptos"/>
                <a:ea typeface="Aptos"/>
                <a:cs typeface="Aptos"/>
              </a:defRPr>
            </a:pPr>
            <a:r>
              <a:rPr sz="1650" b="1">
                <a:solidFill>
                  <a:srgbClr val="102A43"/>
                </a:solidFill>
                <a:latin typeface="Aptos"/>
                <a:ea typeface="Aptos"/>
                <a:cs typeface="Aptos"/>
              </a:rPr>
              <a:t>confirmed</a:t>
            </a:r>
          </a:p>
        </p:txBody>
      </p:sp>
      <p:sp>
        <p:nvSpPr>
          <p:cNvPr id="12" name="">
            <a:extLst xmlns:a="http://schemas.openxmlformats.org/drawingml/2006/main">
              <a:ext uri="{FF2B5EF4-FFF2-40B4-BE49-F238E27FC236}">
                <a16:creationId xmlns:a16="http://schemas.microsoft.com/office/drawing/2014/main" id="{BD721F1B-B14C-405F-8BF5-520D1791759F}"/>
              </a:ext>
            </a:extLst>
          </p:cNvPr>
          <p:cNvSpPr>
            <a:spLocks xmlns:a="http://schemas.openxmlformats.org/drawingml/2006/main" noGrp="1"/>
          </p:cNvSpPr>
          <p:nvPr/>
        </p:nvSpPr>
        <p:spPr>
          <a:xfrm xmlns:a="http://schemas.openxmlformats.org/drawingml/2006/main">
            <a:off x="1333500" y="363855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102A43"/>
                </a:solidFill>
                <a:latin typeface="Aptos"/>
                <a:ea typeface="Aptos"/>
                <a:cs typeface="Aptos"/>
              </a:defRPr>
            </a:pPr>
            <a:r>
              <a:rPr sz="1875" b="1">
                <a:solidFill>
                  <a:srgbClr val="102A43"/>
                </a:solidFill>
                <a:latin typeface="Aptos"/>
                <a:ea typeface="Aptos"/>
                <a:cs typeface="Aptos"/>
              </a:rPr>
              <a:t>Start safe work early.</a:t>
            </a:r>
          </a:p>
        </p:txBody>
      </p:sp>
      <p:sp>
        <p:nvSpPr>
          <p:cNvPr id="13" name="">
            <a:extLst xmlns:a="http://schemas.openxmlformats.org/drawingml/2006/main">
              <a:ext uri="{FF2B5EF4-FFF2-40B4-BE49-F238E27FC236}">
                <a16:creationId xmlns:a16="http://schemas.microsoft.com/office/drawing/2014/main" id="{9D7D127C-FD65-4E71-B800-AC2C4B1C7C36}"/>
              </a:ext>
            </a:extLst>
          </p:cNvPr>
          <p:cNvSpPr>
            <a:spLocks xmlns:a="http://schemas.openxmlformats.org/drawingml/2006/main" noGrp="1"/>
          </p:cNvSpPr>
          <p:nvPr/>
        </p:nvSpPr>
        <p:spPr>
          <a:xfrm xmlns:a="http://schemas.openxmlformats.org/drawingml/2006/main">
            <a:off x="1333500" y="424815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102A43"/>
                </a:solidFill>
                <a:latin typeface="Aptos"/>
                <a:ea typeface="Aptos"/>
                <a:cs typeface="Aptos"/>
              </a:defRPr>
            </a:pPr>
            <a:r>
              <a:rPr sz="1875" b="1">
                <a:solidFill>
                  <a:srgbClr val="102A43"/>
                </a:solidFill>
                <a:latin typeface="Aptos"/>
                <a:ea typeface="Aptos"/>
                <a:cs typeface="Aptos"/>
              </a:rPr>
              <a:t>Commit only when meaning is stable.</a:t>
            </a:r>
          </a:p>
        </p:txBody>
      </p:sp>
      <p:sp>
        <p:nvSpPr>
          <p:cNvPr id="14" name="">
            <a:extLst xmlns:a="http://schemas.openxmlformats.org/drawingml/2006/main">
              <a:ext uri="{FF2B5EF4-FFF2-40B4-BE49-F238E27FC236}">
                <a16:creationId xmlns:a16="http://schemas.microsoft.com/office/drawing/2014/main" id="{A13CC859-B14E-4C26-8EAE-2C23B1BB933F}"/>
              </a:ext>
            </a:extLst>
          </p:cNvPr>
          <p:cNvSpPr>
            <a:spLocks xmlns:a="http://schemas.openxmlformats.org/drawingml/2006/main" noGrp="1"/>
          </p:cNvSpPr>
          <p:nvPr/>
        </p:nvSpPr>
        <p:spPr>
          <a:xfrm xmlns:a="http://schemas.openxmlformats.org/drawingml/2006/main">
            <a:off x="1333500" y="485775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D96C5F"/>
                </a:solidFill>
                <a:latin typeface="Aptos"/>
                <a:ea typeface="Aptos"/>
                <a:cs typeface="Aptos"/>
              </a:defRPr>
            </a:pPr>
            <a:r>
              <a:rPr sz="1875" b="1">
                <a:solidFill>
                  <a:srgbClr val="D96C5F"/>
                </a:solidFill>
                <a:latin typeface="Aptos"/>
                <a:ea typeface="Aptos"/>
                <a:cs typeface="Aptos"/>
              </a:rPr>
              <a:t>Cancel everything stale.</a:t>
            </a:r>
          </a:p>
        </p:txBody>
      </p:sp>
      <p:sp>
        <p:nvSpPr>
          <p:cNvPr id="15" name="">
            <a:extLst xmlns:a="http://schemas.openxmlformats.org/drawingml/2006/main">
              <a:ext uri="{FF2B5EF4-FFF2-40B4-BE49-F238E27FC236}">
                <a16:creationId xmlns:a16="http://schemas.microsoft.com/office/drawing/2014/main" id="{CBC2280F-A9A9-472F-8A9F-42C4FC17A26F}"/>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architecture; concurrency is prior art</a:t>
            </a:r>
          </a:p>
        </p:txBody>
      </p:sp>
    </p:spTree>
    <p:extLst>
      <p:ext uri="{BB962C8B-B14F-4D97-AF65-F5344CB8AC3E}">
        <p14:creationId xmlns:p14="http://schemas.microsoft.com/office/powerpoint/2010/main" val="49672637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9bb9d0ecbcd453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5811262-F041-49B9-829A-766617CA095A}"/>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4EC27771-7DB3-42F2-8567-4FA351F6AA40}"/>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07</a:t>
            </a:r>
          </a:p>
        </p:txBody>
      </p:sp>
      <p:sp>
        <p:nvSpPr>
          <p:cNvPr id="4" name="">
            <a:extLst xmlns:a="http://schemas.openxmlformats.org/drawingml/2006/main">
              <a:ext uri="{FF2B5EF4-FFF2-40B4-BE49-F238E27FC236}">
                <a16:creationId xmlns:a16="http://schemas.microsoft.com/office/drawing/2014/main" id="{E0C7FD6F-5838-4F9C-BE56-F3F14C3389DA}"/>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C276EC71-5B9F-4CEB-BEC1-84DC4704B9B5}"/>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Concurrent lanes, causal gates</a:t>
            </a:r>
          </a:p>
        </p:txBody>
      </p:sp>
      <p:sp>
        <p:nvSpPr>
          <p:cNvPr id="6" name="">
            <a:extLst xmlns:a="http://schemas.openxmlformats.org/drawingml/2006/main">
              <a:ext uri="{FF2B5EF4-FFF2-40B4-BE49-F238E27FC236}">
                <a16:creationId xmlns:a16="http://schemas.microsoft.com/office/drawing/2014/main" id="{646DBD5F-7343-4905-8F26-A6D68B231FAD}"/>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76F3DBD5-C82B-4181-B412-D8228748B84D}"/>
              </a:ext>
            </a:extLst>
          </p:cNvPr>
          <p:cNvSpPr>
            <a:spLocks xmlns:a="http://schemas.openxmlformats.org/drawingml/2006/main" noGrp="1"/>
          </p:cNvSpPr>
          <p:nvPr/>
        </p:nvSpPr>
        <p:spPr>
          <a:xfrm xmlns:a="http://schemas.openxmlformats.org/drawingml/2006/main">
            <a:off x="800100" y="1962150"/>
            <a:ext cx="1238250" cy="40005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8EA"/>
                </a:solidFill>
                <a:latin typeface="Aptos"/>
                <a:ea typeface="Aptos"/>
                <a:cs typeface="Aptos"/>
              </a:defRPr>
            </a:pPr>
            <a:r>
              <a:rPr sz="975" b="1">
                <a:solidFill>
                  <a:srgbClr val="FFF8EA"/>
                </a:solidFill>
                <a:latin typeface="Aptos"/>
                <a:ea typeface="Aptos"/>
                <a:cs typeface="Aptos"/>
              </a:rPr>
              <a:t>LISTEN</a:t>
            </a:r>
          </a:p>
        </p:txBody>
      </p:sp>
      <p:sp>
        <p:nvSpPr>
          <p:cNvPr id="8" name="">
            <a:extLst xmlns:a="http://schemas.openxmlformats.org/drawingml/2006/main">
              <a:ext uri="{FF2B5EF4-FFF2-40B4-BE49-F238E27FC236}">
                <a16:creationId xmlns:a16="http://schemas.microsoft.com/office/drawing/2014/main" id="{CE0D81CF-FF7D-4F05-80D7-C5CAF8B29C02}"/>
              </a:ext>
            </a:extLst>
          </p:cNvPr>
          <p:cNvSpPr>
            <a:spLocks xmlns:a="http://schemas.openxmlformats.org/drawingml/2006/main" noGrp="1"/>
          </p:cNvSpPr>
          <p:nvPr/>
        </p:nvSpPr>
        <p:spPr>
          <a:xfrm xmlns:a="http://schemas.openxmlformats.org/drawingml/2006/main">
            <a:off x="2266950" y="2162175"/>
            <a:ext cx="8496300" cy="0"/>
          </a:xfrm>
          <a:prstGeom xmlns:a="http://schemas.openxmlformats.org/drawingml/2006/main" prst="line">
            <a:avLst/>
          </a:prstGeom>
          <a:noFill xmlns:a="http://schemas.openxmlformats.org/drawingml/2006/main"/>
          <a:ln xmlns:a="http://schemas.openxmlformats.org/drawingml/2006/main" w="38100">
            <a:solidFill>
              <a:srgbClr val="8EBBD0"/>
            </a:solidFill>
            <a:prstDash val="solid"/>
          </a:ln>
        </p:spPr>
      </p:sp>
      <p:sp>
        <p:nvSpPr>
          <p:cNvPr id="9" name="">
            <a:extLst xmlns:a="http://schemas.openxmlformats.org/drawingml/2006/main">
              <a:ext uri="{FF2B5EF4-FFF2-40B4-BE49-F238E27FC236}">
                <a16:creationId xmlns:a16="http://schemas.microsoft.com/office/drawing/2014/main" id="{D3849400-9BDB-4DDC-B500-04349CC85D5C}"/>
              </a:ext>
            </a:extLst>
          </p:cNvPr>
          <p:cNvSpPr>
            <a:spLocks xmlns:a="http://schemas.openxmlformats.org/drawingml/2006/main" noGrp="1"/>
          </p:cNvSpPr>
          <p:nvPr/>
        </p:nvSpPr>
        <p:spPr>
          <a:xfrm xmlns:a="http://schemas.openxmlformats.org/drawingml/2006/main">
            <a:off x="2571750" y="1952625"/>
            <a:ext cx="7239000" cy="419100"/>
          </a:xfrm>
          <a:prstGeom xmlns:a="http://schemas.openxmlformats.org/drawingml/2006/main" prst="roundRect">
            <a:avLst>
              <a:gd name="adj" fmla="val 2272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02A43"/>
                </a:solidFill>
                <a:latin typeface="Aptos Mono"/>
                <a:ea typeface="Aptos Mono"/>
                <a:cs typeface="Aptos Mono"/>
              </a:defRPr>
            </a:pPr>
            <a:r>
              <a:rPr sz="1350" b="0">
                <a:solidFill>
                  <a:srgbClr val="102A43"/>
                </a:solidFill>
                <a:latin typeface="Aptos Mono"/>
                <a:ea typeface="Aptos Mono"/>
                <a:cs typeface="Aptos Mono"/>
              </a:rPr>
              <a:t>continuous audio</a:t>
            </a:r>
          </a:p>
        </p:txBody>
      </p:sp>
      <p:sp>
        <p:nvSpPr>
          <p:cNvPr id="10" name="">
            <a:extLst xmlns:a="http://schemas.openxmlformats.org/drawingml/2006/main">
              <a:ext uri="{FF2B5EF4-FFF2-40B4-BE49-F238E27FC236}">
                <a16:creationId xmlns:a16="http://schemas.microsoft.com/office/drawing/2014/main" id="{9578A62C-464C-4C9E-834B-9424A7201E72}"/>
              </a:ext>
            </a:extLst>
          </p:cNvPr>
          <p:cNvSpPr>
            <a:spLocks xmlns:a="http://schemas.openxmlformats.org/drawingml/2006/main" noGrp="1"/>
          </p:cNvSpPr>
          <p:nvPr/>
        </p:nvSpPr>
        <p:spPr>
          <a:xfrm xmlns:a="http://schemas.openxmlformats.org/drawingml/2006/main">
            <a:off x="800100" y="2581275"/>
            <a:ext cx="1238250" cy="40005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8EA"/>
                </a:solidFill>
                <a:latin typeface="Aptos"/>
                <a:ea typeface="Aptos"/>
                <a:cs typeface="Aptos"/>
              </a:defRPr>
            </a:pPr>
            <a:r>
              <a:rPr sz="975" b="1">
                <a:solidFill>
                  <a:srgbClr val="FFF8EA"/>
                </a:solidFill>
                <a:latin typeface="Aptos"/>
                <a:ea typeface="Aptos"/>
                <a:cs typeface="Aptos"/>
              </a:rPr>
              <a:t>TURN</a:t>
            </a:r>
          </a:p>
        </p:txBody>
      </p:sp>
      <p:sp>
        <p:nvSpPr>
          <p:cNvPr id="11" name="">
            <a:extLst xmlns:a="http://schemas.openxmlformats.org/drawingml/2006/main">
              <a:ext uri="{FF2B5EF4-FFF2-40B4-BE49-F238E27FC236}">
                <a16:creationId xmlns:a16="http://schemas.microsoft.com/office/drawing/2014/main" id="{B3D896E7-AB70-4B3A-9C95-03BD7B71F084}"/>
              </a:ext>
            </a:extLst>
          </p:cNvPr>
          <p:cNvSpPr>
            <a:spLocks xmlns:a="http://schemas.openxmlformats.org/drawingml/2006/main" noGrp="1"/>
          </p:cNvSpPr>
          <p:nvPr/>
        </p:nvSpPr>
        <p:spPr>
          <a:xfrm xmlns:a="http://schemas.openxmlformats.org/drawingml/2006/main">
            <a:off x="2266950" y="2781300"/>
            <a:ext cx="8496300"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2" name="">
            <a:extLst xmlns:a="http://schemas.openxmlformats.org/drawingml/2006/main">
              <a:ext uri="{FF2B5EF4-FFF2-40B4-BE49-F238E27FC236}">
                <a16:creationId xmlns:a16="http://schemas.microsoft.com/office/drawing/2014/main" id="{7ABA6725-67A8-40DB-847A-8055F587E8D6}"/>
              </a:ext>
            </a:extLst>
          </p:cNvPr>
          <p:cNvSpPr>
            <a:spLocks xmlns:a="http://schemas.openxmlformats.org/drawingml/2006/main" noGrp="1"/>
          </p:cNvSpPr>
          <p:nvPr/>
        </p:nvSpPr>
        <p:spPr>
          <a:xfrm xmlns:a="http://schemas.openxmlformats.org/drawingml/2006/main">
            <a:off x="2571750" y="2571750"/>
            <a:ext cx="7239000" cy="419100"/>
          </a:xfrm>
          <a:prstGeom xmlns:a="http://schemas.openxmlformats.org/drawingml/2006/main" prst="roundRect">
            <a:avLst>
              <a:gd name="adj" fmla="val 2272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02A43"/>
                </a:solidFill>
                <a:latin typeface="Aptos Mono"/>
                <a:ea typeface="Aptos Mono"/>
                <a:cs typeface="Aptos Mono"/>
              </a:defRPr>
            </a:pPr>
            <a:r>
              <a:rPr sz="1350" b="0">
                <a:solidFill>
                  <a:srgbClr val="102A43"/>
                </a:solidFill>
                <a:latin typeface="Aptos Mono"/>
                <a:ea typeface="Aptos Mono"/>
                <a:cs typeface="Aptos Mono"/>
              </a:rPr>
              <a:t>partial  →  stable  →  final</a:t>
            </a:r>
          </a:p>
        </p:txBody>
      </p:sp>
      <p:sp>
        <p:nvSpPr>
          <p:cNvPr id="13" name="">
            <a:extLst xmlns:a="http://schemas.openxmlformats.org/drawingml/2006/main">
              <a:ext uri="{FF2B5EF4-FFF2-40B4-BE49-F238E27FC236}">
                <a16:creationId xmlns:a16="http://schemas.microsoft.com/office/drawing/2014/main" id="{C61181AC-AC06-47FF-A763-BD7D0EEBE1D7}"/>
              </a:ext>
            </a:extLst>
          </p:cNvPr>
          <p:cNvSpPr>
            <a:spLocks xmlns:a="http://schemas.openxmlformats.org/drawingml/2006/main" noGrp="1"/>
          </p:cNvSpPr>
          <p:nvPr/>
        </p:nvSpPr>
        <p:spPr>
          <a:xfrm xmlns:a="http://schemas.openxmlformats.org/drawingml/2006/main">
            <a:off x="800100" y="3200400"/>
            <a:ext cx="1238250" cy="400050"/>
          </a:xfrm>
          <a:prstGeom xmlns:a="http://schemas.openxmlformats.org/drawingml/2006/main" prst="roundRect">
            <a:avLst>
              <a:gd name="adj" fmla="val 28571"/>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8EA"/>
                </a:solidFill>
                <a:latin typeface="Aptos"/>
                <a:ea typeface="Aptos"/>
                <a:cs typeface="Aptos"/>
              </a:defRPr>
            </a:pPr>
            <a:r>
              <a:rPr sz="975" b="1">
                <a:solidFill>
                  <a:srgbClr val="FFF8EA"/>
                </a:solidFill>
                <a:latin typeface="Aptos"/>
                <a:ea typeface="Aptos"/>
                <a:cs typeface="Aptos"/>
              </a:rPr>
              <a:t>POLICY</a:t>
            </a:r>
          </a:p>
        </p:txBody>
      </p:sp>
      <p:sp>
        <p:nvSpPr>
          <p:cNvPr id="14" name="">
            <a:extLst xmlns:a="http://schemas.openxmlformats.org/drawingml/2006/main">
              <a:ext uri="{FF2B5EF4-FFF2-40B4-BE49-F238E27FC236}">
                <a16:creationId xmlns:a16="http://schemas.microsoft.com/office/drawing/2014/main" id="{FD2F9CF4-7E85-475D-BA78-CBF6E94B81E3}"/>
              </a:ext>
            </a:extLst>
          </p:cNvPr>
          <p:cNvSpPr>
            <a:spLocks xmlns:a="http://schemas.openxmlformats.org/drawingml/2006/main" noGrp="1"/>
          </p:cNvSpPr>
          <p:nvPr/>
        </p:nvSpPr>
        <p:spPr>
          <a:xfrm xmlns:a="http://schemas.openxmlformats.org/drawingml/2006/main">
            <a:off x="2266950" y="3400425"/>
            <a:ext cx="8496300" cy="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15" name="">
            <a:extLst xmlns:a="http://schemas.openxmlformats.org/drawingml/2006/main">
              <a:ext uri="{FF2B5EF4-FFF2-40B4-BE49-F238E27FC236}">
                <a16:creationId xmlns:a16="http://schemas.microsoft.com/office/drawing/2014/main" id="{5C1FA5E9-D992-4B73-9A5D-45FF1A5F6ECD}"/>
              </a:ext>
            </a:extLst>
          </p:cNvPr>
          <p:cNvSpPr>
            <a:spLocks xmlns:a="http://schemas.openxmlformats.org/drawingml/2006/main" noGrp="1"/>
          </p:cNvSpPr>
          <p:nvPr/>
        </p:nvSpPr>
        <p:spPr>
          <a:xfrm xmlns:a="http://schemas.openxmlformats.org/drawingml/2006/main">
            <a:off x="2914650" y="3190875"/>
            <a:ext cx="7239000" cy="419100"/>
          </a:xfrm>
          <a:prstGeom xmlns:a="http://schemas.openxmlformats.org/drawingml/2006/main" prst="roundRect">
            <a:avLst>
              <a:gd name="adj" fmla="val 2272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02A43"/>
                </a:solidFill>
                <a:latin typeface="Aptos Mono"/>
                <a:ea typeface="Aptos Mono"/>
                <a:cs typeface="Aptos Mono"/>
              </a:defRPr>
            </a:pPr>
            <a:r>
              <a:rPr sz="1350" b="0">
                <a:solidFill>
                  <a:srgbClr val="102A43"/>
                </a:solidFill>
                <a:latin typeface="Aptos Mono"/>
                <a:ea typeface="Aptos Mono"/>
                <a:cs typeface="Aptos Mono"/>
              </a:rPr>
              <a:t>consent · opt-out · barge-in · claims</a:t>
            </a:r>
          </a:p>
        </p:txBody>
      </p:sp>
      <p:sp>
        <p:nvSpPr>
          <p:cNvPr id="16" name="">
            <a:extLst xmlns:a="http://schemas.openxmlformats.org/drawingml/2006/main">
              <a:ext uri="{FF2B5EF4-FFF2-40B4-BE49-F238E27FC236}">
                <a16:creationId xmlns:a16="http://schemas.microsoft.com/office/drawing/2014/main" id="{3A0D966C-B01D-4164-86AE-88E959ED5A1C}"/>
              </a:ext>
            </a:extLst>
          </p:cNvPr>
          <p:cNvSpPr>
            <a:spLocks xmlns:a="http://schemas.openxmlformats.org/drawingml/2006/main" noGrp="1"/>
          </p:cNvSpPr>
          <p:nvPr/>
        </p:nvSpPr>
        <p:spPr>
          <a:xfrm xmlns:a="http://schemas.openxmlformats.org/drawingml/2006/main">
            <a:off x="800100" y="3819525"/>
            <a:ext cx="1238250" cy="40005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8EA"/>
                </a:solidFill>
                <a:latin typeface="Aptos"/>
                <a:ea typeface="Aptos"/>
                <a:cs typeface="Aptos"/>
              </a:defRPr>
            </a:pPr>
            <a:r>
              <a:rPr sz="975" b="1">
                <a:solidFill>
                  <a:srgbClr val="FFF8EA"/>
                </a:solidFill>
                <a:latin typeface="Aptos"/>
                <a:ea typeface="Aptos"/>
                <a:cs typeface="Aptos"/>
              </a:rPr>
              <a:t>PLAN</a:t>
            </a:r>
          </a:p>
        </p:txBody>
      </p:sp>
      <p:sp>
        <p:nvSpPr>
          <p:cNvPr id="17" name="">
            <a:extLst xmlns:a="http://schemas.openxmlformats.org/drawingml/2006/main">
              <a:ext uri="{FF2B5EF4-FFF2-40B4-BE49-F238E27FC236}">
                <a16:creationId xmlns:a16="http://schemas.microsoft.com/office/drawing/2014/main" id="{540D1689-02EB-4797-829C-7C35CE4CEFF4}"/>
              </a:ext>
            </a:extLst>
          </p:cNvPr>
          <p:cNvSpPr>
            <a:spLocks xmlns:a="http://schemas.openxmlformats.org/drawingml/2006/main" noGrp="1"/>
          </p:cNvSpPr>
          <p:nvPr/>
        </p:nvSpPr>
        <p:spPr>
          <a:xfrm xmlns:a="http://schemas.openxmlformats.org/drawingml/2006/main">
            <a:off x="2266950" y="4019550"/>
            <a:ext cx="8496300"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8" name="">
            <a:extLst xmlns:a="http://schemas.openxmlformats.org/drawingml/2006/main">
              <a:ext uri="{FF2B5EF4-FFF2-40B4-BE49-F238E27FC236}">
                <a16:creationId xmlns:a16="http://schemas.microsoft.com/office/drawing/2014/main" id="{641613F4-CC56-4A7C-84E9-827E193A70E2}"/>
              </a:ext>
            </a:extLst>
          </p:cNvPr>
          <p:cNvSpPr>
            <a:spLocks xmlns:a="http://schemas.openxmlformats.org/drawingml/2006/main" noGrp="1"/>
          </p:cNvSpPr>
          <p:nvPr/>
        </p:nvSpPr>
        <p:spPr>
          <a:xfrm xmlns:a="http://schemas.openxmlformats.org/drawingml/2006/main">
            <a:off x="3086100" y="3810000"/>
            <a:ext cx="7239000" cy="419100"/>
          </a:xfrm>
          <a:prstGeom xmlns:a="http://schemas.openxmlformats.org/drawingml/2006/main" prst="roundRect">
            <a:avLst>
              <a:gd name="adj" fmla="val 2272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02A43"/>
                </a:solidFill>
                <a:latin typeface="Aptos Mono"/>
                <a:ea typeface="Aptos Mono"/>
                <a:cs typeface="Aptos Mono"/>
              </a:defRPr>
            </a:pPr>
            <a:r>
              <a:rPr sz="1350" b="0">
                <a:solidFill>
                  <a:srgbClr val="102A43"/>
                </a:solidFill>
                <a:latin typeface="Aptos Mono"/>
                <a:ea typeface="Aptos Mono"/>
                <a:cs typeface="Aptos Mono"/>
              </a:rPr>
              <a:t>retrieval · reasoning</a:t>
            </a:r>
          </a:p>
        </p:txBody>
      </p:sp>
      <p:sp>
        <p:nvSpPr>
          <p:cNvPr id="19" name="">
            <a:extLst xmlns:a="http://schemas.openxmlformats.org/drawingml/2006/main">
              <a:ext uri="{FF2B5EF4-FFF2-40B4-BE49-F238E27FC236}">
                <a16:creationId xmlns:a16="http://schemas.microsoft.com/office/drawing/2014/main" id="{865B68B4-214A-4BE3-8C2D-093F1528D39B}"/>
              </a:ext>
            </a:extLst>
          </p:cNvPr>
          <p:cNvSpPr>
            <a:spLocks xmlns:a="http://schemas.openxmlformats.org/drawingml/2006/main" noGrp="1"/>
          </p:cNvSpPr>
          <p:nvPr/>
        </p:nvSpPr>
        <p:spPr>
          <a:xfrm xmlns:a="http://schemas.openxmlformats.org/drawingml/2006/main">
            <a:off x="800100" y="4438650"/>
            <a:ext cx="1238250" cy="40005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8EA"/>
                </a:solidFill>
                <a:latin typeface="Aptos"/>
                <a:ea typeface="Aptos"/>
                <a:cs typeface="Aptos"/>
              </a:defRPr>
            </a:pPr>
            <a:r>
              <a:rPr sz="975" b="1">
                <a:solidFill>
                  <a:srgbClr val="FFF8EA"/>
                </a:solidFill>
                <a:latin typeface="Aptos"/>
                <a:ea typeface="Aptos"/>
                <a:cs typeface="Aptos"/>
              </a:rPr>
              <a:t>ACT</a:t>
            </a:r>
          </a:p>
        </p:txBody>
      </p:sp>
      <p:sp>
        <p:nvSpPr>
          <p:cNvPr id="20" name="">
            <a:extLst xmlns:a="http://schemas.openxmlformats.org/drawingml/2006/main">
              <a:ext uri="{FF2B5EF4-FFF2-40B4-BE49-F238E27FC236}">
                <a16:creationId xmlns:a16="http://schemas.microsoft.com/office/drawing/2014/main" id="{B98DEC39-31AD-40CE-96BD-8FAD08276598}"/>
              </a:ext>
            </a:extLst>
          </p:cNvPr>
          <p:cNvSpPr>
            <a:spLocks xmlns:a="http://schemas.openxmlformats.org/drawingml/2006/main" noGrp="1"/>
          </p:cNvSpPr>
          <p:nvPr/>
        </p:nvSpPr>
        <p:spPr>
          <a:xfrm xmlns:a="http://schemas.openxmlformats.org/drawingml/2006/main">
            <a:off x="2266950" y="4638675"/>
            <a:ext cx="8496300"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21" name="">
            <a:extLst xmlns:a="http://schemas.openxmlformats.org/drawingml/2006/main">
              <a:ext uri="{FF2B5EF4-FFF2-40B4-BE49-F238E27FC236}">
                <a16:creationId xmlns:a16="http://schemas.microsoft.com/office/drawing/2014/main" id="{AE5A015F-DAF5-4FE5-970C-480FC81EF1CA}"/>
              </a:ext>
            </a:extLst>
          </p:cNvPr>
          <p:cNvSpPr>
            <a:spLocks xmlns:a="http://schemas.openxmlformats.org/drawingml/2006/main" noGrp="1"/>
          </p:cNvSpPr>
          <p:nvPr/>
        </p:nvSpPr>
        <p:spPr>
          <a:xfrm xmlns:a="http://schemas.openxmlformats.org/drawingml/2006/main">
            <a:off x="3257550" y="4429125"/>
            <a:ext cx="7239000" cy="419100"/>
          </a:xfrm>
          <a:prstGeom xmlns:a="http://schemas.openxmlformats.org/drawingml/2006/main" prst="roundRect">
            <a:avLst>
              <a:gd name="adj" fmla="val 2272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02A43"/>
                </a:solidFill>
                <a:latin typeface="Aptos Mono"/>
                <a:ea typeface="Aptos Mono"/>
                <a:cs typeface="Aptos Mono"/>
              </a:defRPr>
            </a:pPr>
            <a:r>
              <a:rPr sz="1350" b="0">
                <a:solidFill>
                  <a:srgbClr val="102A43"/>
                </a:solidFill>
                <a:latin typeface="Aptos Mono"/>
                <a:ea typeface="Aptos Mono"/>
                <a:cs typeface="Aptos Mono"/>
              </a:rPr>
              <a:t>tool request</a:t>
            </a:r>
          </a:p>
        </p:txBody>
      </p:sp>
      <p:sp>
        <p:nvSpPr>
          <p:cNvPr id="22" name="">
            <a:extLst xmlns:a="http://schemas.openxmlformats.org/drawingml/2006/main">
              <a:ext uri="{FF2B5EF4-FFF2-40B4-BE49-F238E27FC236}">
                <a16:creationId xmlns:a16="http://schemas.microsoft.com/office/drawing/2014/main" id="{E6A28D96-3260-4EC3-87BB-80800E09AB74}"/>
              </a:ext>
            </a:extLst>
          </p:cNvPr>
          <p:cNvSpPr>
            <a:spLocks xmlns:a="http://schemas.openxmlformats.org/drawingml/2006/main" noGrp="1"/>
          </p:cNvSpPr>
          <p:nvPr/>
        </p:nvSpPr>
        <p:spPr>
          <a:xfrm xmlns:a="http://schemas.openxmlformats.org/drawingml/2006/main">
            <a:off x="800100" y="5057775"/>
            <a:ext cx="1238250" cy="40005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8EA"/>
                </a:solidFill>
                <a:latin typeface="Aptos"/>
                <a:ea typeface="Aptos"/>
                <a:cs typeface="Aptos"/>
              </a:defRPr>
            </a:pPr>
            <a:r>
              <a:rPr sz="975" b="1">
                <a:solidFill>
                  <a:srgbClr val="FFF8EA"/>
                </a:solidFill>
                <a:latin typeface="Aptos"/>
                <a:ea typeface="Aptos"/>
                <a:cs typeface="Aptos"/>
              </a:rPr>
              <a:t>SPEAK</a:t>
            </a:r>
          </a:p>
        </p:txBody>
      </p:sp>
      <p:sp>
        <p:nvSpPr>
          <p:cNvPr id="23" name="">
            <a:extLst xmlns:a="http://schemas.openxmlformats.org/drawingml/2006/main">
              <a:ext uri="{FF2B5EF4-FFF2-40B4-BE49-F238E27FC236}">
                <a16:creationId xmlns:a16="http://schemas.microsoft.com/office/drawing/2014/main" id="{3FE6B0BA-1B97-45D6-8AA1-1F9470F22BF4}"/>
              </a:ext>
            </a:extLst>
          </p:cNvPr>
          <p:cNvSpPr>
            <a:spLocks xmlns:a="http://schemas.openxmlformats.org/drawingml/2006/main" noGrp="1"/>
          </p:cNvSpPr>
          <p:nvPr/>
        </p:nvSpPr>
        <p:spPr>
          <a:xfrm xmlns:a="http://schemas.openxmlformats.org/drawingml/2006/main">
            <a:off x="2266950" y="5257800"/>
            <a:ext cx="8496300"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24" name="">
            <a:extLst xmlns:a="http://schemas.openxmlformats.org/drawingml/2006/main">
              <a:ext uri="{FF2B5EF4-FFF2-40B4-BE49-F238E27FC236}">
                <a16:creationId xmlns:a16="http://schemas.microsoft.com/office/drawing/2014/main" id="{1F69D3CA-D8BA-4AF9-8CB3-576B68C0DBEA}"/>
              </a:ext>
            </a:extLst>
          </p:cNvPr>
          <p:cNvSpPr>
            <a:spLocks xmlns:a="http://schemas.openxmlformats.org/drawingml/2006/main" noGrp="1"/>
          </p:cNvSpPr>
          <p:nvPr/>
        </p:nvSpPr>
        <p:spPr>
          <a:xfrm xmlns:a="http://schemas.openxmlformats.org/drawingml/2006/main">
            <a:off x="3429000" y="5048250"/>
            <a:ext cx="7239000" cy="419100"/>
          </a:xfrm>
          <a:prstGeom xmlns:a="http://schemas.openxmlformats.org/drawingml/2006/main" prst="roundRect">
            <a:avLst>
              <a:gd name="adj" fmla="val 2272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02A43"/>
                </a:solidFill>
                <a:latin typeface="Aptos Mono"/>
                <a:ea typeface="Aptos Mono"/>
                <a:cs typeface="Aptos Mono"/>
              </a:defRPr>
            </a:pPr>
            <a:r>
              <a:rPr sz="1350" b="0">
                <a:solidFill>
                  <a:srgbClr val="102A43"/>
                </a:solidFill>
                <a:latin typeface="Aptos Mono"/>
                <a:ea typeface="Aptos Mono"/>
                <a:cs typeface="Aptos Mono"/>
              </a:rPr>
              <a:t>safe clause  →  audio</a:t>
            </a:r>
          </a:p>
        </p:txBody>
      </p:sp>
      <p:sp>
        <p:nvSpPr>
          <p:cNvPr id="25" name="">
            <a:extLst xmlns:a="http://schemas.openxmlformats.org/drawingml/2006/main">
              <a:ext uri="{FF2B5EF4-FFF2-40B4-BE49-F238E27FC236}">
                <a16:creationId xmlns:a16="http://schemas.microsoft.com/office/drawing/2014/main" id="{DC1D3B66-574D-4EB6-A4EF-51BE7DCCBA5E}"/>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runtime lanes</a:t>
            </a:r>
          </a:p>
        </p:txBody>
      </p:sp>
    </p:spTree>
    <p:extLst>
      <p:ext uri="{BB962C8B-B14F-4D97-AF65-F5344CB8AC3E}">
        <p14:creationId xmlns:p14="http://schemas.microsoft.com/office/powerpoint/2010/main" val="143314533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8778de8a02e40c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9FFB4A-D74E-4E59-856A-320680071E45}"/>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F2A829E4-6A9F-4E39-91AE-DC4C0B022C01}"/>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08</a:t>
            </a:r>
          </a:p>
        </p:txBody>
      </p:sp>
      <p:sp>
        <p:nvSpPr>
          <p:cNvPr id="4" name="">
            <a:extLst xmlns:a="http://schemas.openxmlformats.org/drawingml/2006/main">
              <a:ext uri="{FF2B5EF4-FFF2-40B4-BE49-F238E27FC236}">
                <a16:creationId xmlns:a16="http://schemas.microsoft.com/office/drawing/2014/main" id="{60EE67CF-D013-499B-AB67-D8E861C85C51}"/>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770F575E-2EF9-4CFB-BD49-57AB98453B80}"/>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What runs inside Aira</a:t>
            </a:r>
          </a:p>
        </p:txBody>
      </p:sp>
      <p:sp>
        <p:nvSpPr>
          <p:cNvPr id="6" name="">
            <a:extLst xmlns:a="http://schemas.openxmlformats.org/drawingml/2006/main">
              <a:ext uri="{FF2B5EF4-FFF2-40B4-BE49-F238E27FC236}">
                <a16:creationId xmlns:a16="http://schemas.microsoft.com/office/drawing/2014/main" id="{97E53D59-0478-4C6B-B618-93B3E989E698}"/>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141F0C0A-A83D-4484-B31E-792E40EB75B5}"/>
              </a:ext>
            </a:extLst>
          </p:cNvPr>
          <p:cNvSpPr>
            <a:spLocks xmlns:a="http://schemas.openxmlformats.org/drawingml/2006/main" noGrp="1"/>
          </p:cNvSpPr>
          <p:nvPr/>
        </p:nvSpPr>
        <p:spPr>
          <a:xfrm xmlns:a="http://schemas.openxmlformats.org/drawingml/2006/main">
            <a:off x="647700" y="2724150"/>
            <a:ext cx="1314450" cy="857250"/>
          </a:xfrm>
          <a:prstGeom xmlns:a="http://schemas.openxmlformats.org/drawingml/2006/main" prst="roundRect">
            <a:avLst>
              <a:gd name="adj" fmla="val 20000"/>
            </a:avLst>
          </a:prstGeom>
          <a:solidFill xmlns:a="http://schemas.openxmlformats.org/drawingml/2006/main">
            <a:srgbClr val="FFF8EA"/>
          </a:solidFill>
          <a:ln xmlns:a="http://schemas.openxmlformats.org/drawingml/2006/main" w="19050">
            <a:solidFill>
              <a:srgbClr val="288DC1"/>
            </a:solidFill>
            <a:prstDash val="solid"/>
          </a:ln>
        </p:spPr>
      </p:sp>
      <p:sp>
        <p:nvSpPr>
          <p:cNvPr id="8" name="">
            <a:extLst xmlns:a="http://schemas.openxmlformats.org/drawingml/2006/main">
              <a:ext uri="{FF2B5EF4-FFF2-40B4-BE49-F238E27FC236}">
                <a16:creationId xmlns:a16="http://schemas.microsoft.com/office/drawing/2014/main" id="{3B02DA67-4341-426D-9324-1DF215BF9981}"/>
              </a:ext>
            </a:extLst>
          </p:cNvPr>
          <p:cNvSpPr>
            <a:spLocks xmlns:a="http://schemas.openxmlformats.org/drawingml/2006/main" noGrp="1"/>
          </p:cNvSpPr>
          <p:nvPr/>
        </p:nvSpPr>
        <p:spPr>
          <a:xfrm xmlns:a="http://schemas.openxmlformats.org/drawingml/2006/main">
            <a:off x="723900" y="2724150"/>
            <a:ext cx="1162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2A43"/>
                </a:solidFill>
                <a:latin typeface="Aptos"/>
                <a:ea typeface="Aptos"/>
                <a:cs typeface="Aptos"/>
              </a:defRPr>
            </a:pPr>
            <a:r>
              <a:rPr sz="1350" b="1">
                <a:solidFill>
                  <a:srgbClr val="102A43"/>
                </a:solidFill>
                <a:latin typeface="Aptos"/>
                <a:ea typeface="Aptos"/>
                <a:cs typeface="Aptos"/>
              </a:rPr>
              <a:t>Browser</a:t>
            </a:r>
          </a:p>
        </p:txBody>
      </p:sp>
      <p:sp>
        <p:nvSpPr>
          <p:cNvPr id="9" name="">
            <a:extLst xmlns:a="http://schemas.openxmlformats.org/drawingml/2006/main">
              <a:ext uri="{FF2B5EF4-FFF2-40B4-BE49-F238E27FC236}">
                <a16:creationId xmlns:a16="http://schemas.microsoft.com/office/drawing/2014/main" id="{D76BF86F-0A14-4635-83CF-3A0B9A2EF392}"/>
              </a:ext>
            </a:extLst>
          </p:cNvPr>
          <p:cNvSpPr>
            <a:spLocks xmlns:a="http://schemas.openxmlformats.org/drawingml/2006/main" noGrp="1"/>
          </p:cNvSpPr>
          <p:nvPr/>
        </p:nvSpPr>
        <p:spPr>
          <a:xfrm xmlns:a="http://schemas.openxmlformats.org/drawingml/2006/main">
            <a:off x="1962150" y="3152775"/>
            <a:ext cx="304800"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10" name="">
            <a:extLst xmlns:a="http://schemas.openxmlformats.org/drawingml/2006/main">
              <a:ext uri="{FF2B5EF4-FFF2-40B4-BE49-F238E27FC236}">
                <a16:creationId xmlns:a16="http://schemas.microsoft.com/office/drawing/2014/main" id="{164D95E5-B882-411D-870A-74D88A6A5159}"/>
              </a:ext>
            </a:extLst>
          </p:cNvPr>
          <p:cNvSpPr>
            <a:spLocks xmlns:a="http://schemas.openxmlformats.org/drawingml/2006/main" noGrp="1"/>
          </p:cNvSpPr>
          <p:nvPr/>
        </p:nvSpPr>
        <p:spPr>
          <a:xfrm xmlns:a="http://schemas.openxmlformats.org/drawingml/2006/main">
            <a:off x="2266950" y="2724150"/>
            <a:ext cx="1314450" cy="857250"/>
          </a:xfrm>
          <a:prstGeom xmlns:a="http://schemas.openxmlformats.org/drawingml/2006/main" prst="roundRect">
            <a:avLst>
              <a:gd name="adj" fmla="val 20000"/>
            </a:avLst>
          </a:prstGeom>
          <a:solidFill xmlns:a="http://schemas.openxmlformats.org/drawingml/2006/main">
            <a:srgbClr val="FFF8EA"/>
          </a:solidFill>
          <a:ln xmlns:a="http://schemas.openxmlformats.org/drawingml/2006/main" w="19050">
            <a:solidFill>
              <a:srgbClr val="288DC1"/>
            </a:solidFill>
            <a:prstDash val="solid"/>
          </a:ln>
        </p:spPr>
      </p:sp>
      <p:sp>
        <p:nvSpPr>
          <p:cNvPr id="11" name="">
            <a:extLst xmlns:a="http://schemas.openxmlformats.org/drawingml/2006/main">
              <a:ext uri="{FF2B5EF4-FFF2-40B4-BE49-F238E27FC236}">
                <a16:creationId xmlns:a16="http://schemas.microsoft.com/office/drawing/2014/main" id="{EB01D07D-03F8-4C16-A7B5-B872AAA593A0}"/>
              </a:ext>
            </a:extLst>
          </p:cNvPr>
          <p:cNvSpPr>
            <a:spLocks xmlns:a="http://schemas.openxmlformats.org/drawingml/2006/main" noGrp="1"/>
          </p:cNvSpPr>
          <p:nvPr/>
        </p:nvSpPr>
        <p:spPr>
          <a:xfrm xmlns:a="http://schemas.openxmlformats.org/drawingml/2006/main">
            <a:off x="2343150" y="2724150"/>
            <a:ext cx="1162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2A43"/>
                </a:solidFill>
                <a:latin typeface="Aptos"/>
                <a:ea typeface="Aptos"/>
                <a:cs typeface="Aptos"/>
              </a:defRPr>
            </a:pPr>
            <a:r>
              <a:rPr sz="1350" b="1">
                <a:solidFill>
                  <a:srgbClr val="102A43"/>
                </a:solidFill>
                <a:latin typeface="Aptos"/>
                <a:ea typeface="Aptos"/>
                <a:cs typeface="Aptos"/>
              </a:rPr>
              <a:t>Saaras</a:t>
            </a:r>
          </a:p>
        </p:txBody>
      </p:sp>
      <p:sp>
        <p:nvSpPr>
          <p:cNvPr id="12" name="">
            <a:extLst xmlns:a="http://schemas.openxmlformats.org/drawingml/2006/main">
              <a:ext uri="{FF2B5EF4-FFF2-40B4-BE49-F238E27FC236}">
                <a16:creationId xmlns:a16="http://schemas.microsoft.com/office/drawing/2014/main" id="{6B1636E6-65A6-4749-82BD-D661345D01AB}"/>
              </a:ext>
            </a:extLst>
          </p:cNvPr>
          <p:cNvSpPr>
            <a:spLocks xmlns:a="http://schemas.openxmlformats.org/drawingml/2006/main" noGrp="1"/>
          </p:cNvSpPr>
          <p:nvPr/>
        </p:nvSpPr>
        <p:spPr>
          <a:xfrm xmlns:a="http://schemas.openxmlformats.org/drawingml/2006/main">
            <a:off x="3581400" y="3152775"/>
            <a:ext cx="304800"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13" name="">
            <a:extLst xmlns:a="http://schemas.openxmlformats.org/drawingml/2006/main">
              <a:ext uri="{FF2B5EF4-FFF2-40B4-BE49-F238E27FC236}">
                <a16:creationId xmlns:a16="http://schemas.microsoft.com/office/drawing/2014/main" id="{4C5932D1-088D-4438-858F-AC124F7F0E60}"/>
              </a:ext>
            </a:extLst>
          </p:cNvPr>
          <p:cNvSpPr>
            <a:spLocks xmlns:a="http://schemas.openxmlformats.org/drawingml/2006/main" noGrp="1"/>
          </p:cNvSpPr>
          <p:nvPr/>
        </p:nvSpPr>
        <p:spPr>
          <a:xfrm xmlns:a="http://schemas.openxmlformats.org/drawingml/2006/main">
            <a:off x="3886200" y="2724150"/>
            <a:ext cx="1314450" cy="857250"/>
          </a:xfrm>
          <a:prstGeom xmlns:a="http://schemas.openxmlformats.org/drawingml/2006/main" prst="roundRect">
            <a:avLst>
              <a:gd name="adj" fmla="val 20000"/>
            </a:avLst>
          </a:prstGeom>
          <a:solidFill xmlns:a="http://schemas.openxmlformats.org/drawingml/2006/main">
            <a:srgbClr val="D96C5F"/>
          </a:solidFill>
          <a:ln xmlns:a="http://schemas.openxmlformats.org/drawingml/2006/main" w="19050">
            <a:solidFill>
              <a:srgbClr val="D96C5F"/>
            </a:solidFill>
            <a:prstDash val="solid"/>
          </a:ln>
        </p:spPr>
      </p:sp>
      <p:sp>
        <p:nvSpPr>
          <p:cNvPr id="14" name="">
            <a:extLst xmlns:a="http://schemas.openxmlformats.org/drawingml/2006/main">
              <a:ext uri="{FF2B5EF4-FFF2-40B4-BE49-F238E27FC236}">
                <a16:creationId xmlns:a16="http://schemas.microsoft.com/office/drawing/2014/main" id="{C5AF009C-FECD-4FE2-BB71-B492EA151BE0}"/>
              </a:ext>
            </a:extLst>
          </p:cNvPr>
          <p:cNvSpPr>
            <a:spLocks xmlns:a="http://schemas.openxmlformats.org/drawingml/2006/main" noGrp="1"/>
          </p:cNvSpPr>
          <p:nvPr/>
        </p:nvSpPr>
        <p:spPr>
          <a:xfrm xmlns:a="http://schemas.openxmlformats.org/drawingml/2006/main">
            <a:off x="3962400" y="2724150"/>
            <a:ext cx="1162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8EA"/>
                </a:solidFill>
                <a:latin typeface="Aptos"/>
                <a:ea typeface="Aptos"/>
                <a:cs typeface="Aptos"/>
              </a:defRPr>
            </a:pPr>
            <a:r>
              <a:rPr sz="1350" b="1">
                <a:solidFill>
                  <a:srgbClr val="FFF8EA"/>
                </a:solidFill>
                <a:latin typeface="Aptos"/>
                <a:ea typeface="Aptos"/>
                <a:cs typeface="Aptos"/>
              </a:rPr>
              <a:t>Duet</a:t>
            </a:r>
          </a:p>
        </p:txBody>
      </p:sp>
      <p:sp>
        <p:nvSpPr>
          <p:cNvPr id="15" name="">
            <a:extLst xmlns:a="http://schemas.openxmlformats.org/drawingml/2006/main">
              <a:ext uri="{FF2B5EF4-FFF2-40B4-BE49-F238E27FC236}">
                <a16:creationId xmlns:a16="http://schemas.microsoft.com/office/drawing/2014/main" id="{F1E7D920-DD7F-4EF7-B29B-9FB2205BE888}"/>
              </a:ext>
            </a:extLst>
          </p:cNvPr>
          <p:cNvSpPr>
            <a:spLocks xmlns:a="http://schemas.openxmlformats.org/drawingml/2006/main" noGrp="1"/>
          </p:cNvSpPr>
          <p:nvPr/>
        </p:nvSpPr>
        <p:spPr>
          <a:xfrm xmlns:a="http://schemas.openxmlformats.org/drawingml/2006/main">
            <a:off x="5200650" y="3152775"/>
            <a:ext cx="685800"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16" name="">
            <a:extLst xmlns:a="http://schemas.openxmlformats.org/drawingml/2006/main">
              <a:ext uri="{FF2B5EF4-FFF2-40B4-BE49-F238E27FC236}">
                <a16:creationId xmlns:a16="http://schemas.microsoft.com/office/drawing/2014/main" id="{9DBD3BC1-BCA2-4716-8A7A-9744504E5E34}"/>
              </a:ext>
            </a:extLst>
          </p:cNvPr>
          <p:cNvSpPr>
            <a:spLocks xmlns:a="http://schemas.openxmlformats.org/drawingml/2006/main" noGrp="1"/>
          </p:cNvSpPr>
          <p:nvPr/>
        </p:nvSpPr>
        <p:spPr>
          <a:xfrm xmlns:a="http://schemas.openxmlformats.org/drawingml/2006/main">
            <a:off x="5886450" y="2724150"/>
            <a:ext cx="1314450" cy="857250"/>
          </a:xfrm>
          <a:prstGeom xmlns:a="http://schemas.openxmlformats.org/drawingml/2006/main" prst="roundRect">
            <a:avLst>
              <a:gd name="adj" fmla="val 20000"/>
            </a:avLst>
          </a:prstGeom>
          <a:solidFill xmlns:a="http://schemas.openxmlformats.org/drawingml/2006/main">
            <a:srgbClr val="FFF8EA"/>
          </a:solidFill>
          <a:ln xmlns:a="http://schemas.openxmlformats.org/drawingml/2006/main" w="19050">
            <a:solidFill>
              <a:srgbClr val="268C82"/>
            </a:solidFill>
            <a:prstDash val="solid"/>
          </a:ln>
        </p:spPr>
      </p:sp>
      <p:sp>
        <p:nvSpPr>
          <p:cNvPr id="17" name="">
            <a:extLst xmlns:a="http://schemas.openxmlformats.org/drawingml/2006/main">
              <a:ext uri="{FF2B5EF4-FFF2-40B4-BE49-F238E27FC236}">
                <a16:creationId xmlns:a16="http://schemas.microsoft.com/office/drawing/2014/main" id="{2EDC0F00-944B-4BBE-8A60-A64D40D28047}"/>
              </a:ext>
            </a:extLst>
          </p:cNvPr>
          <p:cNvSpPr>
            <a:spLocks xmlns:a="http://schemas.openxmlformats.org/drawingml/2006/main" noGrp="1"/>
          </p:cNvSpPr>
          <p:nvPr/>
        </p:nvSpPr>
        <p:spPr>
          <a:xfrm xmlns:a="http://schemas.openxmlformats.org/drawingml/2006/main">
            <a:off x="5962650" y="2724150"/>
            <a:ext cx="1162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2A43"/>
                </a:solidFill>
                <a:latin typeface="Aptos"/>
                <a:ea typeface="Aptos"/>
                <a:cs typeface="Aptos"/>
              </a:defRPr>
            </a:pPr>
            <a:r>
              <a:rPr sz="1350" b="1">
                <a:solidFill>
                  <a:srgbClr val="102A43"/>
                </a:solidFill>
                <a:latin typeface="Aptos"/>
                <a:ea typeface="Aptos"/>
                <a:cs typeface="Aptos"/>
              </a:rPr>
              <a:t>Gemini</a:t>
            </a:r>
          </a:p>
        </p:txBody>
      </p:sp>
      <p:sp>
        <p:nvSpPr>
          <p:cNvPr id="18" name="">
            <a:extLst xmlns:a="http://schemas.openxmlformats.org/drawingml/2006/main">
              <a:ext uri="{FF2B5EF4-FFF2-40B4-BE49-F238E27FC236}">
                <a16:creationId xmlns:a16="http://schemas.microsoft.com/office/drawing/2014/main" id="{DB511149-E49D-4A2D-9789-E0CE8F70AEAC}"/>
              </a:ext>
            </a:extLst>
          </p:cNvPr>
          <p:cNvSpPr>
            <a:spLocks xmlns:a="http://schemas.openxmlformats.org/drawingml/2006/main" noGrp="1"/>
          </p:cNvSpPr>
          <p:nvPr/>
        </p:nvSpPr>
        <p:spPr>
          <a:xfrm xmlns:a="http://schemas.openxmlformats.org/drawingml/2006/main">
            <a:off x="7200900" y="3152775"/>
            <a:ext cx="685800"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19" name="">
            <a:extLst xmlns:a="http://schemas.openxmlformats.org/drawingml/2006/main">
              <a:ext uri="{FF2B5EF4-FFF2-40B4-BE49-F238E27FC236}">
                <a16:creationId xmlns:a16="http://schemas.microsoft.com/office/drawing/2014/main" id="{5FDC1277-9C6D-49E3-834A-78712440E35E}"/>
              </a:ext>
            </a:extLst>
          </p:cNvPr>
          <p:cNvSpPr>
            <a:spLocks xmlns:a="http://schemas.openxmlformats.org/drawingml/2006/main" noGrp="1"/>
          </p:cNvSpPr>
          <p:nvPr/>
        </p:nvSpPr>
        <p:spPr>
          <a:xfrm xmlns:a="http://schemas.openxmlformats.org/drawingml/2006/main">
            <a:off x="7886700" y="2724150"/>
            <a:ext cx="1314450" cy="857250"/>
          </a:xfrm>
          <a:prstGeom xmlns:a="http://schemas.openxmlformats.org/drawingml/2006/main" prst="roundRect">
            <a:avLst>
              <a:gd name="adj" fmla="val 20000"/>
            </a:avLst>
          </a:prstGeom>
          <a:solidFill xmlns:a="http://schemas.openxmlformats.org/drawingml/2006/main">
            <a:srgbClr val="FFF8EA"/>
          </a:solidFill>
          <a:ln xmlns:a="http://schemas.openxmlformats.org/drawingml/2006/main" w="19050">
            <a:solidFill>
              <a:srgbClr val="288DC1"/>
            </a:solidFill>
            <a:prstDash val="solid"/>
          </a:ln>
        </p:spPr>
      </p:sp>
      <p:sp>
        <p:nvSpPr>
          <p:cNvPr id="20" name="">
            <a:extLst xmlns:a="http://schemas.openxmlformats.org/drawingml/2006/main">
              <a:ext uri="{FF2B5EF4-FFF2-40B4-BE49-F238E27FC236}">
                <a16:creationId xmlns:a16="http://schemas.microsoft.com/office/drawing/2014/main" id="{B2A66148-6D07-4C24-BE8A-D920335297D6}"/>
              </a:ext>
            </a:extLst>
          </p:cNvPr>
          <p:cNvSpPr>
            <a:spLocks xmlns:a="http://schemas.openxmlformats.org/drawingml/2006/main" noGrp="1"/>
          </p:cNvSpPr>
          <p:nvPr/>
        </p:nvSpPr>
        <p:spPr>
          <a:xfrm xmlns:a="http://schemas.openxmlformats.org/drawingml/2006/main">
            <a:off x="7962900" y="2724150"/>
            <a:ext cx="1162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2A43"/>
                </a:solidFill>
                <a:latin typeface="Aptos"/>
                <a:ea typeface="Aptos"/>
                <a:cs typeface="Aptos"/>
              </a:defRPr>
            </a:pPr>
            <a:r>
              <a:rPr sz="1350" b="1">
                <a:solidFill>
                  <a:srgbClr val="102A43"/>
                </a:solidFill>
                <a:latin typeface="Aptos"/>
                <a:ea typeface="Aptos"/>
                <a:cs typeface="Aptos"/>
              </a:rPr>
              <a:t>Bulbul</a:t>
            </a:r>
          </a:p>
        </p:txBody>
      </p:sp>
      <p:sp>
        <p:nvSpPr>
          <p:cNvPr id="21" name="">
            <a:extLst xmlns:a="http://schemas.openxmlformats.org/drawingml/2006/main">
              <a:ext uri="{FF2B5EF4-FFF2-40B4-BE49-F238E27FC236}">
                <a16:creationId xmlns:a16="http://schemas.microsoft.com/office/drawing/2014/main" id="{D106E575-CD65-4830-8B41-5BA2F7A1B385}"/>
              </a:ext>
            </a:extLst>
          </p:cNvPr>
          <p:cNvSpPr>
            <a:spLocks xmlns:a="http://schemas.openxmlformats.org/drawingml/2006/main" noGrp="1"/>
          </p:cNvSpPr>
          <p:nvPr/>
        </p:nvSpPr>
        <p:spPr>
          <a:xfrm xmlns:a="http://schemas.openxmlformats.org/drawingml/2006/main">
            <a:off x="9201150" y="3152775"/>
            <a:ext cx="685800"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22" name="">
            <a:extLst xmlns:a="http://schemas.openxmlformats.org/drawingml/2006/main">
              <a:ext uri="{FF2B5EF4-FFF2-40B4-BE49-F238E27FC236}">
                <a16:creationId xmlns:a16="http://schemas.microsoft.com/office/drawing/2014/main" id="{997B6EF7-F3F8-4B46-AF7E-F1686FA578F5}"/>
              </a:ext>
            </a:extLst>
          </p:cNvPr>
          <p:cNvSpPr>
            <a:spLocks xmlns:a="http://schemas.openxmlformats.org/drawingml/2006/main" noGrp="1"/>
          </p:cNvSpPr>
          <p:nvPr/>
        </p:nvSpPr>
        <p:spPr>
          <a:xfrm xmlns:a="http://schemas.openxmlformats.org/drawingml/2006/main">
            <a:off x="9886950" y="2724150"/>
            <a:ext cx="1314450" cy="857250"/>
          </a:xfrm>
          <a:prstGeom xmlns:a="http://schemas.openxmlformats.org/drawingml/2006/main" prst="roundRect">
            <a:avLst>
              <a:gd name="adj" fmla="val 20000"/>
            </a:avLst>
          </a:prstGeom>
          <a:solidFill xmlns:a="http://schemas.openxmlformats.org/drawingml/2006/main">
            <a:srgbClr val="FFF8EA"/>
          </a:solidFill>
          <a:ln xmlns:a="http://schemas.openxmlformats.org/drawingml/2006/main" w="19050">
            <a:solidFill>
              <a:srgbClr val="288DC1"/>
            </a:solidFill>
            <a:prstDash val="solid"/>
          </a:ln>
        </p:spPr>
      </p:sp>
      <p:sp>
        <p:nvSpPr>
          <p:cNvPr id="23" name="">
            <a:extLst xmlns:a="http://schemas.openxmlformats.org/drawingml/2006/main">
              <a:ext uri="{FF2B5EF4-FFF2-40B4-BE49-F238E27FC236}">
                <a16:creationId xmlns:a16="http://schemas.microsoft.com/office/drawing/2014/main" id="{DC07639B-E1E0-4639-8C44-B643DFF2E743}"/>
              </a:ext>
            </a:extLst>
          </p:cNvPr>
          <p:cNvSpPr>
            <a:spLocks xmlns:a="http://schemas.openxmlformats.org/drawingml/2006/main" noGrp="1"/>
          </p:cNvSpPr>
          <p:nvPr/>
        </p:nvSpPr>
        <p:spPr>
          <a:xfrm xmlns:a="http://schemas.openxmlformats.org/drawingml/2006/main">
            <a:off x="9963150" y="2724150"/>
            <a:ext cx="1162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2A43"/>
                </a:solidFill>
                <a:latin typeface="Aptos"/>
                <a:ea typeface="Aptos"/>
                <a:cs typeface="Aptos"/>
              </a:defRPr>
            </a:pPr>
            <a:r>
              <a:rPr sz="1350" b="1">
                <a:solidFill>
                  <a:srgbClr val="102A43"/>
                </a:solidFill>
                <a:latin typeface="Aptos"/>
                <a:ea typeface="Aptos"/>
                <a:cs typeface="Aptos"/>
              </a:rPr>
              <a:t>Speaker</a:t>
            </a:r>
          </a:p>
        </p:txBody>
      </p:sp>
      <p:sp>
        <p:nvSpPr>
          <p:cNvPr id="24" name="">
            <a:extLst xmlns:a="http://schemas.openxmlformats.org/drawingml/2006/main">
              <a:ext uri="{FF2B5EF4-FFF2-40B4-BE49-F238E27FC236}">
                <a16:creationId xmlns:a16="http://schemas.microsoft.com/office/drawing/2014/main" id="{8412AD25-57FE-437F-82EE-B40B49FC208A}"/>
              </a:ext>
            </a:extLst>
          </p:cNvPr>
          <p:cNvSpPr>
            <a:spLocks xmlns:a="http://schemas.openxmlformats.org/drawingml/2006/main" noGrp="1"/>
          </p:cNvSpPr>
          <p:nvPr/>
        </p:nvSpPr>
        <p:spPr>
          <a:xfrm xmlns:a="http://schemas.openxmlformats.org/drawingml/2006/main">
            <a:off x="2724150" y="4476750"/>
            <a:ext cx="1428750" cy="323850"/>
          </a:xfrm>
          <a:prstGeom xmlns:a="http://schemas.openxmlformats.org/drawingml/2006/main" prst="roundRect">
            <a:avLst>
              <a:gd name="adj" fmla="val 50000"/>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policy</a:t>
            </a:r>
          </a:p>
        </p:txBody>
      </p:sp>
      <p:sp>
        <p:nvSpPr>
          <p:cNvPr id="25" name="">
            <a:extLst xmlns:a="http://schemas.openxmlformats.org/drawingml/2006/main">
              <a:ext uri="{FF2B5EF4-FFF2-40B4-BE49-F238E27FC236}">
                <a16:creationId xmlns:a16="http://schemas.microsoft.com/office/drawing/2014/main" id="{1564DDF4-9376-4A38-B941-AC78A33738AC}"/>
              </a:ext>
            </a:extLst>
          </p:cNvPr>
          <p:cNvSpPr>
            <a:spLocks xmlns:a="http://schemas.openxmlformats.org/drawingml/2006/main" noGrp="1"/>
          </p:cNvSpPr>
          <p:nvPr/>
        </p:nvSpPr>
        <p:spPr>
          <a:xfrm xmlns:a="http://schemas.openxmlformats.org/drawingml/2006/main">
            <a:off x="4438650" y="4476750"/>
            <a:ext cx="1428750" cy="323850"/>
          </a:xfrm>
          <a:prstGeom xmlns:a="http://schemas.openxmlformats.org/drawingml/2006/main" prst="roundRect">
            <a:avLst>
              <a:gd name="adj" fmla="val 500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facts</a:t>
            </a:r>
          </a:p>
        </p:txBody>
      </p:sp>
      <p:sp>
        <p:nvSpPr>
          <p:cNvPr id="26" name="">
            <a:extLst xmlns:a="http://schemas.openxmlformats.org/drawingml/2006/main">
              <a:ext uri="{FF2B5EF4-FFF2-40B4-BE49-F238E27FC236}">
                <a16:creationId xmlns:a16="http://schemas.microsoft.com/office/drawing/2014/main" id="{5B81F41D-A1E2-4722-80B0-1BA924E84146}"/>
              </a:ext>
            </a:extLst>
          </p:cNvPr>
          <p:cNvSpPr>
            <a:spLocks xmlns:a="http://schemas.openxmlformats.org/drawingml/2006/main" noGrp="1"/>
          </p:cNvSpPr>
          <p:nvPr/>
        </p:nvSpPr>
        <p:spPr>
          <a:xfrm xmlns:a="http://schemas.openxmlformats.org/drawingml/2006/main">
            <a:off x="6153150" y="4476750"/>
            <a:ext cx="1428750" cy="323850"/>
          </a:xfrm>
          <a:prstGeom xmlns:a="http://schemas.openxmlformats.org/drawingml/2006/main" prst="roundRect">
            <a:avLst>
              <a:gd name="adj" fmla="val 500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actions</a:t>
            </a:r>
          </a:p>
        </p:txBody>
      </p:sp>
      <p:sp>
        <p:nvSpPr>
          <p:cNvPr id="27" name="">
            <a:extLst xmlns:a="http://schemas.openxmlformats.org/drawingml/2006/main">
              <a:ext uri="{FF2B5EF4-FFF2-40B4-BE49-F238E27FC236}">
                <a16:creationId xmlns:a16="http://schemas.microsoft.com/office/drawing/2014/main" id="{866842D3-8B57-48FD-A19E-B0B26855AE5E}"/>
              </a:ext>
            </a:extLst>
          </p:cNvPr>
          <p:cNvSpPr>
            <a:spLocks xmlns:a="http://schemas.openxmlformats.org/drawingml/2006/main" noGrp="1"/>
          </p:cNvSpPr>
          <p:nvPr/>
        </p:nvSpPr>
        <p:spPr>
          <a:xfrm xmlns:a="http://schemas.openxmlformats.org/drawingml/2006/main">
            <a:off x="7867650" y="4476750"/>
            <a:ext cx="1428750" cy="323850"/>
          </a:xfrm>
          <a:prstGeom xmlns:a="http://schemas.openxmlformats.org/drawingml/2006/main" prst="roundRect">
            <a:avLst>
              <a:gd name="adj" fmla="val 500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telemetry</a:t>
            </a:r>
          </a:p>
        </p:txBody>
      </p:sp>
      <p:sp>
        <p:nvSpPr>
          <p:cNvPr id="28" name="">
            <a:extLst xmlns:a="http://schemas.openxmlformats.org/drawingml/2006/main">
              <a:ext uri="{FF2B5EF4-FFF2-40B4-BE49-F238E27FC236}">
                <a16:creationId xmlns:a16="http://schemas.microsoft.com/office/drawing/2014/main" id="{C8159C8A-80EB-4074-A7C0-7BBE8B9923EF}"/>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Aira browser demo architecture</a:t>
            </a:r>
          </a:p>
        </p:txBody>
      </p:sp>
    </p:spTree>
    <p:extLst>
      <p:ext uri="{BB962C8B-B14F-4D97-AF65-F5344CB8AC3E}">
        <p14:creationId xmlns:p14="http://schemas.microsoft.com/office/powerpoint/2010/main" val="1234090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beb66b8c4b0406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EFF734-C24C-4FBF-9410-6DE27944666C}"/>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09</a:t>
            </a:r>
          </a:p>
        </p:txBody>
      </p:sp>
      <p:sp>
        <p:nvSpPr>
          <p:cNvPr id="3" name="">
            <a:extLst xmlns:a="http://schemas.openxmlformats.org/drawingml/2006/main">
              <a:ext uri="{FF2B5EF4-FFF2-40B4-BE49-F238E27FC236}">
                <a16:creationId xmlns:a16="http://schemas.microsoft.com/office/drawing/2014/main" id="{B1EC4F54-B292-4F9F-98A6-BA62DD43CEDA}"/>
              </a:ext>
            </a:extLst>
          </p:cNvPr>
          <p:cNvSpPr>
            <a:spLocks xmlns:a="http://schemas.openxmlformats.org/drawingml/2006/main" noGrp="1"/>
          </p:cNvSpPr>
          <p:nvPr/>
        </p:nvSpPr>
        <p:spPr>
          <a:xfrm xmlns:a="http://schemas.openxmlformats.org/drawingml/2006/main">
            <a:off x="742950" y="628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288DC1"/>
                </a:solidFill>
                <a:latin typeface="Aptos"/>
                <a:ea typeface="Aptos"/>
                <a:cs typeface="Aptos"/>
              </a:defRPr>
            </a:pPr>
            <a:r>
              <a:rPr sz="975" b="1">
                <a:solidFill>
                  <a:srgbClr val="288DC1"/>
                </a:solidFill>
                <a:latin typeface="Aptos"/>
                <a:ea typeface="Aptos"/>
                <a:cs typeface="Aptos"/>
              </a:rPr>
              <a:t>LIVE DEMO</a:t>
            </a:r>
          </a:p>
        </p:txBody>
      </p:sp>
      <p:sp>
        <p:nvSpPr>
          <p:cNvPr id="4" name="">
            <a:extLst xmlns:a="http://schemas.openxmlformats.org/drawingml/2006/main">
              <a:ext uri="{FF2B5EF4-FFF2-40B4-BE49-F238E27FC236}">
                <a16:creationId xmlns:a16="http://schemas.microsoft.com/office/drawing/2014/main" id="{F4B1E95C-625D-4484-9B76-2E0423FDEAA4}"/>
              </a:ext>
            </a:extLst>
          </p:cNvPr>
          <p:cNvSpPr>
            <a:spLocks xmlns:a="http://schemas.openxmlformats.org/drawingml/2006/main" noGrp="1"/>
          </p:cNvSpPr>
          <p:nvPr/>
        </p:nvSpPr>
        <p:spPr>
          <a:xfrm xmlns:a="http://schemas.openxmlformats.org/drawingml/2006/main">
            <a:off x="1200150" y="1162050"/>
            <a:ext cx="9791700" cy="4914900"/>
          </a:xfrm>
          <a:prstGeom xmlns:a="http://schemas.openxmlformats.org/drawingml/2006/main" prst="roundRect">
            <a:avLst>
              <a:gd name="adj" fmla="val 4651"/>
            </a:avLst>
          </a:prstGeom>
          <a:solidFill xmlns:a="http://schemas.openxmlformats.org/drawingml/2006/main">
            <a:srgbClr val="FFF8EA">
              <a:alpha val="60000"/>
            </a:srgbClr>
          </a:solidFill>
          <a:ln xmlns:a="http://schemas.openxmlformats.org/drawingml/2006/main" w="28575">
            <a:solidFill>
              <a:srgbClr val="288DC1"/>
            </a:solidFill>
            <a:prstDash val="solid"/>
          </a:ln>
        </p:spPr>
      </p:sp>
      <p:sp>
        <p:nvSpPr>
          <p:cNvPr id="5" name="">
            <a:extLst xmlns:a="http://schemas.openxmlformats.org/drawingml/2006/main">
              <a:ext uri="{FF2B5EF4-FFF2-40B4-BE49-F238E27FC236}">
                <a16:creationId xmlns:a16="http://schemas.microsoft.com/office/drawing/2014/main" id="{534BC239-29BC-4627-A500-F5AFE8366E91}"/>
              </a:ext>
            </a:extLst>
          </p:cNvPr>
          <p:cNvSpPr>
            <a:spLocks xmlns:a="http://schemas.openxmlformats.org/drawingml/2006/main" noGrp="1"/>
          </p:cNvSpPr>
          <p:nvPr/>
        </p:nvSpPr>
        <p:spPr>
          <a:xfrm xmlns:a="http://schemas.openxmlformats.org/drawingml/2006/main">
            <a:off x="2857500" y="3028950"/>
            <a:ext cx="647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1">
                <a:solidFill>
                  <a:srgbClr val="102A43"/>
                </a:solidFill>
                <a:latin typeface="Aptos"/>
                <a:ea typeface="Aptos"/>
                <a:cs typeface="Aptos"/>
              </a:defRPr>
            </a:pPr>
            <a:r>
              <a:rPr sz="2550" b="1">
                <a:solidFill>
                  <a:srgbClr val="102A43"/>
                </a:solidFill>
                <a:latin typeface="Aptos"/>
                <a:ea typeface="Aptos"/>
                <a:cs typeface="Aptos"/>
              </a:rPr>
              <a:t>DROP RECORDED DEMO HERE</a:t>
            </a:r>
          </a:p>
        </p:txBody>
      </p:sp>
      <p:sp>
        <p:nvSpPr>
          <p:cNvPr id="6" name="">
            <a:extLst xmlns:a="http://schemas.openxmlformats.org/drawingml/2006/main">
              <a:ext uri="{FF2B5EF4-FFF2-40B4-BE49-F238E27FC236}">
                <a16:creationId xmlns:a16="http://schemas.microsoft.com/office/drawing/2014/main" id="{044621E9-97AC-445C-824E-8516E7470198}"/>
              </a:ext>
            </a:extLst>
          </p:cNvPr>
          <p:cNvSpPr>
            <a:spLocks xmlns:a="http://schemas.openxmlformats.org/drawingml/2006/main" noGrp="1"/>
          </p:cNvSpPr>
          <p:nvPr/>
        </p:nvSpPr>
        <p:spPr>
          <a:xfrm xmlns:a="http://schemas.openxmlformats.org/drawingml/2006/main">
            <a:off x="2667000" y="371475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a:solidFill>
                  <a:srgbClr val="4B687A"/>
                </a:solidFill>
                <a:latin typeface="Aptos"/>
                <a:ea typeface="Aptos"/>
                <a:cs typeface="Aptos"/>
              </a:defRPr>
            </a:pPr>
            <a:r>
              <a:rPr sz="1200" b="0">
                <a:solidFill>
                  <a:srgbClr val="4B687A"/>
                </a:solidFill>
                <a:latin typeface="Aptos"/>
                <a:ea typeface="Aptos"/>
                <a:cs typeface="Aptos"/>
              </a:rPr>
              <a:t>disclosure · grounded answer · interruption · action · decision trace</a:t>
            </a:r>
          </a:p>
        </p:txBody>
      </p:sp>
      <p:sp>
        <p:nvSpPr>
          <p:cNvPr id="7" name="">
            <a:extLst xmlns:a="http://schemas.openxmlformats.org/drawingml/2006/main">
              <a:ext uri="{FF2B5EF4-FFF2-40B4-BE49-F238E27FC236}">
                <a16:creationId xmlns:a16="http://schemas.microsoft.com/office/drawing/2014/main" id="{1DF5A2BE-DB9B-4015-8C0F-FD7CD7E539DF}"/>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Recorded Aira session</a:t>
            </a:r>
          </a:p>
        </p:txBody>
      </p:sp>
    </p:spTree>
    <p:extLst>
      <p:ext uri="{BB962C8B-B14F-4D97-AF65-F5344CB8AC3E}">
        <p14:creationId xmlns:p14="http://schemas.microsoft.com/office/powerpoint/2010/main" val="10633799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0e283c3cd146485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10141C-D0A4-49F7-B640-4CD0E7B54E4D}"/>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D29BE133-22FA-4621-859F-83467C52DC29}"/>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10</a:t>
            </a:r>
          </a:p>
        </p:txBody>
      </p:sp>
      <p:sp>
        <p:nvSpPr>
          <p:cNvPr id="4" name="">
            <a:extLst xmlns:a="http://schemas.openxmlformats.org/drawingml/2006/main">
              <a:ext uri="{FF2B5EF4-FFF2-40B4-BE49-F238E27FC236}">
                <a16:creationId xmlns:a16="http://schemas.microsoft.com/office/drawing/2014/main" id="{15A673CA-9E59-4ADD-920B-1999E38573E2}"/>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1714A646-7525-4F15-8666-C74CA4D53CA5}"/>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Speech quality is product quality</a:t>
            </a:r>
          </a:p>
        </p:txBody>
      </p:sp>
      <p:sp>
        <p:nvSpPr>
          <p:cNvPr id="6" name="">
            <a:extLst xmlns:a="http://schemas.openxmlformats.org/drawingml/2006/main">
              <a:ext uri="{FF2B5EF4-FFF2-40B4-BE49-F238E27FC236}">
                <a16:creationId xmlns:a16="http://schemas.microsoft.com/office/drawing/2014/main" id="{E17F9C06-77A0-4D52-A797-8E6934F43760}"/>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286D1193-05D7-45E9-AA93-99CFD62EDEB8}"/>
              </a:ext>
            </a:extLst>
          </p:cNvPr>
          <p:cNvSpPr>
            <a:spLocks xmlns:a="http://schemas.openxmlformats.org/drawingml/2006/main" noGrp="1"/>
          </p:cNvSpPr>
          <p:nvPr/>
        </p:nvSpPr>
        <p:spPr>
          <a:xfrm xmlns:a="http://schemas.openxmlformats.org/drawingml/2006/main">
            <a:off x="857250" y="18859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88DC1"/>
                </a:solidFill>
                <a:latin typeface="Aptos"/>
                <a:ea typeface="Aptos"/>
                <a:cs typeface="Aptos"/>
              </a:defRPr>
            </a:pPr>
            <a:r>
              <a:rPr sz="900" b="1">
                <a:solidFill>
                  <a:srgbClr val="288DC1"/>
                </a:solidFill>
                <a:latin typeface="Aptos"/>
                <a:ea typeface="Aptos"/>
                <a:cs typeface="Aptos"/>
              </a:rPr>
              <a:t>MEANING IN</a:t>
            </a:r>
          </a:p>
        </p:txBody>
      </p:sp>
      <p:sp>
        <p:nvSpPr>
          <p:cNvPr id="8" name="">
            <a:extLst xmlns:a="http://schemas.openxmlformats.org/drawingml/2006/main">
              <a:ext uri="{FF2B5EF4-FFF2-40B4-BE49-F238E27FC236}">
                <a16:creationId xmlns:a16="http://schemas.microsoft.com/office/drawing/2014/main" id="{82078F11-45AA-4FD8-81C6-017A20724814}"/>
              </a:ext>
            </a:extLst>
          </p:cNvPr>
          <p:cNvSpPr>
            <a:spLocks xmlns:a="http://schemas.openxmlformats.org/drawingml/2006/main" noGrp="1"/>
          </p:cNvSpPr>
          <p:nvPr/>
        </p:nvSpPr>
        <p:spPr>
          <a:xfrm xmlns:a="http://schemas.openxmlformats.org/drawingml/2006/main">
            <a:off x="9048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9" name="">
            <a:extLst xmlns:a="http://schemas.openxmlformats.org/drawingml/2006/main">
              <a:ext uri="{FF2B5EF4-FFF2-40B4-BE49-F238E27FC236}">
                <a16:creationId xmlns:a16="http://schemas.microsoft.com/office/drawing/2014/main" id="{B38535DF-C890-41F0-B4C1-993E2A7CA5AE}"/>
              </a:ext>
            </a:extLst>
          </p:cNvPr>
          <p:cNvSpPr>
            <a:spLocks xmlns:a="http://schemas.openxmlformats.org/drawingml/2006/main" noGrp="1"/>
          </p:cNvSpPr>
          <p:nvPr/>
        </p:nvSpPr>
        <p:spPr>
          <a:xfrm xmlns:a="http://schemas.openxmlformats.org/drawingml/2006/main">
            <a:off x="11715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0" name="">
            <a:extLst xmlns:a="http://schemas.openxmlformats.org/drawingml/2006/main">
              <a:ext uri="{FF2B5EF4-FFF2-40B4-BE49-F238E27FC236}">
                <a16:creationId xmlns:a16="http://schemas.microsoft.com/office/drawing/2014/main" id="{12CD3238-90EE-4103-8C33-FB9E44398E91}"/>
              </a:ext>
            </a:extLst>
          </p:cNvPr>
          <p:cNvSpPr>
            <a:spLocks xmlns:a="http://schemas.openxmlformats.org/drawingml/2006/main" noGrp="1"/>
          </p:cNvSpPr>
          <p:nvPr/>
        </p:nvSpPr>
        <p:spPr>
          <a:xfrm xmlns:a="http://schemas.openxmlformats.org/drawingml/2006/main">
            <a:off x="14382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1" name="">
            <a:extLst xmlns:a="http://schemas.openxmlformats.org/drawingml/2006/main">
              <a:ext uri="{FF2B5EF4-FFF2-40B4-BE49-F238E27FC236}">
                <a16:creationId xmlns:a16="http://schemas.microsoft.com/office/drawing/2014/main" id="{DE1200E9-385D-4B9D-BEBA-A6064D8E4D0F}"/>
              </a:ext>
            </a:extLst>
          </p:cNvPr>
          <p:cNvSpPr>
            <a:spLocks xmlns:a="http://schemas.openxmlformats.org/drawingml/2006/main" noGrp="1"/>
          </p:cNvSpPr>
          <p:nvPr/>
        </p:nvSpPr>
        <p:spPr>
          <a:xfrm xmlns:a="http://schemas.openxmlformats.org/drawingml/2006/main">
            <a:off x="17049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2" name="">
            <a:extLst xmlns:a="http://schemas.openxmlformats.org/drawingml/2006/main">
              <a:ext uri="{FF2B5EF4-FFF2-40B4-BE49-F238E27FC236}">
                <a16:creationId xmlns:a16="http://schemas.microsoft.com/office/drawing/2014/main" id="{261BF243-F000-471C-A137-1A4D89EC4BDF}"/>
              </a:ext>
            </a:extLst>
          </p:cNvPr>
          <p:cNvSpPr>
            <a:spLocks xmlns:a="http://schemas.openxmlformats.org/drawingml/2006/main" noGrp="1"/>
          </p:cNvSpPr>
          <p:nvPr/>
        </p:nvSpPr>
        <p:spPr>
          <a:xfrm xmlns:a="http://schemas.openxmlformats.org/drawingml/2006/main">
            <a:off x="19716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3" name="">
            <a:extLst xmlns:a="http://schemas.openxmlformats.org/drawingml/2006/main">
              <a:ext uri="{FF2B5EF4-FFF2-40B4-BE49-F238E27FC236}">
                <a16:creationId xmlns:a16="http://schemas.microsoft.com/office/drawing/2014/main" id="{BCCA332A-675D-451C-89B6-E56C8A4FDCA6}"/>
              </a:ext>
            </a:extLst>
          </p:cNvPr>
          <p:cNvSpPr>
            <a:spLocks xmlns:a="http://schemas.openxmlformats.org/drawingml/2006/main" noGrp="1"/>
          </p:cNvSpPr>
          <p:nvPr/>
        </p:nvSpPr>
        <p:spPr>
          <a:xfrm xmlns:a="http://schemas.openxmlformats.org/drawingml/2006/main">
            <a:off x="22383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4" name="">
            <a:extLst xmlns:a="http://schemas.openxmlformats.org/drawingml/2006/main">
              <a:ext uri="{FF2B5EF4-FFF2-40B4-BE49-F238E27FC236}">
                <a16:creationId xmlns:a16="http://schemas.microsoft.com/office/drawing/2014/main" id="{F7795D35-A296-4CDE-AD07-CB71AA8F452E}"/>
              </a:ext>
            </a:extLst>
          </p:cNvPr>
          <p:cNvSpPr>
            <a:spLocks xmlns:a="http://schemas.openxmlformats.org/drawingml/2006/main" noGrp="1"/>
          </p:cNvSpPr>
          <p:nvPr/>
        </p:nvSpPr>
        <p:spPr>
          <a:xfrm xmlns:a="http://schemas.openxmlformats.org/drawingml/2006/main">
            <a:off x="25050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5" name="">
            <a:extLst xmlns:a="http://schemas.openxmlformats.org/drawingml/2006/main">
              <a:ext uri="{FF2B5EF4-FFF2-40B4-BE49-F238E27FC236}">
                <a16:creationId xmlns:a16="http://schemas.microsoft.com/office/drawing/2014/main" id="{8DB23974-457D-4B63-89C8-18DFF1FD6F12}"/>
              </a:ext>
            </a:extLst>
          </p:cNvPr>
          <p:cNvSpPr>
            <a:spLocks xmlns:a="http://schemas.openxmlformats.org/drawingml/2006/main" noGrp="1"/>
          </p:cNvSpPr>
          <p:nvPr/>
        </p:nvSpPr>
        <p:spPr>
          <a:xfrm xmlns:a="http://schemas.openxmlformats.org/drawingml/2006/main">
            <a:off x="27717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6" name="">
            <a:extLst xmlns:a="http://schemas.openxmlformats.org/drawingml/2006/main">
              <a:ext uri="{FF2B5EF4-FFF2-40B4-BE49-F238E27FC236}">
                <a16:creationId xmlns:a16="http://schemas.microsoft.com/office/drawing/2014/main" id="{AF8E7A8B-6CE0-4305-A643-7BED8D5E37C5}"/>
              </a:ext>
            </a:extLst>
          </p:cNvPr>
          <p:cNvSpPr>
            <a:spLocks xmlns:a="http://schemas.openxmlformats.org/drawingml/2006/main" noGrp="1"/>
          </p:cNvSpPr>
          <p:nvPr/>
        </p:nvSpPr>
        <p:spPr>
          <a:xfrm xmlns:a="http://schemas.openxmlformats.org/drawingml/2006/main">
            <a:off x="30384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7" name="">
            <a:extLst xmlns:a="http://schemas.openxmlformats.org/drawingml/2006/main">
              <a:ext uri="{FF2B5EF4-FFF2-40B4-BE49-F238E27FC236}">
                <a16:creationId xmlns:a16="http://schemas.microsoft.com/office/drawing/2014/main" id="{0CD1ADA6-3EDD-4FDE-87E7-3ABD8F05FB13}"/>
              </a:ext>
            </a:extLst>
          </p:cNvPr>
          <p:cNvSpPr>
            <a:spLocks xmlns:a="http://schemas.openxmlformats.org/drawingml/2006/main" noGrp="1"/>
          </p:cNvSpPr>
          <p:nvPr/>
        </p:nvSpPr>
        <p:spPr>
          <a:xfrm xmlns:a="http://schemas.openxmlformats.org/drawingml/2006/main">
            <a:off x="33051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8" name="">
            <a:extLst xmlns:a="http://schemas.openxmlformats.org/drawingml/2006/main">
              <a:ext uri="{FF2B5EF4-FFF2-40B4-BE49-F238E27FC236}">
                <a16:creationId xmlns:a16="http://schemas.microsoft.com/office/drawing/2014/main" id="{120290CD-A455-49EF-965A-D088AC4E03D8}"/>
              </a:ext>
            </a:extLst>
          </p:cNvPr>
          <p:cNvSpPr>
            <a:spLocks xmlns:a="http://schemas.openxmlformats.org/drawingml/2006/main" noGrp="1"/>
          </p:cNvSpPr>
          <p:nvPr/>
        </p:nvSpPr>
        <p:spPr>
          <a:xfrm xmlns:a="http://schemas.openxmlformats.org/drawingml/2006/main">
            <a:off x="35718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9" name="">
            <a:extLst xmlns:a="http://schemas.openxmlformats.org/drawingml/2006/main">
              <a:ext uri="{FF2B5EF4-FFF2-40B4-BE49-F238E27FC236}">
                <a16:creationId xmlns:a16="http://schemas.microsoft.com/office/drawing/2014/main" id="{CD5A3581-AB8B-43F5-896C-A16535CD51F8}"/>
              </a:ext>
            </a:extLst>
          </p:cNvPr>
          <p:cNvSpPr>
            <a:spLocks xmlns:a="http://schemas.openxmlformats.org/drawingml/2006/main" noGrp="1"/>
          </p:cNvSpPr>
          <p:nvPr/>
        </p:nvSpPr>
        <p:spPr>
          <a:xfrm xmlns:a="http://schemas.openxmlformats.org/drawingml/2006/main">
            <a:off x="38385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0" name="">
            <a:extLst xmlns:a="http://schemas.openxmlformats.org/drawingml/2006/main">
              <a:ext uri="{FF2B5EF4-FFF2-40B4-BE49-F238E27FC236}">
                <a16:creationId xmlns:a16="http://schemas.microsoft.com/office/drawing/2014/main" id="{BA21E200-DFC0-4B92-B668-11C01B774DA1}"/>
              </a:ext>
            </a:extLst>
          </p:cNvPr>
          <p:cNvSpPr>
            <a:spLocks xmlns:a="http://schemas.openxmlformats.org/drawingml/2006/main" noGrp="1"/>
          </p:cNvSpPr>
          <p:nvPr/>
        </p:nvSpPr>
        <p:spPr>
          <a:xfrm xmlns:a="http://schemas.openxmlformats.org/drawingml/2006/main">
            <a:off x="41052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1" name="">
            <a:extLst xmlns:a="http://schemas.openxmlformats.org/drawingml/2006/main">
              <a:ext uri="{FF2B5EF4-FFF2-40B4-BE49-F238E27FC236}">
                <a16:creationId xmlns:a16="http://schemas.microsoft.com/office/drawing/2014/main" id="{233922D0-B479-44EC-B464-433324317061}"/>
              </a:ext>
            </a:extLst>
          </p:cNvPr>
          <p:cNvSpPr>
            <a:spLocks xmlns:a="http://schemas.openxmlformats.org/drawingml/2006/main" noGrp="1"/>
          </p:cNvSpPr>
          <p:nvPr/>
        </p:nvSpPr>
        <p:spPr>
          <a:xfrm xmlns:a="http://schemas.openxmlformats.org/drawingml/2006/main">
            <a:off x="43719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2" name="">
            <a:extLst xmlns:a="http://schemas.openxmlformats.org/drawingml/2006/main">
              <a:ext uri="{FF2B5EF4-FFF2-40B4-BE49-F238E27FC236}">
                <a16:creationId xmlns:a16="http://schemas.microsoft.com/office/drawing/2014/main" id="{DE897A7A-4A55-47BB-A64E-E1C816112493}"/>
              </a:ext>
            </a:extLst>
          </p:cNvPr>
          <p:cNvSpPr>
            <a:spLocks xmlns:a="http://schemas.openxmlformats.org/drawingml/2006/main" noGrp="1"/>
          </p:cNvSpPr>
          <p:nvPr/>
        </p:nvSpPr>
        <p:spPr>
          <a:xfrm xmlns:a="http://schemas.openxmlformats.org/drawingml/2006/main">
            <a:off x="46386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3" name="">
            <a:extLst xmlns:a="http://schemas.openxmlformats.org/drawingml/2006/main">
              <a:ext uri="{FF2B5EF4-FFF2-40B4-BE49-F238E27FC236}">
                <a16:creationId xmlns:a16="http://schemas.microsoft.com/office/drawing/2014/main" id="{CB0FAF7D-BAA9-466D-829F-922F58FB60AA}"/>
              </a:ext>
            </a:extLst>
          </p:cNvPr>
          <p:cNvSpPr>
            <a:spLocks xmlns:a="http://schemas.openxmlformats.org/drawingml/2006/main" noGrp="1"/>
          </p:cNvSpPr>
          <p:nvPr/>
        </p:nvSpPr>
        <p:spPr>
          <a:xfrm xmlns:a="http://schemas.openxmlformats.org/drawingml/2006/main">
            <a:off x="49053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4" name="">
            <a:extLst xmlns:a="http://schemas.openxmlformats.org/drawingml/2006/main">
              <a:ext uri="{FF2B5EF4-FFF2-40B4-BE49-F238E27FC236}">
                <a16:creationId xmlns:a16="http://schemas.microsoft.com/office/drawing/2014/main" id="{E1D7F8B6-72C2-496B-8765-579515E80ED7}"/>
              </a:ext>
            </a:extLst>
          </p:cNvPr>
          <p:cNvSpPr>
            <a:spLocks xmlns:a="http://schemas.openxmlformats.org/drawingml/2006/main" noGrp="1"/>
          </p:cNvSpPr>
          <p:nvPr/>
        </p:nvSpPr>
        <p:spPr>
          <a:xfrm xmlns:a="http://schemas.openxmlformats.org/drawingml/2006/main">
            <a:off x="51720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5" name="">
            <a:extLst xmlns:a="http://schemas.openxmlformats.org/drawingml/2006/main">
              <a:ext uri="{FF2B5EF4-FFF2-40B4-BE49-F238E27FC236}">
                <a16:creationId xmlns:a16="http://schemas.microsoft.com/office/drawing/2014/main" id="{B1B3FC20-F6B1-4737-8279-D05F8EDA9942}"/>
              </a:ext>
            </a:extLst>
          </p:cNvPr>
          <p:cNvSpPr>
            <a:spLocks xmlns:a="http://schemas.openxmlformats.org/drawingml/2006/main" noGrp="1"/>
          </p:cNvSpPr>
          <p:nvPr/>
        </p:nvSpPr>
        <p:spPr>
          <a:xfrm xmlns:a="http://schemas.openxmlformats.org/drawingml/2006/main">
            <a:off x="54387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6" name="">
            <a:extLst xmlns:a="http://schemas.openxmlformats.org/drawingml/2006/main">
              <a:ext uri="{FF2B5EF4-FFF2-40B4-BE49-F238E27FC236}">
                <a16:creationId xmlns:a16="http://schemas.microsoft.com/office/drawing/2014/main" id="{9541B2A6-BE9A-4B01-A85F-F0A6E2085617}"/>
              </a:ext>
            </a:extLst>
          </p:cNvPr>
          <p:cNvSpPr>
            <a:spLocks xmlns:a="http://schemas.openxmlformats.org/drawingml/2006/main" noGrp="1"/>
          </p:cNvSpPr>
          <p:nvPr/>
        </p:nvSpPr>
        <p:spPr>
          <a:xfrm xmlns:a="http://schemas.openxmlformats.org/drawingml/2006/main">
            <a:off x="57054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7" name="">
            <a:extLst xmlns:a="http://schemas.openxmlformats.org/drawingml/2006/main">
              <a:ext uri="{FF2B5EF4-FFF2-40B4-BE49-F238E27FC236}">
                <a16:creationId xmlns:a16="http://schemas.microsoft.com/office/drawing/2014/main" id="{57372D58-67FF-430E-BD92-8ECB6FB06807}"/>
              </a:ext>
            </a:extLst>
          </p:cNvPr>
          <p:cNvSpPr>
            <a:spLocks xmlns:a="http://schemas.openxmlformats.org/drawingml/2006/main" noGrp="1"/>
          </p:cNvSpPr>
          <p:nvPr/>
        </p:nvSpPr>
        <p:spPr>
          <a:xfrm xmlns:a="http://schemas.openxmlformats.org/drawingml/2006/main">
            <a:off x="59721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8" name="">
            <a:extLst xmlns:a="http://schemas.openxmlformats.org/drawingml/2006/main">
              <a:ext uri="{FF2B5EF4-FFF2-40B4-BE49-F238E27FC236}">
                <a16:creationId xmlns:a16="http://schemas.microsoft.com/office/drawing/2014/main" id="{CB0812A0-846C-4693-A49D-DF90EDF17C3B}"/>
              </a:ext>
            </a:extLst>
          </p:cNvPr>
          <p:cNvSpPr>
            <a:spLocks xmlns:a="http://schemas.openxmlformats.org/drawingml/2006/main" noGrp="1"/>
          </p:cNvSpPr>
          <p:nvPr/>
        </p:nvSpPr>
        <p:spPr>
          <a:xfrm xmlns:a="http://schemas.openxmlformats.org/drawingml/2006/main">
            <a:off x="62388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9" name="">
            <a:extLst xmlns:a="http://schemas.openxmlformats.org/drawingml/2006/main">
              <a:ext uri="{FF2B5EF4-FFF2-40B4-BE49-F238E27FC236}">
                <a16:creationId xmlns:a16="http://schemas.microsoft.com/office/drawing/2014/main" id="{CFEAC764-6F4F-45EF-AF2B-D500651A059C}"/>
              </a:ext>
            </a:extLst>
          </p:cNvPr>
          <p:cNvSpPr>
            <a:spLocks xmlns:a="http://schemas.openxmlformats.org/drawingml/2006/main" noGrp="1"/>
          </p:cNvSpPr>
          <p:nvPr/>
        </p:nvSpPr>
        <p:spPr>
          <a:xfrm xmlns:a="http://schemas.openxmlformats.org/drawingml/2006/main">
            <a:off x="65055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0" name="">
            <a:extLst xmlns:a="http://schemas.openxmlformats.org/drawingml/2006/main">
              <a:ext uri="{FF2B5EF4-FFF2-40B4-BE49-F238E27FC236}">
                <a16:creationId xmlns:a16="http://schemas.microsoft.com/office/drawing/2014/main" id="{E21058FB-EE04-47EA-9B47-49CEF7D92930}"/>
              </a:ext>
            </a:extLst>
          </p:cNvPr>
          <p:cNvSpPr>
            <a:spLocks xmlns:a="http://schemas.openxmlformats.org/drawingml/2006/main" noGrp="1"/>
          </p:cNvSpPr>
          <p:nvPr/>
        </p:nvSpPr>
        <p:spPr>
          <a:xfrm xmlns:a="http://schemas.openxmlformats.org/drawingml/2006/main">
            <a:off x="67722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1" name="">
            <a:extLst xmlns:a="http://schemas.openxmlformats.org/drawingml/2006/main">
              <a:ext uri="{FF2B5EF4-FFF2-40B4-BE49-F238E27FC236}">
                <a16:creationId xmlns:a16="http://schemas.microsoft.com/office/drawing/2014/main" id="{54CCF804-DF99-48B7-9F02-7DC39E48D995}"/>
              </a:ext>
            </a:extLst>
          </p:cNvPr>
          <p:cNvSpPr>
            <a:spLocks xmlns:a="http://schemas.openxmlformats.org/drawingml/2006/main" noGrp="1"/>
          </p:cNvSpPr>
          <p:nvPr/>
        </p:nvSpPr>
        <p:spPr>
          <a:xfrm xmlns:a="http://schemas.openxmlformats.org/drawingml/2006/main">
            <a:off x="70389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2" name="">
            <a:extLst xmlns:a="http://schemas.openxmlformats.org/drawingml/2006/main">
              <a:ext uri="{FF2B5EF4-FFF2-40B4-BE49-F238E27FC236}">
                <a16:creationId xmlns:a16="http://schemas.microsoft.com/office/drawing/2014/main" id="{ACC3A330-750B-453C-B0BA-D1EBEEBC49BD}"/>
              </a:ext>
            </a:extLst>
          </p:cNvPr>
          <p:cNvSpPr>
            <a:spLocks xmlns:a="http://schemas.openxmlformats.org/drawingml/2006/main" noGrp="1"/>
          </p:cNvSpPr>
          <p:nvPr/>
        </p:nvSpPr>
        <p:spPr>
          <a:xfrm xmlns:a="http://schemas.openxmlformats.org/drawingml/2006/main">
            <a:off x="73056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3" name="">
            <a:extLst xmlns:a="http://schemas.openxmlformats.org/drawingml/2006/main">
              <a:ext uri="{FF2B5EF4-FFF2-40B4-BE49-F238E27FC236}">
                <a16:creationId xmlns:a16="http://schemas.microsoft.com/office/drawing/2014/main" id="{9717330E-0AA9-4880-AC1A-23415EF54742}"/>
              </a:ext>
            </a:extLst>
          </p:cNvPr>
          <p:cNvSpPr>
            <a:spLocks xmlns:a="http://schemas.openxmlformats.org/drawingml/2006/main" noGrp="1"/>
          </p:cNvSpPr>
          <p:nvPr/>
        </p:nvSpPr>
        <p:spPr>
          <a:xfrm xmlns:a="http://schemas.openxmlformats.org/drawingml/2006/main">
            <a:off x="75723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4" name="">
            <a:extLst xmlns:a="http://schemas.openxmlformats.org/drawingml/2006/main">
              <a:ext uri="{FF2B5EF4-FFF2-40B4-BE49-F238E27FC236}">
                <a16:creationId xmlns:a16="http://schemas.microsoft.com/office/drawing/2014/main" id="{9B3BC91E-FC8B-4FF2-BC91-A8C7988BFE48}"/>
              </a:ext>
            </a:extLst>
          </p:cNvPr>
          <p:cNvSpPr>
            <a:spLocks xmlns:a="http://schemas.openxmlformats.org/drawingml/2006/main" noGrp="1"/>
          </p:cNvSpPr>
          <p:nvPr/>
        </p:nvSpPr>
        <p:spPr>
          <a:xfrm xmlns:a="http://schemas.openxmlformats.org/drawingml/2006/main">
            <a:off x="78390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5" name="">
            <a:extLst xmlns:a="http://schemas.openxmlformats.org/drawingml/2006/main">
              <a:ext uri="{FF2B5EF4-FFF2-40B4-BE49-F238E27FC236}">
                <a16:creationId xmlns:a16="http://schemas.microsoft.com/office/drawing/2014/main" id="{95613240-00DE-4828-A1A0-8C7F92A99771}"/>
              </a:ext>
            </a:extLst>
          </p:cNvPr>
          <p:cNvSpPr>
            <a:spLocks xmlns:a="http://schemas.openxmlformats.org/drawingml/2006/main" noGrp="1"/>
          </p:cNvSpPr>
          <p:nvPr/>
        </p:nvSpPr>
        <p:spPr>
          <a:xfrm xmlns:a="http://schemas.openxmlformats.org/drawingml/2006/main">
            <a:off x="81057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6" name="">
            <a:extLst xmlns:a="http://schemas.openxmlformats.org/drawingml/2006/main">
              <a:ext uri="{FF2B5EF4-FFF2-40B4-BE49-F238E27FC236}">
                <a16:creationId xmlns:a16="http://schemas.microsoft.com/office/drawing/2014/main" id="{40651805-8DB9-4B96-9B76-E89E940C07CD}"/>
              </a:ext>
            </a:extLst>
          </p:cNvPr>
          <p:cNvSpPr>
            <a:spLocks xmlns:a="http://schemas.openxmlformats.org/drawingml/2006/main" noGrp="1"/>
          </p:cNvSpPr>
          <p:nvPr/>
        </p:nvSpPr>
        <p:spPr>
          <a:xfrm xmlns:a="http://schemas.openxmlformats.org/drawingml/2006/main">
            <a:off x="83724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7" name="">
            <a:extLst xmlns:a="http://schemas.openxmlformats.org/drawingml/2006/main">
              <a:ext uri="{FF2B5EF4-FFF2-40B4-BE49-F238E27FC236}">
                <a16:creationId xmlns:a16="http://schemas.microsoft.com/office/drawing/2014/main" id="{CFB9BF43-8B6B-4E69-B373-05695131D171}"/>
              </a:ext>
            </a:extLst>
          </p:cNvPr>
          <p:cNvSpPr>
            <a:spLocks xmlns:a="http://schemas.openxmlformats.org/drawingml/2006/main" noGrp="1"/>
          </p:cNvSpPr>
          <p:nvPr/>
        </p:nvSpPr>
        <p:spPr>
          <a:xfrm xmlns:a="http://schemas.openxmlformats.org/drawingml/2006/main">
            <a:off x="86391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8" name="">
            <a:extLst xmlns:a="http://schemas.openxmlformats.org/drawingml/2006/main">
              <a:ext uri="{FF2B5EF4-FFF2-40B4-BE49-F238E27FC236}">
                <a16:creationId xmlns:a16="http://schemas.microsoft.com/office/drawing/2014/main" id="{0E142F71-14D2-47DD-BB5B-BE909A76AC2E}"/>
              </a:ext>
            </a:extLst>
          </p:cNvPr>
          <p:cNvSpPr>
            <a:spLocks xmlns:a="http://schemas.openxmlformats.org/drawingml/2006/main" noGrp="1"/>
          </p:cNvSpPr>
          <p:nvPr/>
        </p:nvSpPr>
        <p:spPr>
          <a:xfrm xmlns:a="http://schemas.openxmlformats.org/drawingml/2006/main">
            <a:off x="89058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9" name="">
            <a:extLst xmlns:a="http://schemas.openxmlformats.org/drawingml/2006/main">
              <a:ext uri="{FF2B5EF4-FFF2-40B4-BE49-F238E27FC236}">
                <a16:creationId xmlns:a16="http://schemas.microsoft.com/office/drawing/2014/main" id="{6A523333-AB6B-4D22-A89B-AC1B63CA61A4}"/>
              </a:ext>
            </a:extLst>
          </p:cNvPr>
          <p:cNvSpPr>
            <a:spLocks xmlns:a="http://schemas.openxmlformats.org/drawingml/2006/main" noGrp="1"/>
          </p:cNvSpPr>
          <p:nvPr/>
        </p:nvSpPr>
        <p:spPr>
          <a:xfrm xmlns:a="http://schemas.openxmlformats.org/drawingml/2006/main">
            <a:off x="91725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40" name="">
            <a:extLst xmlns:a="http://schemas.openxmlformats.org/drawingml/2006/main">
              <a:ext uri="{FF2B5EF4-FFF2-40B4-BE49-F238E27FC236}">
                <a16:creationId xmlns:a16="http://schemas.microsoft.com/office/drawing/2014/main" id="{AE7B19EA-311E-4866-A7DC-392D754A4546}"/>
              </a:ext>
            </a:extLst>
          </p:cNvPr>
          <p:cNvSpPr>
            <a:spLocks xmlns:a="http://schemas.openxmlformats.org/drawingml/2006/main" noGrp="1"/>
          </p:cNvSpPr>
          <p:nvPr/>
        </p:nvSpPr>
        <p:spPr>
          <a:xfrm xmlns:a="http://schemas.openxmlformats.org/drawingml/2006/main">
            <a:off x="94392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41" name="">
            <a:extLst xmlns:a="http://schemas.openxmlformats.org/drawingml/2006/main">
              <a:ext uri="{FF2B5EF4-FFF2-40B4-BE49-F238E27FC236}">
                <a16:creationId xmlns:a16="http://schemas.microsoft.com/office/drawing/2014/main" id="{2E7DA88F-A411-468F-A364-8774BD152A51}"/>
              </a:ext>
            </a:extLst>
          </p:cNvPr>
          <p:cNvSpPr>
            <a:spLocks xmlns:a="http://schemas.openxmlformats.org/drawingml/2006/main" noGrp="1"/>
          </p:cNvSpPr>
          <p:nvPr/>
        </p:nvSpPr>
        <p:spPr>
          <a:xfrm xmlns:a="http://schemas.openxmlformats.org/drawingml/2006/main">
            <a:off x="97059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42" name="">
            <a:extLst xmlns:a="http://schemas.openxmlformats.org/drawingml/2006/main">
              <a:ext uri="{FF2B5EF4-FFF2-40B4-BE49-F238E27FC236}">
                <a16:creationId xmlns:a16="http://schemas.microsoft.com/office/drawing/2014/main" id="{86D05629-1FB8-43FD-808E-A5E83FA98B69}"/>
              </a:ext>
            </a:extLst>
          </p:cNvPr>
          <p:cNvSpPr>
            <a:spLocks xmlns:a="http://schemas.openxmlformats.org/drawingml/2006/main" noGrp="1"/>
          </p:cNvSpPr>
          <p:nvPr/>
        </p:nvSpPr>
        <p:spPr>
          <a:xfrm xmlns:a="http://schemas.openxmlformats.org/drawingml/2006/main">
            <a:off x="9972675" y="220027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43" name="">
            <a:extLst xmlns:a="http://schemas.openxmlformats.org/drawingml/2006/main">
              <a:ext uri="{FF2B5EF4-FFF2-40B4-BE49-F238E27FC236}">
                <a16:creationId xmlns:a16="http://schemas.microsoft.com/office/drawing/2014/main" id="{810FA788-0A73-498F-98BA-FE381B34C0BF}"/>
              </a:ext>
            </a:extLst>
          </p:cNvPr>
          <p:cNvSpPr>
            <a:spLocks xmlns:a="http://schemas.openxmlformats.org/drawingml/2006/main" noGrp="1"/>
          </p:cNvSpPr>
          <p:nvPr/>
        </p:nvSpPr>
        <p:spPr>
          <a:xfrm xmlns:a="http://schemas.openxmlformats.org/drawingml/2006/main">
            <a:off x="10239375" y="213360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44" name="">
            <a:extLst xmlns:a="http://schemas.openxmlformats.org/drawingml/2006/main">
              <a:ext uri="{FF2B5EF4-FFF2-40B4-BE49-F238E27FC236}">
                <a16:creationId xmlns:a16="http://schemas.microsoft.com/office/drawing/2014/main" id="{1A44AC72-5DC9-419E-9F15-3C1DAD189167}"/>
              </a:ext>
            </a:extLst>
          </p:cNvPr>
          <p:cNvSpPr>
            <a:spLocks xmlns:a="http://schemas.openxmlformats.org/drawingml/2006/main" noGrp="1"/>
          </p:cNvSpPr>
          <p:nvPr/>
        </p:nvSpPr>
        <p:spPr>
          <a:xfrm xmlns:a="http://schemas.openxmlformats.org/drawingml/2006/main">
            <a:off x="10506075" y="2333625"/>
            <a:ext cx="0" cy="95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45" name="">
            <a:extLst xmlns:a="http://schemas.openxmlformats.org/drawingml/2006/main">
              <a:ext uri="{FF2B5EF4-FFF2-40B4-BE49-F238E27FC236}">
                <a16:creationId xmlns:a16="http://schemas.microsoft.com/office/drawing/2014/main" id="{E0F467E6-D7C6-4DC0-B1EE-EA1E0307A153}"/>
              </a:ext>
            </a:extLst>
          </p:cNvPr>
          <p:cNvSpPr>
            <a:spLocks xmlns:a="http://schemas.openxmlformats.org/drawingml/2006/main" noGrp="1"/>
          </p:cNvSpPr>
          <p:nvPr/>
        </p:nvSpPr>
        <p:spPr>
          <a:xfrm xmlns:a="http://schemas.openxmlformats.org/drawingml/2006/main">
            <a:off x="10772775" y="226695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46" name="">
            <a:extLst xmlns:a="http://schemas.openxmlformats.org/drawingml/2006/main">
              <a:ext uri="{FF2B5EF4-FFF2-40B4-BE49-F238E27FC236}">
                <a16:creationId xmlns:a16="http://schemas.microsoft.com/office/drawing/2014/main" id="{831B0B1E-37B2-4569-9041-71907932FB54}"/>
              </a:ext>
            </a:extLst>
          </p:cNvPr>
          <p:cNvSpPr>
            <a:spLocks xmlns:a="http://schemas.openxmlformats.org/drawingml/2006/main" noGrp="1"/>
          </p:cNvSpPr>
          <p:nvPr/>
        </p:nvSpPr>
        <p:spPr>
          <a:xfrm xmlns:a="http://schemas.openxmlformats.org/drawingml/2006/main">
            <a:off x="1428750" y="2838450"/>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102A43"/>
                </a:solidFill>
                <a:latin typeface="Aptos"/>
                <a:ea typeface="Aptos"/>
                <a:cs typeface="Aptos"/>
              </a:defRPr>
            </a:pPr>
            <a:r>
              <a:rPr sz="1650" b="1">
                <a:solidFill>
                  <a:srgbClr val="102A43"/>
                </a:solidFill>
                <a:latin typeface="Aptos"/>
                <a:ea typeface="Aptos"/>
                <a:cs typeface="Aptos"/>
              </a:rPr>
              <a:t>If ASR misses the need, reasoning solves the wrong problem.</a:t>
            </a:r>
          </a:p>
        </p:txBody>
      </p:sp>
      <p:sp>
        <p:nvSpPr>
          <p:cNvPr id="47" name="">
            <a:extLst xmlns:a="http://schemas.openxmlformats.org/drawingml/2006/main">
              <a:ext uri="{FF2B5EF4-FFF2-40B4-BE49-F238E27FC236}">
                <a16:creationId xmlns:a16="http://schemas.microsoft.com/office/drawing/2014/main" id="{4F7AB093-F978-4150-BAF9-3D9437AA4DE7}"/>
              </a:ext>
            </a:extLst>
          </p:cNvPr>
          <p:cNvSpPr>
            <a:spLocks xmlns:a="http://schemas.openxmlformats.org/drawingml/2006/main" noGrp="1"/>
          </p:cNvSpPr>
          <p:nvPr/>
        </p:nvSpPr>
        <p:spPr>
          <a:xfrm xmlns:a="http://schemas.openxmlformats.org/drawingml/2006/main">
            <a:off x="857250" y="3838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68C82"/>
                </a:solidFill>
                <a:latin typeface="Aptos"/>
                <a:ea typeface="Aptos"/>
                <a:cs typeface="Aptos"/>
              </a:defRPr>
            </a:pPr>
            <a:r>
              <a:rPr sz="900" b="1">
                <a:solidFill>
                  <a:srgbClr val="268C82"/>
                </a:solidFill>
                <a:latin typeface="Aptos"/>
                <a:ea typeface="Aptos"/>
                <a:cs typeface="Aptos"/>
              </a:rPr>
              <a:t>TRUST OUT</a:t>
            </a:r>
          </a:p>
        </p:txBody>
      </p:sp>
      <p:sp>
        <p:nvSpPr>
          <p:cNvPr id="48" name="">
            <a:extLst xmlns:a="http://schemas.openxmlformats.org/drawingml/2006/main">
              <a:ext uri="{FF2B5EF4-FFF2-40B4-BE49-F238E27FC236}">
                <a16:creationId xmlns:a16="http://schemas.microsoft.com/office/drawing/2014/main" id="{41EB85EB-2F24-499B-8AD8-21AC8463E6CA}"/>
              </a:ext>
            </a:extLst>
          </p:cNvPr>
          <p:cNvSpPr>
            <a:spLocks xmlns:a="http://schemas.openxmlformats.org/drawingml/2006/main" noGrp="1"/>
          </p:cNvSpPr>
          <p:nvPr/>
        </p:nvSpPr>
        <p:spPr>
          <a:xfrm xmlns:a="http://schemas.openxmlformats.org/drawingml/2006/main">
            <a:off x="9048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49" name="">
            <a:extLst xmlns:a="http://schemas.openxmlformats.org/drawingml/2006/main">
              <a:ext uri="{FF2B5EF4-FFF2-40B4-BE49-F238E27FC236}">
                <a16:creationId xmlns:a16="http://schemas.microsoft.com/office/drawing/2014/main" id="{BD0C7CE5-1707-4E0B-A089-EA6676F760CB}"/>
              </a:ext>
            </a:extLst>
          </p:cNvPr>
          <p:cNvSpPr>
            <a:spLocks xmlns:a="http://schemas.openxmlformats.org/drawingml/2006/main" noGrp="1"/>
          </p:cNvSpPr>
          <p:nvPr/>
        </p:nvSpPr>
        <p:spPr>
          <a:xfrm xmlns:a="http://schemas.openxmlformats.org/drawingml/2006/main">
            <a:off x="11715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0" name="">
            <a:extLst xmlns:a="http://schemas.openxmlformats.org/drawingml/2006/main">
              <a:ext uri="{FF2B5EF4-FFF2-40B4-BE49-F238E27FC236}">
                <a16:creationId xmlns:a16="http://schemas.microsoft.com/office/drawing/2014/main" id="{337E7115-03B8-403C-95C5-13E8E7615E58}"/>
              </a:ext>
            </a:extLst>
          </p:cNvPr>
          <p:cNvSpPr>
            <a:spLocks xmlns:a="http://schemas.openxmlformats.org/drawingml/2006/main" noGrp="1"/>
          </p:cNvSpPr>
          <p:nvPr/>
        </p:nvSpPr>
        <p:spPr>
          <a:xfrm xmlns:a="http://schemas.openxmlformats.org/drawingml/2006/main">
            <a:off x="14382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1" name="">
            <a:extLst xmlns:a="http://schemas.openxmlformats.org/drawingml/2006/main">
              <a:ext uri="{FF2B5EF4-FFF2-40B4-BE49-F238E27FC236}">
                <a16:creationId xmlns:a16="http://schemas.microsoft.com/office/drawing/2014/main" id="{9416E951-E279-4927-8A4E-A09D96122DB4}"/>
              </a:ext>
            </a:extLst>
          </p:cNvPr>
          <p:cNvSpPr>
            <a:spLocks xmlns:a="http://schemas.openxmlformats.org/drawingml/2006/main" noGrp="1"/>
          </p:cNvSpPr>
          <p:nvPr/>
        </p:nvSpPr>
        <p:spPr>
          <a:xfrm xmlns:a="http://schemas.openxmlformats.org/drawingml/2006/main">
            <a:off x="17049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2" name="">
            <a:extLst xmlns:a="http://schemas.openxmlformats.org/drawingml/2006/main">
              <a:ext uri="{FF2B5EF4-FFF2-40B4-BE49-F238E27FC236}">
                <a16:creationId xmlns:a16="http://schemas.microsoft.com/office/drawing/2014/main" id="{848F2625-A284-4CEB-98BA-C4E5C4C4AC3D}"/>
              </a:ext>
            </a:extLst>
          </p:cNvPr>
          <p:cNvSpPr>
            <a:spLocks xmlns:a="http://schemas.openxmlformats.org/drawingml/2006/main" noGrp="1"/>
          </p:cNvSpPr>
          <p:nvPr/>
        </p:nvSpPr>
        <p:spPr>
          <a:xfrm xmlns:a="http://schemas.openxmlformats.org/drawingml/2006/main">
            <a:off x="19716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3" name="">
            <a:extLst xmlns:a="http://schemas.openxmlformats.org/drawingml/2006/main">
              <a:ext uri="{FF2B5EF4-FFF2-40B4-BE49-F238E27FC236}">
                <a16:creationId xmlns:a16="http://schemas.microsoft.com/office/drawing/2014/main" id="{4CB952ED-5164-4CD6-9720-3F1F78E9D411}"/>
              </a:ext>
            </a:extLst>
          </p:cNvPr>
          <p:cNvSpPr>
            <a:spLocks xmlns:a="http://schemas.openxmlformats.org/drawingml/2006/main" noGrp="1"/>
          </p:cNvSpPr>
          <p:nvPr/>
        </p:nvSpPr>
        <p:spPr>
          <a:xfrm xmlns:a="http://schemas.openxmlformats.org/drawingml/2006/main">
            <a:off x="22383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4" name="">
            <a:extLst xmlns:a="http://schemas.openxmlformats.org/drawingml/2006/main">
              <a:ext uri="{FF2B5EF4-FFF2-40B4-BE49-F238E27FC236}">
                <a16:creationId xmlns:a16="http://schemas.microsoft.com/office/drawing/2014/main" id="{B9C8552A-B3EB-4804-BB54-FA69007AA3E7}"/>
              </a:ext>
            </a:extLst>
          </p:cNvPr>
          <p:cNvSpPr>
            <a:spLocks xmlns:a="http://schemas.openxmlformats.org/drawingml/2006/main" noGrp="1"/>
          </p:cNvSpPr>
          <p:nvPr/>
        </p:nvSpPr>
        <p:spPr>
          <a:xfrm xmlns:a="http://schemas.openxmlformats.org/drawingml/2006/main">
            <a:off x="25050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5" name="">
            <a:extLst xmlns:a="http://schemas.openxmlformats.org/drawingml/2006/main">
              <a:ext uri="{FF2B5EF4-FFF2-40B4-BE49-F238E27FC236}">
                <a16:creationId xmlns:a16="http://schemas.microsoft.com/office/drawing/2014/main" id="{28DC4832-6850-4325-8F12-09C12822A4E8}"/>
              </a:ext>
            </a:extLst>
          </p:cNvPr>
          <p:cNvSpPr>
            <a:spLocks xmlns:a="http://schemas.openxmlformats.org/drawingml/2006/main" noGrp="1"/>
          </p:cNvSpPr>
          <p:nvPr/>
        </p:nvSpPr>
        <p:spPr>
          <a:xfrm xmlns:a="http://schemas.openxmlformats.org/drawingml/2006/main">
            <a:off x="27717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6" name="">
            <a:extLst xmlns:a="http://schemas.openxmlformats.org/drawingml/2006/main">
              <a:ext uri="{FF2B5EF4-FFF2-40B4-BE49-F238E27FC236}">
                <a16:creationId xmlns:a16="http://schemas.microsoft.com/office/drawing/2014/main" id="{1515393B-512A-424A-B1AB-8B746D72AA98}"/>
              </a:ext>
            </a:extLst>
          </p:cNvPr>
          <p:cNvSpPr>
            <a:spLocks xmlns:a="http://schemas.openxmlformats.org/drawingml/2006/main" noGrp="1"/>
          </p:cNvSpPr>
          <p:nvPr/>
        </p:nvSpPr>
        <p:spPr>
          <a:xfrm xmlns:a="http://schemas.openxmlformats.org/drawingml/2006/main">
            <a:off x="30384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7" name="">
            <a:extLst xmlns:a="http://schemas.openxmlformats.org/drawingml/2006/main">
              <a:ext uri="{FF2B5EF4-FFF2-40B4-BE49-F238E27FC236}">
                <a16:creationId xmlns:a16="http://schemas.microsoft.com/office/drawing/2014/main" id="{59E2E811-7684-4EC3-8F40-9C645F252128}"/>
              </a:ext>
            </a:extLst>
          </p:cNvPr>
          <p:cNvSpPr>
            <a:spLocks xmlns:a="http://schemas.openxmlformats.org/drawingml/2006/main" noGrp="1"/>
          </p:cNvSpPr>
          <p:nvPr/>
        </p:nvSpPr>
        <p:spPr>
          <a:xfrm xmlns:a="http://schemas.openxmlformats.org/drawingml/2006/main">
            <a:off x="33051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8" name="">
            <a:extLst xmlns:a="http://schemas.openxmlformats.org/drawingml/2006/main">
              <a:ext uri="{FF2B5EF4-FFF2-40B4-BE49-F238E27FC236}">
                <a16:creationId xmlns:a16="http://schemas.microsoft.com/office/drawing/2014/main" id="{3447D3F3-EE31-4072-8BE1-1C697C4C4B19}"/>
              </a:ext>
            </a:extLst>
          </p:cNvPr>
          <p:cNvSpPr>
            <a:spLocks xmlns:a="http://schemas.openxmlformats.org/drawingml/2006/main" noGrp="1"/>
          </p:cNvSpPr>
          <p:nvPr/>
        </p:nvSpPr>
        <p:spPr>
          <a:xfrm xmlns:a="http://schemas.openxmlformats.org/drawingml/2006/main">
            <a:off x="35718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59" name="">
            <a:extLst xmlns:a="http://schemas.openxmlformats.org/drawingml/2006/main">
              <a:ext uri="{FF2B5EF4-FFF2-40B4-BE49-F238E27FC236}">
                <a16:creationId xmlns:a16="http://schemas.microsoft.com/office/drawing/2014/main" id="{420849D8-B9E9-440F-9A15-98E016211FD1}"/>
              </a:ext>
            </a:extLst>
          </p:cNvPr>
          <p:cNvSpPr>
            <a:spLocks xmlns:a="http://schemas.openxmlformats.org/drawingml/2006/main" noGrp="1"/>
          </p:cNvSpPr>
          <p:nvPr/>
        </p:nvSpPr>
        <p:spPr>
          <a:xfrm xmlns:a="http://schemas.openxmlformats.org/drawingml/2006/main">
            <a:off x="38385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0" name="">
            <a:extLst xmlns:a="http://schemas.openxmlformats.org/drawingml/2006/main">
              <a:ext uri="{FF2B5EF4-FFF2-40B4-BE49-F238E27FC236}">
                <a16:creationId xmlns:a16="http://schemas.microsoft.com/office/drawing/2014/main" id="{52DC81CA-9AB7-4100-9DB2-121DAED0701E}"/>
              </a:ext>
            </a:extLst>
          </p:cNvPr>
          <p:cNvSpPr>
            <a:spLocks xmlns:a="http://schemas.openxmlformats.org/drawingml/2006/main" noGrp="1"/>
          </p:cNvSpPr>
          <p:nvPr/>
        </p:nvSpPr>
        <p:spPr>
          <a:xfrm xmlns:a="http://schemas.openxmlformats.org/drawingml/2006/main">
            <a:off x="41052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1" name="">
            <a:extLst xmlns:a="http://schemas.openxmlformats.org/drawingml/2006/main">
              <a:ext uri="{FF2B5EF4-FFF2-40B4-BE49-F238E27FC236}">
                <a16:creationId xmlns:a16="http://schemas.microsoft.com/office/drawing/2014/main" id="{5379BF21-3D42-4875-BC3F-5BB0A073CCA1}"/>
              </a:ext>
            </a:extLst>
          </p:cNvPr>
          <p:cNvSpPr>
            <a:spLocks xmlns:a="http://schemas.openxmlformats.org/drawingml/2006/main" noGrp="1"/>
          </p:cNvSpPr>
          <p:nvPr/>
        </p:nvSpPr>
        <p:spPr>
          <a:xfrm xmlns:a="http://schemas.openxmlformats.org/drawingml/2006/main">
            <a:off x="43719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2" name="">
            <a:extLst xmlns:a="http://schemas.openxmlformats.org/drawingml/2006/main">
              <a:ext uri="{FF2B5EF4-FFF2-40B4-BE49-F238E27FC236}">
                <a16:creationId xmlns:a16="http://schemas.microsoft.com/office/drawing/2014/main" id="{8DFEE508-69E3-4A14-99C1-7F7690E60927}"/>
              </a:ext>
            </a:extLst>
          </p:cNvPr>
          <p:cNvSpPr>
            <a:spLocks xmlns:a="http://schemas.openxmlformats.org/drawingml/2006/main" noGrp="1"/>
          </p:cNvSpPr>
          <p:nvPr/>
        </p:nvSpPr>
        <p:spPr>
          <a:xfrm xmlns:a="http://schemas.openxmlformats.org/drawingml/2006/main">
            <a:off x="46386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3" name="">
            <a:extLst xmlns:a="http://schemas.openxmlformats.org/drawingml/2006/main">
              <a:ext uri="{FF2B5EF4-FFF2-40B4-BE49-F238E27FC236}">
                <a16:creationId xmlns:a16="http://schemas.microsoft.com/office/drawing/2014/main" id="{32CE2660-0945-4904-ADA4-D79C707DCAA6}"/>
              </a:ext>
            </a:extLst>
          </p:cNvPr>
          <p:cNvSpPr>
            <a:spLocks xmlns:a="http://schemas.openxmlformats.org/drawingml/2006/main" noGrp="1"/>
          </p:cNvSpPr>
          <p:nvPr/>
        </p:nvSpPr>
        <p:spPr>
          <a:xfrm xmlns:a="http://schemas.openxmlformats.org/drawingml/2006/main">
            <a:off x="49053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4" name="">
            <a:extLst xmlns:a="http://schemas.openxmlformats.org/drawingml/2006/main">
              <a:ext uri="{FF2B5EF4-FFF2-40B4-BE49-F238E27FC236}">
                <a16:creationId xmlns:a16="http://schemas.microsoft.com/office/drawing/2014/main" id="{D4E26047-2275-4312-A00A-0D7F880E7012}"/>
              </a:ext>
            </a:extLst>
          </p:cNvPr>
          <p:cNvSpPr>
            <a:spLocks xmlns:a="http://schemas.openxmlformats.org/drawingml/2006/main" noGrp="1"/>
          </p:cNvSpPr>
          <p:nvPr/>
        </p:nvSpPr>
        <p:spPr>
          <a:xfrm xmlns:a="http://schemas.openxmlformats.org/drawingml/2006/main">
            <a:off x="51720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5" name="">
            <a:extLst xmlns:a="http://schemas.openxmlformats.org/drawingml/2006/main">
              <a:ext uri="{FF2B5EF4-FFF2-40B4-BE49-F238E27FC236}">
                <a16:creationId xmlns:a16="http://schemas.microsoft.com/office/drawing/2014/main" id="{97DE3053-4765-48D2-9F7B-86EBAA4627A0}"/>
              </a:ext>
            </a:extLst>
          </p:cNvPr>
          <p:cNvSpPr>
            <a:spLocks xmlns:a="http://schemas.openxmlformats.org/drawingml/2006/main" noGrp="1"/>
          </p:cNvSpPr>
          <p:nvPr/>
        </p:nvSpPr>
        <p:spPr>
          <a:xfrm xmlns:a="http://schemas.openxmlformats.org/drawingml/2006/main">
            <a:off x="54387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6" name="">
            <a:extLst xmlns:a="http://schemas.openxmlformats.org/drawingml/2006/main">
              <a:ext uri="{FF2B5EF4-FFF2-40B4-BE49-F238E27FC236}">
                <a16:creationId xmlns:a16="http://schemas.microsoft.com/office/drawing/2014/main" id="{78C5371F-28BF-46CF-BAE4-BA3840A11F81}"/>
              </a:ext>
            </a:extLst>
          </p:cNvPr>
          <p:cNvSpPr>
            <a:spLocks xmlns:a="http://schemas.openxmlformats.org/drawingml/2006/main" noGrp="1"/>
          </p:cNvSpPr>
          <p:nvPr/>
        </p:nvSpPr>
        <p:spPr>
          <a:xfrm xmlns:a="http://schemas.openxmlformats.org/drawingml/2006/main">
            <a:off x="57054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7" name="">
            <a:extLst xmlns:a="http://schemas.openxmlformats.org/drawingml/2006/main">
              <a:ext uri="{FF2B5EF4-FFF2-40B4-BE49-F238E27FC236}">
                <a16:creationId xmlns:a16="http://schemas.microsoft.com/office/drawing/2014/main" id="{F4D4E356-9C4A-4F2F-B710-2F316F22A79F}"/>
              </a:ext>
            </a:extLst>
          </p:cNvPr>
          <p:cNvSpPr>
            <a:spLocks xmlns:a="http://schemas.openxmlformats.org/drawingml/2006/main" noGrp="1"/>
          </p:cNvSpPr>
          <p:nvPr/>
        </p:nvSpPr>
        <p:spPr>
          <a:xfrm xmlns:a="http://schemas.openxmlformats.org/drawingml/2006/main">
            <a:off x="59721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8" name="">
            <a:extLst xmlns:a="http://schemas.openxmlformats.org/drawingml/2006/main">
              <a:ext uri="{FF2B5EF4-FFF2-40B4-BE49-F238E27FC236}">
                <a16:creationId xmlns:a16="http://schemas.microsoft.com/office/drawing/2014/main" id="{22E00689-044E-480C-A0EB-D2C94EC1B009}"/>
              </a:ext>
            </a:extLst>
          </p:cNvPr>
          <p:cNvSpPr>
            <a:spLocks xmlns:a="http://schemas.openxmlformats.org/drawingml/2006/main" noGrp="1"/>
          </p:cNvSpPr>
          <p:nvPr/>
        </p:nvSpPr>
        <p:spPr>
          <a:xfrm xmlns:a="http://schemas.openxmlformats.org/drawingml/2006/main">
            <a:off x="62388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69" name="">
            <a:extLst xmlns:a="http://schemas.openxmlformats.org/drawingml/2006/main">
              <a:ext uri="{FF2B5EF4-FFF2-40B4-BE49-F238E27FC236}">
                <a16:creationId xmlns:a16="http://schemas.microsoft.com/office/drawing/2014/main" id="{4405A27C-6EE1-430D-A9CD-0A5323C4FCFE}"/>
              </a:ext>
            </a:extLst>
          </p:cNvPr>
          <p:cNvSpPr>
            <a:spLocks xmlns:a="http://schemas.openxmlformats.org/drawingml/2006/main" noGrp="1"/>
          </p:cNvSpPr>
          <p:nvPr/>
        </p:nvSpPr>
        <p:spPr>
          <a:xfrm xmlns:a="http://schemas.openxmlformats.org/drawingml/2006/main">
            <a:off x="65055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0" name="">
            <a:extLst xmlns:a="http://schemas.openxmlformats.org/drawingml/2006/main">
              <a:ext uri="{FF2B5EF4-FFF2-40B4-BE49-F238E27FC236}">
                <a16:creationId xmlns:a16="http://schemas.microsoft.com/office/drawing/2014/main" id="{B5A03EDF-3F02-479A-A5B0-EA393F047249}"/>
              </a:ext>
            </a:extLst>
          </p:cNvPr>
          <p:cNvSpPr>
            <a:spLocks xmlns:a="http://schemas.openxmlformats.org/drawingml/2006/main" noGrp="1"/>
          </p:cNvSpPr>
          <p:nvPr/>
        </p:nvSpPr>
        <p:spPr>
          <a:xfrm xmlns:a="http://schemas.openxmlformats.org/drawingml/2006/main">
            <a:off x="67722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1" name="">
            <a:extLst xmlns:a="http://schemas.openxmlformats.org/drawingml/2006/main">
              <a:ext uri="{FF2B5EF4-FFF2-40B4-BE49-F238E27FC236}">
                <a16:creationId xmlns:a16="http://schemas.microsoft.com/office/drawing/2014/main" id="{CE6D508D-BD75-4360-AD61-7C70D68161A7}"/>
              </a:ext>
            </a:extLst>
          </p:cNvPr>
          <p:cNvSpPr>
            <a:spLocks xmlns:a="http://schemas.openxmlformats.org/drawingml/2006/main" noGrp="1"/>
          </p:cNvSpPr>
          <p:nvPr/>
        </p:nvSpPr>
        <p:spPr>
          <a:xfrm xmlns:a="http://schemas.openxmlformats.org/drawingml/2006/main">
            <a:off x="70389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2" name="">
            <a:extLst xmlns:a="http://schemas.openxmlformats.org/drawingml/2006/main">
              <a:ext uri="{FF2B5EF4-FFF2-40B4-BE49-F238E27FC236}">
                <a16:creationId xmlns:a16="http://schemas.microsoft.com/office/drawing/2014/main" id="{8DDE7149-2088-4F5F-AC88-D8300936CA42}"/>
              </a:ext>
            </a:extLst>
          </p:cNvPr>
          <p:cNvSpPr>
            <a:spLocks xmlns:a="http://schemas.openxmlformats.org/drawingml/2006/main" noGrp="1"/>
          </p:cNvSpPr>
          <p:nvPr/>
        </p:nvSpPr>
        <p:spPr>
          <a:xfrm xmlns:a="http://schemas.openxmlformats.org/drawingml/2006/main">
            <a:off x="73056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3" name="">
            <a:extLst xmlns:a="http://schemas.openxmlformats.org/drawingml/2006/main">
              <a:ext uri="{FF2B5EF4-FFF2-40B4-BE49-F238E27FC236}">
                <a16:creationId xmlns:a16="http://schemas.microsoft.com/office/drawing/2014/main" id="{0DCC4239-F184-4C69-80C7-CBACA531121A}"/>
              </a:ext>
            </a:extLst>
          </p:cNvPr>
          <p:cNvSpPr>
            <a:spLocks xmlns:a="http://schemas.openxmlformats.org/drawingml/2006/main" noGrp="1"/>
          </p:cNvSpPr>
          <p:nvPr/>
        </p:nvSpPr>
        <p:spPr>
          <a:xfrm xmlns:a="http://schemas.openxmlformats.org/drawingml/2006/main">
            <a:off x="75723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4" name="">
            <a:extLst xmlns:a="http://schemas.openxmlformats.org/drawingml/2006/main">
              <a:ext uri="{FF2B5EF4-FFF2-40B4-BE49-F238E27FC236}">
                <a16:creationId xmlns:a16="http://schemas.microsoft.com/office/drawing/2014/main" id="{646E515F-78F4-4BF0-ACE2-3408858550DD}"/>
              </a:ext>
            </a:extLst>
          </p:cNvPr>
          <p:cNvSpPr>
            <a:spLocks xmlns:a="http://schemas.openxmlformats.org/drawingml/2006/main" noGrp="1"/>
          </p:cNvSpPr>
          <p:nvPr/>
        </p:nvSpPr>
        <p:spPr>
          <a:xfrm xmlns:a="http://schemas.openxmlformats.org/drawingml/2006/main">
            <a:off x="78390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5" name="">
            <a:extLst xmlns:a="http://schemas.openxmlformats.org/drawingml/2006/main">
              <a:ext uri="{FF2B5EF4-FFF2-40B4-BE49-F238E27FC236}">
                <a16:creationId xmlns:a16="http://schemas.microsoft.com/office/drawing/2014/main" id="{D6F80CC3-029A-4402-95E2-7C06CC61EAB9}"/>
              </a:ext>
            </a:extLst>
          </p:cNvPr>
          <p:cNvSpPr>
            <a:spLocks xmlns:a="http://schemas.openxmlformats.org/drawingml/2006/main" noGrp="1"/>
          </p:cNvSpPr>
          <p:nvPr/>
        </p:nvSpPr>
        <p:spPr>
          <a:xfrm xmlns:a="http://schemas.openxmlformats.org/drawingml/2006/main">
            <a:off x="81057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6" name="">
            <a:extLst xmlns:a="http://schemas.openxmlformats.org/drawingml/2006/main">
              <a:ext uri="{FF2B5EF4-FFF2-40B4-BE49-F238E27FC236}">
                <a16:creationId xmlns:a16="http://schemas.microsoft.com/office/drawing/2014/main" id="{6D2A9F28-382D-4377-B2A3-2E59D5D2DC8A}"/>
              </a:ext>
            </a:extLst>
          </p:cNvPr>
          <p:cNvSpPr>
            <a:spLocks xmlns:a="http://schemas.openxmlformats.org/drawingml/2006/main" noGrp="1"/>
          </p:cNvSpPr>
          <p:nvPr/>
        </p:nvSpPr>
        <p:spPr>
          <a:xfrm xmlns:a="http://schemas.openxmlformats.org/drawingml/2006/main">
            <a:off x="83724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7" name="">
            <a:extLst xmlns:a="http://schemas.openxmlformats.org/drawingml/2006/main">
              <a:ext uri="{FF2B5EF4-FFF2-40B4-BE49-F238E27FC236}">
                <a16:creationId xmlns:a16="http://schemas.microsoft.com/office/drawing/2014/main" id="{64239ED5-F583-4A21-B139-142FB6D7D17F}"/>
              </a:ext>
            </a:extLst>
          </p:cNvPr>
          <p:cNvSpPr>
            <a:spLocks xmlns:a="http://schemas.openxmlformats.org/drawingml/2006/main" noGrp="1"/>
          </p:cNvSpPr>
          <p:nvPr/>
        </p:nvSpPr>
        <p:spPr>
          <a:xfrm xmlns:a="http://schemas.openxmlformats.org/drawingml/2006/main">
            <a:off x="86391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8" name="">
            <a:extLst xmlns:a="http://schemas.openxmlformats.org/drawingml/2006/main">
              <a:ext uri="{FF2B5EF4-FFF2-40B4-BE49-F238E27FC236}">
                <a16:creationId xmlns:a16="http://schemas.microsoft.com/office/drawing/2014/main" id="{D60F1F71-3441-4096-B57E-A84C12E33A7F}"/>
              </a:ext>
            </a:extLst>
          </p:cNvPr>
          <p:cNvSpPr>
            <a:spLocks xmlns:a="http://schemas.openxmlformats.org/drawingml/2006/main" noGrp="1"/>
          </p:cNvSpPr>
          <p:nvPr/>
        </p:nvSpPr>
        <p:spPr>
          <a:xfrm xmlns:a="http://schemas.openxmlformats.org/drawingml/2006/main">
            <a:off x="89058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79" name="">
            <a:extLst xmlns:a="http://schemas.openxmlformats.org/drawingml/2006/main">
              <a:ext uri="{FF2B5EF4-FFF2-40B4-BE49-F238E27FC236}">
                <a16:creationId xmlns:a16="http://schemas.microsoft.com/office/drawing/2014/main" id="{E4791726-96B4-41B6-9F3E-9EADD763131B}"/>
              </a:ext>
            </a:extLst>
          </p:cNvPr>
          <p:cNvSpPr>
            <a:spLocks xmlns:a="http://schemas.openxmlformats.org/drawingml/2006/main" noGrp="1"/>
          </p:cNvSpPr>
          <p:nvPr/>
        </p:nvSpPr>
        <p:spPr>
          <a:xfrm xmlns:a="http://schemas.openxmlformats.org/drawingml/2006/main">
            <a:off x="91725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80" name="">
            <a:extLst xmlns:a="http://schemas.openxmlformats.org/drawingml/2006/main">
              <a:ext uri="{FF2B5EF4-FFF2-40B4-BE49-F238E27FC236}">
                <a16:creationId xmlns:a16="http://schemas.microsoft.com/office/drawing/2014/main" id="{64D4DCCA-9AA6-4116-A8DE-A7E2FF1CC08E}"/>
              </a:ext>
            </a:extLst>
          </p:cNvPr>
          <p:cNvSpPr>
            <a:spLocks xmlns:a="http://schemas.openxmlformats.org/drawingml/2006/main" noGrp="1"/>
          </p:cNvSpPr>
          <p:nvPr/>
        </p:nvSpPr>
        <p:spPr>
          <a:xfrm xmlns:a="http://schemas.openxmlformats.org/drawingml/2006/main">
            <a:off x="94392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81" name="">
            <a:extLst xmlns:a="http://schemas.openxmlformats.org/drawingml/2006/main">
              <a:ext uri="{FF2B5EF4-FFF2-40B4-BE49-F238E27FC236}">
                <a16:creationId xmlns:a16="http://schemas.microsoft.com/office/drawing/2014/main" id="{5C83BCA7-024E-47C4-9C1A-E74C14F981EF}"/>
              </a:ext>
            </a:extLst>
          </p:cNvPr>
          <p:cNvSpPr>
            <a:spLocks xmlns:a="http://schemas.openxmlformats.org/drawingml/2006/main" noGrp="1"/>
          </p:cNvSpPr>
          <p:nvPr/>
        </p:nvSpPr>
        <p:spPr>
          <a:xfrm xmlns:a="http://schemas.openxmlformats.org/drawingml/2006/main">
            <a:off x="97059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82" name="">
            <a:extLst xmlns:a="http://schemas.openxmlformats.org/drawingml/2006/main">
              <a:ext uri="{FF2B5EF4-FFF2-40B4-BE49-F238E27FC236}">
                <a16:creationId xmlns:a16="http://schemas.microsoft.com/office/drawing/2014/main" id="{49DD5D81-0127-457F-AF3D-CBAB9232EC7F}"/>
              </a:ext>
            </a:extLst>
          </p:cNvPr>
          <p:cNvSpPr>
            <a:spLocks xmlns:a="http://schemas.openxmlformats.org/drawingml/2006/main" noGrp="1"/>
          </p:cNvSpPr>
          <p:nvPr/>
        </p:nvSpPr>
        <p:spPr>
          <a:xfrm xmlns:a="http://schemas.openxmlformats.org/drawingml/2006/main">
            <a:off x="9972675" y="4124325"/>
            <a:ext cx="0" cy="4191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83" name="">
            <a:extLst xmlns:a="http://schemas.openxmlformats.org/drawingml/2006/main">
              <a:ext uri="{FF2B5EF4-FFF2-40B4-BE49-F238E27FC236}">
                <a16:creationId xmlns:a16="http://schemas.microsoft.com/office/drawing/2014/main" id="{ADFAF4C8-EAEE-47B0-B3A7-DF933F87D216}"/>
              </a:ext>
            </a:extLst>
          </p:cNvPr>
          <p:cNvSpPr>
            <a:spLocks xmlns:a="http://schemas.openxmlformats.org/drawingml/2006/main" noGrp="1"/>
          </p:cNvSpPr>
          <p:nvPr/>
        </p:nvSpPr>
        <p:spPr>
          <a:xfrm xmlns:a="http://schemas.openxmlformats.org/drawingml/2006/main">
            <a:off x="10239375" y="4057650"/>
            <a:ext cx="0" cy="5524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84" name="">
            <a:extLst xmlns:a="http://schemas.openxmlformats.org/drawingml/2006/main">
              <a:ext uri="{FF2B5EF4-FFF2-40B4-BE49-F238E27FC236}">
                <a16:creationId xmlns:a16="http://schemas.microsoft.com/office/drawing/2014/main" id="{4DD0E0D0-5E55-4A1D-9C4D-A15672536BDE}"/>
              </a:ext>
            </a:extLst>
          </p:cNvPr>
          <p:cNvSpPr>
            <a:spLocks xmlns:a="http://schemas.openxmlformats.org/drawingml/2006/main" noGrp="1"/>
          </p:cNvSpPr>
          <p:nvPr/>
        </p:nvSpPr>
        <p:spPr>
          <a:xfrm xmlns:a="http://schemas.openxmlformats.org/drawingml/2006/main">
            <a:off x="10506075" y="4257675"/>
            <a:ext cx="0" cy="1524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85" name="">
            <a:extLst xmlns:a="http://schemas.openxmlformats.org/drawingml/2006/main">
              <a:ext uri="{FF2B5EF4-FFF2-40B4-BE49-F238E27FC236}">
                <a16:creationId xmlns:a16="http://schemas.microsoft.com/office/drawing/2014/main" id="{BD33196E-3C28-45D8-8C71-2E13D9CF204A}"/>
              </a:ext>
            </a:extLst>
          </p:cNvPr>
          <p:cNvSpPr>
            <a:spLocks xmlns:a="http://schemas.openxmlformats.org/drawingml/2006/main" noGrp="1"/>
          </p:cNvSpPr>
          <p:nvPr/>
        </p:nvSpPr>
        <p:spPr>
          <a:xfrm xmlns:a="http://schemas.openxmlformats.org/drawingml/2006/main">
            <a:off x="10772775" y="4191000"/>
            <a:ext cx="0" cy="28575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86" name="">
            <a:extLst xmlns:a="http://schemas.openxmlformats.org/drawingml/2006/main">
              <a:ext uri="{FF2B5EF4-FFF2-40B4-BE49-F238E27FC236}">
                <a16:creationId xmlns:a16="http://schemas.microsoft.com/office/drawing/2014/main" id="{B1303698-0853-4161-9789-BA61E8407D4B}"/>
              </a:ext>
            </a:extLst>
          </p:cNvPr>
          <p:cNvSpPr>
            <a:spLocks xmlns:a="http://schemas.openxmlformats.org/drawingml/2006/main" noGrp="1"/>
          </p:cNvSpPr>
          <p:nvPr/>
        </p:nvSpPr>
        <p:spPr>
          <a:xfrm xmlns:a="http://schemas.openxmlformats.org/drawingml/2006/main">
            <a:off x="1428750" y="4791075"/>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102A43"/>
                </a:solidFill>
                <a:latin typeface="Aptos"/>
                <a:ea typeface="Aptos"/>
                <a:cs typeface="Aptos"/>
              </a:defRPr>
            </a:pPr>
            <a:r>
              <a:rPr sz="1650" b="1">
                <a:solidFill>
                  <a:srgbClr val="102A43"/>
                </a:solidFill>
                <a:latin typeface="Aptos"/>
                <a:ea typeface="Aptos"/>
                <a:cs typeface="Aptos"/>
              </a:rPr>
              <a:t>If TTS rushes the answer, correct reasoning still feels wrong.</a:t>
            </a:r>
          </a:p>
        </p:txBody>
      </p:sp>
      <p:sp>
        <p:nvSpPr>
          <p:cNvPr id="87" name="">
            <a:extLst xmlns:a="http://schemas.openxmlformats.org/drawingml/2006/main">
              <a:ext uri="{FF2B5EF4-FFF2-40B4-BE49-F238E27FC236}">
                <a16:creationId xmlns:a16="http://schemas.microsoft.com/office/drawing/2014/main" id="{172BFBAC-D217-4086-836C-8E83D4879CBA}"/>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Sarvam docs · Decisions 0009, 0017, 0020</a:t>
            </a:r>
          </a:p>
        </p:txBody>
      </p:sp>
    </p:spTree>
    <p:extLst>
      <p:ext uri="{BB962C8B-B14F-4D97-AF65-F5344CB8AC3E}">
        <p14:creationId xmlns:p14="http://schemas.microsoft.com/office/powerpoint/2010/main" val="5527539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979cc619962450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7F00CC-DC1C-49EF-BAC8-85991B44309D}"/>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4AC6D3D6-BBC1-4DC0-AB98-CD1DFD247E8F}"/>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11</a:t>
            </a:r>
          </a:p>
        </p:txBody>
      </p:sp>
      <p:sp>
        <p:nvSpPr>
          <p:cNvPr id="4" name="">
            <a:extLst xmlns:a="http://schemas.openxmlformats.org/drawingml/2006/main">
              <a:ext uri="{FF2B5EF4-FFF2-40B4-BE49-F238E27FC236}">
                <a16:creationId xmlns:a16="http://schemas.microsoft.com/office/drawing/2014/main" id="{41887EF0-0A8B-4DED-AB5E-1CE0DBD71894}"/>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852A0014-0FC3-4644-8EDF-FC55BCE3545E}"/>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The ASR eval changed the answer</a:t>
            </a:r>
          </a:p>
        </p:txBody>
      </p:sp>
      <p:sp>
        <p:nvSpPr>
          <p:cNvPr id="6" name="">
            <a:extLst xmlns:a="http://schemas.openxmlformats.org/drawingml/2006/main">
              <a:ext uri="{FF2B5EF4-FFF2-40B4-BE49-F238E27FC236}">
                <a16:creationId xmlns:a16="http://schemas.microsoft.com/office/drawing/2014/main" id="{1304795B-5507-4E98-BEA7-B1CFFFE2823C}"/>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904C89C5-285B-49FF-B583-848FA9A6540C}"/>
              </a:ext>
            </a:extLst>
          </p:cNvPr>
          <p:cNvSpPr>
            <a:spLocks xmlns:a="http://schemas.openxmlformats.org/drawingml/2006/main" noGrp="1"/>
          </p:cNvSpPr>
          <p:nvPr/>
        </p:nvSpPr>
        <p:spPr>
          <a:xfrm xmlns:a="http://schemas.openxmlformats.org/drawingml/2006/main">
            <a:off x="857250" y="19431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4B687A"/>
                </a:solidFill>
                <a:latin typeface="Aptos"/>
                <a:ea typeface="Aptos"/>
                <a:cs typeface="Aptos"/>
              </a:defRPr>
            </a:pPr>
            <a:r>
              <a:rPr sz="1350" b="1">
                <a:solidFill>
                  <a:srgbClr val="4B687A"/>
                </a:solidFill>
                <a:latin typeface="Aptos"/>
                <a:ea typeface="Aptos"/>
                <a:cs typeface="Aptos"/>
              </a:rPr>
              <a:t>WER at 5 dB noise ↓</a:t>
            </a:r>
          </a:p>
        </p:txBody>
      </p:sp>
      <p:sp>
        <p:nvSpPr>
          <p:cNvPr id="8" name="">
            <a:extLst xmlns:a="http://schemas.openxmlformats.org/drawingml/2006/main">
              <a:ext uri="{FF2B5EF4-FFF2-40B4-BE49-F238E27FC236}">
                <a16:creationId xmlns:a16="http://schemas.microsoft.com/office/drawing/2014/main" id="{A66C403D-6BF5-4DE1-A838-B8F33170C11C}"/>
              </a:ext>
            </a:extLst>
          </p:cNvPr>
          <p:cNvSpPr>
            <a:spLocks xmlns:a="http://schemas.openxmlformats.org/drawingml/2006/main" noGrp="1"/>
          </p:cNvSpPr>
          <p:nvPr/>
        </p:nvSpPr>
        <p:spPr>
          <a:xfrm xmlns:a="http://schemas.openxmlformats.org/drawingml/2006/main">
            <a:off x="876300" y="2514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base.en</a:t>
            </a:r>
          </a:p>
        </p:txBody>
      </p:sp>
      <p:sp>
        <p:nvSpPr>
          <p:cNvPr id="9" name="">
            <a:extLst xmlns:a="http://schemas.openxmlformats.org/drawingml/2006/main">
              <a:ext uri="{FF2B5EF4-FFF2-40B4-BE49-F238E27FC236}">
                <a16:creationId xmlns:a16="http://schemas.microsoft.com/office/drawing/2014/main" id="{FB4C79E7-56A9-4763-AAEA-AF17A189DD3F}"/>
              </a:ext>
            </a:extLst>
          </p:cNvPr>
          <p:cNvSpPr>
            <a:spLocks xmlns:a="http://schemas.openxmlformats.org/drawingml/2006/main" noGrp="1"/>
          </p:cNvSpPr>
          <p:nvPr/>
        </p:nvSpPr>
        <p:spPr>
          <a:xfrm xmlns:a="http://schemas.openxmlformats.org/drawingml/2006/main">
            <a:off x="2686050" y="2562225"/>
            <a:ext cx="6983730" cy="304800"/>
          </a:xfrm>
          <a:prstGeom xmlns:a="http://schemas.openxmlformats.org/drawingml/2006/main" prst="roundRect">
            <a:avLst>
              <a:gd name="adj" fmla="val 37500"/>
            </a:avLst>
          </a:prstGeom>
          <a:solidFill xmlns:a="http://schemas.openxmlformats.org/drawingml/2006/main">
            <a:srgbClr val="D96C5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AF8E73-CFC0-4EE8-A577-99D756184356}"/>
              </a:ext>
            </a:extLst>
          </p:cNvPr>
          <p:cNvSpPr>
            <a:spLocks xmlns:a="http://schemas.openxmlformats.org/drawingml/2006/main" noGrp="1"/>
          </p:cNvSpPr>
          <p:nvPr/>
        </p:nvSpPr>
        <p:spPr>
          <a:xfrm xmlns:a="http://schemas.openxmlformats.org/drawingml/2006/main">
            <a:off x="10382250" y="251460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350" b="1">
                <a:solidFill>
                  <a:srgbClr val="102A43"/>
                </a:solidFill>
                <a:latin typeface="Aptos Mono"/>
                <a:ea typeface="Aptos Mono"/>
                <a:cs typeface="Aptos Mono"/>
              </a:defRPr>
            </a:pPr>
            <a:r>
              <a:rPr sz="1350" b="1">
                <a:solidFill>
                  <a:srgbClr val="102A43"/>
                </a:solidFill>
                <a:latin typeface="Aptos Mono"/>
                <a:ea typeface="Aptos Mono"/>
                <a:cs typeface="Aptos Mono"/>
              </a:rPr>
              <a:t>14.1%</a:t>
            </a:r>
          </a:p>
        </p:txBody>
      </p:sp>
      <p:sp>
        <p:nvSpPr>
          <p:cNvPr id="11" name="">
            <a:extLst xmlns:a="http://schemas.openxmlformats.org/drawingml/2006/main">
              <a:ext uri="{FF2B5EF4-FFF2-40B4-BE49-F238E27FC236}">
                <a16:creationId xmlns:a16="http://schemas.microsoft.com/office/drawing/2014/main" id="{5AF03330-D5A5-42A4-9E2C-9A51E53EE1C5}"/>
              </a:ext>
            </a:extLst>
          </p:cNvPr>
          <p:cNvSpPr>
            <a:spLocks xmlns:a="http://schemas.openxmlformats.org/drawingml/2006/main" noGrp="1"/>
          </p:cNvSpPr>
          <p:nvPr/>
        </p:nvSpPr>
        <p:spPr>
          <a:xfrm xmlns:a="http://schemas.openxmlformats.org/drawingml/2006/main">
            <a:off x="876300" y="32575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small.en</a:t>
            </a:r>
          </a:p>
        </p:txBody>
      </p:sp>
      <p:sp>
        <p:nvSpPr>
          <p:cNvPr id="12" name="">
            <a:extLst xmlns:a="http://schemas.openxmlformats.org/drawingml/2006/main">
              <a:ext uri="{FF2B5EF4-FFF2-40B4-BE49-F238E27FC236}">
                <a16:creationId xmlns:a16="http://schemas.microsoft.com/office/drawing/2014/main" id="{C3E427DC-8A0B-40CE-88BC-A314E745E2AE}"/>
              </a:ext>
            </a:extLst>
          </p:cNvPr>
          <p:cNvSpPr>
            <a:spLocks xmlns:a="http://schemas.openxmlformats.org/drawingml/2006/main" noGrp="1"/>
          </p:cNvSpPr>
          <p:nvPr/>
        </p:nvSpPr>
        <p:spPr>
          <a:xfrm xmlns:a="http://schemas.openxmlformats.org/drawingml/2006/main">
            <a:off x="2686050" y="3305175"/>
            <a:ext cx="4309110" cy="304800"/>
          </a:xfrm>
          <a:prstGeom xmlns:a="http://schemas.openxmlformats.org/drawingml/2006/main" prst="roundRect">
            <a:avLst>
              <a:gd name="adj" fmla="val 37500"/>
            </a:avLst>
          </a:prstGeom>
          <a:solidFill xmlns:a="http://schemas.openxmlformats.org/drawingml/2006/main">
            <a:srgbClr val="288DC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C1EF95C-E970-47E9-976F-7940BB3F256F}"/>
              </a:ext>
            </a:extLst>
          </p:cNvPr>
          <p:cNvSpPr>
            <a:spLocks xmlns:a="http://schemas.openxmlformats.org/drawingml/2006/main" noGrp="1"/>
          </p:cNvSpPr>
          <p:nvPr/>
        </p:nvSpPr>
        <p:spPr>
          <a:xfrm xmlns:a="http://schemas.openxmlformats.org/drawingml/2006/main">
            <a:off x="10382250" y="32575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350" b="1">
                <a:solidFill>
                  <a:srgbClr val="102A43"/>
                </a:solidFill>
                <a:latin typeface="Aptos Mono"/>
                <a:ea typeface="Aptos Mono"/>
                <a:cs typeface="Aptos Mono"/>
              </a:defRPr>
            </a:pPr>
            <a:r>
              <a:rPr sz="1350" b="1">
                <a:solidFill>
                  <a:srgbClr val="102A43"/>
                </a:solidFill>
                <a:latin typeface="Aptos Mono"/>
                <a:ea typeface="Aptos Mono"/>
                <a:cs typeface="Aptos Mono"/>
              </a:rPr>
              <a:t>8.7%</a:t>
            </a:r>
          </a:p>
        </p:txBody>
      </p:sp>
      <p:sp>
        <p:nvSpPr>
          <p:cNvPr id="14" name="">
            <a:extLst xmlns:a="http://schemas.openxmlformats.org/drawingml/2006/main">
              <a:ext uri="{FF2B5EF4-FFF2-40B4-BE49-F238E27FC236}">
                <a16:creationId xmlns:a16="http://schemas.microsoft.com/office/drawing/2014/main" id="{07BBBBE7-CCF6-492C-9DB7-D7833CEA1B26}"/>
              </a:ext>
            </a:extLst>
          </p:cNvPr>
          <p:cNvSpPr>
            <a:spLocks xmlns:a="http://schemas.openxmlformats.org/drawingml/2006/main" noGrp="1"/>
          </p:cNvSpPr>
          <p:nvPr/>
        </p:nvSpPr>
        <p:spPr>
          <a:xfrm xmlns:a="http://schemas.openxmlformats.org/drawingml/2006/main">
            <a:off x="876300" y="40005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MLX Whisper</a:t>
            </a:r>
          </a:p>
        </p:txBody>
      </p:sp>
      <p:sp>
        <p:nvSpPr>
          <p:cNvPr id="15" name="">
            <a:extLst xmlns:a="http://schemas.openxmlformats.org/drawingml/2006/main">
              <a:ext uri="{FF2B5EF4-FFF2-40B4-BE49-F238E27FC236}">
                <a16:creationId xmlns:a16="http://schemas.microsoft.com/office/drawing/2014/main" id="{D978D6F3-C884-4AF5-848D-D4D566A9A563}"/>
              </a:ext>
            </a:extLst>
          </p:cNvPr>
          <p:cNvSpPr>
            <a:spLocks xmlns:a="http://schemas.openxmlformats.org/drawingml/2006/main" noGrp="1"/>
          </p:cNvSpPr>
          <p:nvPr/>
        </p:nvSpPr>
        <p:spPr>
          <a:xfrm xmlns:a="http://schemas.openxmlformats.org/drawingml/2006/main">
            <a:off x="2686050" y="4048125"/>
            <a:ext cx="1684020" cy="304800"/>
          </a:xfrm>
          <a:prstGeom xmlns:a="http://schemas.openxmlformats.org/drawingml/2006/main" prst="roundRect">
            <a:avLst>
              <a:gd name="adj" fmla="val 37500"/>
            </a:avLst>
          </a:prstGeom>
          <a:solidFill xmlns:a="http://schemas.openxmlformats.org/drawingml/2006/main">
            <a:srgbClr val="288DC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67644F9-6BB9-4766-BEE9-112937CB758E}"/>
              </a:ext>
            </a:extLst>
          </p:cNvPr>
          <p:cNvSpPr>
            <a:spLocks xmlns:a="http://schemas.openxmlformats.org/drawingml/2006/main" noGrp="1"/>
          </p:cNvSpPr>
          <p:nvPr/>
        </p:nvSpPr>
        <p:spPr>
          <a:xfrm xmlns:a="http://schemas.openxmlformats.org/drawingml/2006/main">
            <a:off x="10382250" y="400050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350" b="1">
                <a:solidFill>
                  <a:srgbClr val="102A43"/>
                </a:solidFill>
                <a:latin typeface="Aptos Mono"/>
                <a:ea typeface="Aptos Mono"/>
                <a:cs typeface="Aptos Mono"/>
              </a:defRPr>
            </a:pPr>
            <a:r>
              <a:rPr sz="1350" b="1">
                <a:solidFill>
                  <a:srgbClr val="102A43"/>
                </a:solidFill>
                <a:latin typeface="Aptos Mono"/>
                <a:ea typeface="Aptos Mono"/>
                <a:cs typeface="Aptos Mono"/>
              </a:rPr>
              <a:t>3.4%</a:t>
            </a:r>
          </a:p>
        </p:txBody>
      </p:sp>
      <p:sp>
        <p:nvSpPr>
          <p:cNvPr id="17" name="">
            <a:extLst xmlns:a="http://schemas.openxmlformats.org/drawingml/2006/main">
              <a:ext uri="{FF2B5EF4-FFF2-40B4-BE49-F238E27FC236}">
                <a16:creationId xmlns:a16="http://schemas.microsoft.com/office/drawing/2014/main" id="{8B370827-F368-4AD2-B05E-8DA5714E8D0F}"/>
              </a:ext>
            </a:extLst>
          </p:cNvPr>
          <p:cNvSpPr>
            <a:spLocks xmlns:a="http://schemas.openxmlformats.org/drawingml/2006/main" noGrp="1"/>
          </p:cNvSpPr>
          <p:nvPr/>
        </p:nvSpPr>
        <p:spPr>
          <a:xfrm xmlns:a="http://schemas.openxmlformats.org/drawingml/2006/main">
            <a:off x="876300" y="47434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Parakeet</a:t>
            </a:r>
          </a:p>
        </p:txBody>
      </p:sp>
      <p:sp>
        <p:nvSpPr>
          <p:cNvPr id="18" name="">
            <a:extLst xmlns:a="http://schemas.openxmlformats.org/drawingml/2006/main">
              <a:ext uri="{FF2B5EF4-FFF2-40B4-BE49-F238E27FC236}">
                <a16:creationId xmlns:a16="http://schemas.microsoft.com/office/drawing/2014/main" id="{CD4CD6AB-B997-4875-AEC9-F4F05BF7D000}"/>
              </a:ext>
            </a:extLst>
          </p:cNvPr>
          <p:cNvSpPr>
            <a:spLocks xmlns:a="http://schemas.openxmlformats.org/drawingml/2006/main" noGrp="1"/>
          </p:cNvSpPr>
          <p:nvPr/>
        </p:nvSpPr>
        <p:spPr>
          <a:xfrm xmlns:a="http://schemas.openxmlformats.org/drawingml/2006/main">
            <a:off x="2686050" y="4791075"/>
            <a:ext cx="1337310" cy="304800"/>
          </a:xfrm>
          <a:prstGeom xmlns:a="http://schemas.openxmlformats.org/drawingml/2006/main" prst="roundRect">
            <a:avLst>
              <a:gd name="adj" fmla="val 37500"/>
            </a:avLst>
          </a:prstGeom>
          <a:solidFill xmlns:a="http://schemas.openxmlformats.org/drawingml/2006/main">
            <a:srgbClr val="268C8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3228864-D57D-441C-8381-0C0B9D8C25BB}"/>
              </a:ext>
            </a:extLst>
          </p:cNvPr>
          <p:cNvSpPr>
            <a:spLocks xmlns:a="http://schemas.openxmlformats.org/drawingml/2006/main" noGrp="1"/>
          </p:cNvSpPr>
          <p:nvPr/>
        </p:nvSpPr>
        <p:spPr>
          <a:xfrm xmlns:a="http://schemas.openxmlformats.org/drawingml/2006/main">
            <a:off x="10382250" y="4743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350" b="1">
                <a:solidFill>
                  <a:srgbClr val="268C82"/>
                </a:solidFill>
                <a:latin typeface="Aptos Mono"/>
                <a:ea typeface="Aptos Mono"/>
                <a:cs typeface="Aptos Mono"/>
              </a:defRPr>
            </a:pPr>
            <a:r>
              <a:rPr sz="1350" b="1">
                <a:solidFill>
                  <a:srgbClr val="268C82"/>
                </a:solidFill>
                <a:latin typeface="Aptos Mono"/>
                <a:ea typeface="Aptos Mono"/>
                <a:cs typeface="Aptos Mono"/>
              </a:rPr>
              <a:t>2.7%</a:t>
            </a:r>
          </a:p>
        </p:txBody>
      </p:sp>
      <p:sp>
        <p:nvSpPr>
          <p:cNvPr id="20" name="">
            <a:extLst xmlns:a="http://schemas.openxmlformats.org/drawingml/2006/main">
              <a:ext uri="{FF2B5EF4-FFF2-40B4-BE49-F238E27FC236}">
                <a16:creationId xmlns:a16="http://schemas.microsoft.com/office/drawing/2014/main" id="{DBF828A2-1BF3-4D8D-AA7F-5709A39D750A}"/>
              </a:ext>
            </a:extLst>
          </p:cNvPr>
          <p:cNvSpPr>
            <a:spLocks xmlns:a="http://schemas.openxmlformats.org/drawingml/2006/main" noGrp="1"/>
          </p:cNvSpPr>
          <p:nvPr/>
        </p:nvSpPr>
        <p:spPr>
          <a:xfrm xmlns:a="http://schemas.openxmlformats.org/drawingml/2006/main">
            <a:off x="12382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In a noisy call, ASR choice determines what the agent believes before reasoning begins.</a:t>
            </a:r>
          </a:p>
        </p:txBody>
      </p:sp>
      <p:sp>
        <p:nvSpPr>
          <p:cNvPr id="21" name="">
            <a:extLst xmlns:a="http://schemas.openxmlformats.org/drawingml/2006/main">
              <a:ext uri="{FF2B5EF4-FFF2-40B4-BE49-F238E27FC236}">
                <a16:creationId xmlns:a16="http://schemas.microsoft.com/office/drawing/2014/main" id="{91138413-5F91-4165-AD14-DA6BA0BEE389}"/>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eval/asr/README.md · 30 utterances × 7 conditions</a:t>
            </a:r>
          </a:p>
        </p:txBody>
      </p:sp>
    </p:spTree>
    <p:extLst>
      <p:ext uri="{BB962C8B-B14F-4D97-AF65-F5344CB8AC3E}">
        <p14:creationId xmlns:p14="http://schemas.microsoft.com/office/powerpoint/2010/main" val="7143199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fa2e95f9d1c459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A13ADA-5F10-4861-B712-F6A7CED2A9DA}"/>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8BDA9FCA-FE1D-4ED4-9D4E-8D87AD4266C5}"/>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12</a:t>
            </a:r>
          </a:p>
        </p:txBody>
      </p:sp>
      <p:sp>
        <p:nvSpPr>
          <p:cNvPr id="4" name="">
            <a:extLst xmlns:a="http://schemas.openxmlformats.org/drawingml/2006/main">
              <a:ext uri="{FF2B5EF4-FFF2-40B4-BE49-F238E27FC236}">
                <a16:creationId xmlns:a16="http://schemas.microsoft.com/office/drawing/2014/main" id="{D57869C9-24AD-4D48-BEBA-94963655A833}"/>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EF8295F4-BB57-4091-8EA8-68514818336D}"/>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TTS: optimize the clock people hear</a:t>
            </a:r>
          </a:p>
        </p:txBody>
      </p:sp>
      <p:sp>
        <p:nvSpPr>
          <p:cNvPr id="6" name="">
            <a:extLst xmlns:a="http://schemas.openxmlformats.org/drawingml/2006/main">
              <a:ext uri="{FF2B5EF4-FFF2-40B4-BE49-F238E27FC236}">
                <a16:creationId xmlns:a16="http://schemas.microsoft.com/office/drawing/2014/main" id="{94906254-7D2D-442E-B2F3-C28AA41B2B6C}"/>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7DC0BD7F-71AD-4963-B0D8-6CE7AEA49314}"/>
              </a:ext>
            </a:extLst>
          </p:cNvPr>
          <p:cNvSpPr>
            <a:spLocks xmlns:a="http://schemas.openxmlformats.org/drawingml/2006/main" noGrp="1"/>
          </p:cNvSpPr>
          <p:nvPr/>
        </p:nvSpPr>
        <p:spPr>
          <a:xfrm xmlns:a="http://schemas.openxmlformats.org/drawingml/2006/main">
            <a:off x="857250" y="1981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4B687A"/>
                </a:solidFill>
                <a:latin typeface="Aptos"/>
                <a:ea typeface="Aptos"/>
                <a:cs typeface="Aptos"/>
              </a:defRPr>
            </a:pPr>
            <a:r>
              <a:rPr sz="1350" b="1">
                <a:solidFill>
                  <a:srgbClr val="4B687A"/>
                </a:solidFill>
                <a:latin typeface="Aptos"/>
                <a:ea typeface="Aptos"/>
                <a:cs typeface="Aptos"/>
              </a:rPr>
              <a:t>Time to first audio</a:t>
            </a:r>
          </a:p>
        </p:txBody>
      </p:sp>
      <p:sp>
        <p:nvSpPr>
          <p:cNvPr id="8" name="">
            <a:extLst xmlns:a="http://schemas.openxmlformats.org/drawingml/2006/main">
              <a:ext uri="{FF2B5EF4-FFF2-40B4-BE49-F238E27FC236}">
                <a16:creationId xmlns:a16="http://schemas.microsoft.com/office/drawing/2014/main" id="{96BA86DE-DCCE-4E06-BA75-AE3A63D70D64}"/>
              </a:ext>
            </a:extLst>
          </p:cNvPr>
          <p:cNvSpPr>
            <a:spLocks xmlns:a="http://schemas.openxmlformats.org/drawingml/2006/main" noGrp="1"/>
          </p:cNvSpPr>
          <p:nvPr/>
        </p:nvSpPr>
        <p:spPr>
          <a:xfrm xmlns:a="http://schemas.openxmlformats.org/drawingml/2006/main">
            <a:off x="1238250" y="3409950"/>
            <a:ext cx="9572625" cy="0"/>
          </a:xfrm>
          <a:prstGeom xmlns:a="http://schemas.openxmlformats.org/drawingml/2006/main" prst="line">
            <a:avLst/>
          </a:prstGeom>
          <a:noFill xmlns:a="http://schemas.openxmlformats.org/drawingml/2006/main"/>
          <a:ln xmlns:a="http://schemas.openxmlformats.org/drawingml/2006/main" w="47625">
            <a:solidFill>
              <a:srgbClr val="8EBBD0"/>
            </a:solidFill>
            <a:prstDash val="solid"/>
          </a:ln>
        </p:spPr>
      </p:sp>
      <p:sp>
        <p:nvSpPr>
          <p:cNvPr id="9" name="">
            <a:extLst xmlns:a="http://schemas.openxmlformats.org/drawingml/2006/main">
              <a:ext uri="{FF2B5EF4-FFF2-40B4-BE49-F238E27FC236}">
                <a16:creationId xmlns:a16="http://schemas.microsoft.com/office/drawing/2014/main" id="{FFC0F417-A95B-4973-9762-10034191B264}"/>
              </a:ext>
            </a:extLst>
          </p:cNvPr>
          <p:cNvSpPr>
            <a:spLocks xmlns:a="http://schemas.openxmlformats.org/drawingml/2006/main" noGrp="1"/>
          </p:cNvSpPr>
          <p:nvPr/>
        </p:nvSpPr>
        <p:spPr>
          <a:xfrm xmlns:a="http://schemas.openxmlformats.org/drawingml/2006/main">
            <a:off x="1238250" y="3295650"/>
            <a:ext cx="0" cy="2667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0" name="">
            <a:extLst xmlns:a="http://schemas.openxmlformats.org/drawingml/2006/main">
              <a:ext uri="{FF2B5EF4-FFF2-40B4-BE49-F238E27FC236}">
                <a16:creationId xmlns:a16="http://schemas.microsoft.com/office/drawing/2014/main" id="{A00BF427-34DF-47C5-95D3-391796A613AF}"/>
              </a:ext>
            </a:extLst>
          </p:cNvPr>
          <p:cNvSpPr>
            <a:spLocks xmlns:a="http://schemas.openxmlformats.org/drawingml/2006/main" noGrp="1"/>
          </p:cNvSpPr>
          <p:nvPr/>
        </p:nvSpPr>
        <p:spPr>
          <a:xfrm xmlns:a="http://schemas.openxmlformats.org/drawingml/2006/main">
            <a:off x="904875" y="3714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0 ms</a:t>
            </a:r>
          </a:p>
        </p:txBody>
      </p:sp>
      <p:sp>
        <p:nvSpPr>
          <p:cNvPr id="11" name="">
            <a:extLst xmlns:a="http://schemas.openxmlformats.org/drawingml/2006/main">
              <a:ext uri="{FF2B5EF4-FFF2-40B4-BE49-F238E27FC236}">
                <a16:creationId xmlns:a16="http://schemas.microsoft.com/office/drawing/2014/main" id="{1CBF56AB-24F0-4644-ACD9-1BF76B66FFD1}"/>
              </a:ext>
            </a:extLst>
          </p:cNvPr>
          <p:cNvSpPr>
            <a:spLocks xmlns:a="http://schemas.openxmlformats.org/drawingml/2006/main" noGrp="1"/>
          </p:cNvSpPr>
          <p:nvPr/>
        </p:nvSpPr>
        <p:spPr>
          <a:xfrm xmlns:a="http://schemas.openxmlformats.org/drawingml/2006/main">
            <a:off x="3152775" y="3295650"/>
            <a:ext cx="0" cy="2667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2" name="">
            <a:extLst xmlns:a="http://schemas.openxmlformats.org/drawingml/2006/main">
              <a:ext uri="{FF2B5EF4-FFF2-40B4-BE49-F238E27FC236}">
                <a16:creationId xmlns:a16="http://schemas.microsoft.com/office/drawing/2014/main" id="{64169B52-BFC4-497C-A5F7-C15F5E1EEF78}"/>
              </a:ext>
            </a:extLst>
          </p:cNvPr>
          <p:cNvSpPr>
            <a:spLocks xmlns:a="http://schemas.openxmlformats.org/drawingml/2006/main" noGrp="1"/>
          </p:cNvSpPr>
          <p:nvPr/>
        </p:nvSpPr>
        <p:spPr>
          <a:xfrm xmlns:a="http://schemas.openxmlformats.org/drawingml/2006/main">
            <a:off x="2819400" y="3714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100 ms</a:t>
            </a:r>
          </a:p>
        </p:txBody>
      </p:sp>
      <p:sp>
        <p:nvSpPr>
          <p:cNvPr id="13" name="">
            <a:extLst xmlns:a="http://schemas.openxmlformats.org/drawingml/2006/main">
              <a:ext uri="{FF2B5EF4-FFF2-40B4-BE49-F238E27FC236}">
                <a16:creationId xmlns:a16="http://schemas.microsoft.com/office/drawing/2014/main" id="{3FF15BD8-BA66-4742-AB7D-181B0900CCD4}"/>
              </a:ext>
            </a:extLst>
          </p:cNvPr>
          <p:cNvSpPr>
            <a:spLocks xmlns:a="http://schemas.openxmlformats.org/drawingml/2006/main" noGrp="1"/>
          </p:cNvSpPr>
          <p:nvPr/>
        </p:nvSpPr>
        <p:spPr>
          <a:xfrm xmlns:a="http://schemas.openxmlformats.org/drawingml/2006/main">
            <a:off x="5067300" y="3295650"/>
            <a:ext cx="0" cy="2667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4" name="">
            <a:extLst xmlns:a="http://schemas.openxmlformats.org/drawingml/2006/main">
              <a:ext uri="{FF2B5EF4-FFF2-40B4-BE49-F238E27FC236}">
                <a16:creationId xmlns:a16="http://schemas.microsoft.com/office/drawing/2014/main" id="{8A71A8C7-3DD6-4678-A43A-F8EC43A6539B}"/>
              </a:ext>
            </a:extLst>
          </p:cNvPr>
          <p:cNvSpPr>
            <a:spLocks xmlns:a="http://schemas.openxmlformats.org/drawingml/2006/main" noGrp="1"/>
          </p:cNvSpPr>
          <p:nvPr/>
        </p:nvSpPr>
        <p:spPr>
          <a:xfrm xmlns:a="http://schemas.openxmlformats.org/drawingml/2006/main">
            <a:off x="4733925" y="3714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200 ms</a:t>
            </a:r>
          </a:p>
        </p:txBody>
      </p:sp>
      <p:sp>
        <p:nvSpPr>
          <p:cNvPr id="15" name="">
            <a:extLst xmlns:a="http://schemas.openxmlformats.org/drawingml/2006/main">
              <a:ext uri="{FF2B5EF4-FFF2-40B4-BE49-F238E27FC236}">
                <a16:creationId xmlns:a16="http://schemas.microsoft.com/office/drawing/2014/main" id="{0AA0F1BD-A90D-4C25-AB18-003ED454258A}"/>
              </a:ext>
            </a:extLst>
          </p:cNvPr>
          <p:cNvSpPr>
            <a:spLocks xmlns:a="http://schemas.openxmlformats.org/drawingml/2006/main" noGrp="1"/>
          </p:cNvSpPr>
          <p:nvPr/>
        </p:nvSpPr>
        <p:spPr>
          <a:xfrm xmlns:a="http://schemas.openxmlformats.org/drawingml/2006/main">
            <a:off x="6981825" y="3295650"/>
            <a:ext cx="0" cy="2667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6" name="">
            <a:extLst xmlns:a="http://schemas.openxmlformats.org/drawingml/2006/main">
              <a:ext uri="{FF2B5EF4-FFF2-40B4-BE49-F238E27FC236}">
                <a16:creationId xmlns:a16="http://schemas.microsoft.com/office/drawing/2014/main" id="{1D52A3A2-BCFE-4BD5-8961-5BE4A56F6C6A}"/>
              </a:ext>
            </a:extLst>
          </p:cNvPr>
          <p:cNvSpPr>
            <a:spLocks xmlns:a="http://schemas.openxmlformats.org/drawingml/2006/main" noGrp="1"/>
          </p:cNvSpPr>
          <p:nvPr/>
        </p:nvSpPr>
        <p:spPr>
          <a:xfrm xmlns:a="http://schemas.openxmlformats.org/drawingml/2006/main">
            <a:off x="6648450" y="3714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300 ms</a:t>
            </a:r>
          </a:p>
        </p:txBody>
      </p:sp>
      <p:sp>
        <p:nvSpPr>
          <p:cNvPr id="17" name="">
            <a:extLst xmlns:a="http://schemas.openxmlformats.org/drawingml/2006/main">
              <a:ext uri="{FF2B5EF4-FFF2-40B4-BE49-F238E27FC236}">
                <a16:creationId xmlns:a16="http://schemas.microsoft.com/office/drawing/2014/main" id="{537C5C15-6896-495A-8AA9-84C9B0E98A30}"/>
              </a:ext>
            </a:extLst>
          </p:cNvPr>
          <p:cNvSpPr>
            <a:spLocks xmlns:a="http://schemas.openxmlformats.org/drawingml/2006/main" noGrp="1"/>
          </p:cNvSpPr>
          <p:nvPr/>
        </p:nvSpPr>
        <p:spPr>
          <a:xfrm xmlns:a="http://schemas.openxmlformats.org/drawingml/2006/main">
            <a:off x="8896350" y="3295650"/>
            <a:ext cx="0" cy="2667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8" name="">
            <a:extLst xmlns:a="http://schemas.openxmlformats.org/drawingml/2006/main">
              <a:ext uri="{FF2B5EF4-FFF2-40B4-BE49-F238E27FC236}">
                <a16:creationId xmlns:a16="http://schemas.microsoft.com/office/drawing/2014/main" id="{04893A10-9BCA-4A36-9123-CA0F76449714}"/>
              </a:ext>
            </a:extLst>
          </p:cNvPr>
          <p:cNvSpPr>
            <a:spLocks xmlns:a="http://schemas.openxmlformats.org/drawingml/2006/main" noGrp="1"/>
          </p:cNvSpPr>
          <p:nvPr/>
        </p:nvSpPr>
        <p:spPr>
          <a:xfrm xmlns:a="http://schemas.openxmlformats.org/drawingml/2006/main">
            <a:off x="8562975" y="3714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400 ms</a:t>
            </a:r>
          </a:p>
        </p:txBody>
      </p:sp>
      <p:sp>
        <p:nvSpPr>
          <p:cNvPr id="19" name="">
            <a:extLst xmlns:a="http://schemas.openxmlformats.org/drawingml/2006/main">
              <a:ext uri="{FF2B5EF4-FFF2-40B4-BE49-F238E27FC236}">
                <a16:creationId xmlns:a16="http://schemas.microsoft.com/office/drawing/2014/main" id="{B7752A31-2AE6-48E5-B381-0EBAB671CDEB}"/>
              </a:ext>
            </a:extLst>
          </p:cNvPr>
          <p:cNvSpPr>
            <a:spLocks xmlns:a="http://schemas.openxmlformats.org/drawingml/2006/main" noGrp="1"/>
          </p:cNvSpPr>
          <p:nvPr/>
        </p:nvSpPr>
        <p:spPr>
          <a:xfrm xmlns:a="http://schemas.openxmlformats.org/drawingml/2006/main">
            <a:off x="10810875" y="3295650"/>
            <a:ext cx="0" cy="2667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20" name="">
            <a:extLst xmlns:a="http://schemas.openxmlformats.org/drawingml/2006/main">
              <a:ext uri="{FF2B5EF4-FFF2-40B4-BE49-F238E27FC236}">
                <a16:creationId xmlns:a16="http://schemas.microsoft.com/office/drawing/2014/main" id="{63FF77CE-9461-4A3B-AFE4-C13190ED2CF3}"/>
              </a:ext>
            </a:extLst>
          </p:cNvPr>
          <p:cNvSpPr>
            <a:spLocks xmlns:a="http://schemas.openxmlformats.org/drawingml/2006/main" noGrp="1"/>
          </p:cNvSpPr>
          <p:nvPr/>
        </p:nvSpPr>
        <p:spPr>
          <a:xfrm xmlns:a="http://schemas.openxmlformats.org/drawingml/2006/main">
            <a:off x="10477500" y="3714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500 ms</a:t>
            </a:r>
          </a:p>
        </p:txBody>
      </p:sp>
      <p:sp>
        <p:nvSpPr>
          <p:cNvPr id="21" name="">
            <a:extLst xmlns:a="http://schemas.openxmlformats.org/drawingml/2006/main">
              <a:ext uri="{FF2B5EF4-FFF2-40B4-BE49-F238E27FC236}">
                <a16:creationId xmlns:a16="http://schemas.microsoft.com/office/drawing/2014/main" id="{9720117D-AC67-43B3-BB58-B560194C4BE7}"/>
              </a:ext>
            </a:extLst>
          </p:cNvPr>
          <p:cNvSpPr>
            <a:spLocks xmlns:a="http://schemas.openxmlformats.org/drawingml/2006/main" noGrp="1"/>
          </p:cNvSpPr>
          <p:nvPr/>
        </p:nvSpPr>
        <p:spPr>
          <a:xfrm xmlns:a="http://schemas.openxmlformats.org/drawingml/2006/main">
            <a:off x="2703481" y="3286125"/>
            <a:ext cx="247650" cy="247650"/>
          </a:xfrm>
          <a:prstGeom xmlns:a="http://schemas.openxmlformats.org/drawingml/2006/main" prst="ellipse">
            <a:avLst/>
          </a:prstGeom>
          <a:solidFill xmlns:a="http://schemas.openxmlformats.org/drawingml/2006/main">
            <a:srgbClr val="D96C5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464CA2-2944-4860-8337-9B04B1A93C42}"/>
              </a:ext>
            </a:extLst>
          </p:cNvPr>
          <p:cNvSpPr>
            <a:spLocks xmlns:a="http://schemas.openxmlformats.org/drawingml/2006/main" noGrp="1"/>
          </p:cNvSpPr>
          <p:nvPr/>
        </p:nvSpPr>
        <p:spPr>
          <a:xfrm xmlns:a="http://schemas.openxmlformats.org/drawingml/2006/main">
            <a:off x="1874806" y="238125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Piper</a:t>
            </a:r>
          </a:p>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83 ms</a:t>
            </a:r>
          </a:p>
        </p:txBody>
      </p:sp>
      <p:sp>
        <p:nvSpPr>
          <p:cNvPr id="23" name="">
            <a:extLst xmlns:a="http://schemas.openxmlformats.org/drawingml/2006/main">
              <a:ext uri="{FF2B5EF4-FFF2-40B4-BE49-F238E27FC236}">
                <a16:creationId xmlns:a16="http://schemas.microsoft.com/office/drawing/2014/main" id="{E0AE423F-27F8-4F7B-B5E2-F16730AFCAEC}"/>
              </a:ext>
            </a:extLst>
          </p:cNvPr>
          <p:cNvSpPr>
            <a:spLocks xmlns:a="http://schemas.openxmlformats.org/drawingml/2006/main" noGrp="1"/>
          </p:cNvSpPr>
          <p:nvPr/>
        </p:nvSpPr>
        <p:spPr>
          <a:xfrm xmlns:a="http://schemas.openxmlformats.org/drawingml/2006/main">
            <a:off x="2827306" y="3048000"/>
            <a:ext cx="0" cy="238125"/>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4" name="">
            <a:extLst xmlns:a="http://schemas.openxmlformats.org/drawingml/2006/main">
              <a:ext uri="{FF2B5EF4-FFF2-40B4-BE49-F238E27FC236}">
                <a16:creationId xmlns:a16="http://schemas.microsoft.com/office/drawing/2014/main" id="{8BF66C7C-259F-4117-AF08-791DFBF65D9C}"/>
              </a:ext>
            </a:extLst>
          </p:cNvPr>
          <p:cNvSpPr>
            <a:spLocks xmlns:a="http://schemas.openxmlformats.org/drawingml/2006/main" noGrp="1"/>
          </p:cNvSpPr>
          <p:nvPr/>
        </p:nvSpPr>
        <p:spPr>
          <a:xfrm xmlns:a="http://schemas.openxmlformats.org/drawingml/2006/main">
            <a:off x="5383816" y="3286125"/>
            <a:ext cx="247650" cy="247650"/>
          </a:xfrm>
          <a:prstGeom xmlns:a="http://schemas.openxmlformats.org/drawingml/2006/main" prst="ellipse">
            <a:avLst/>
          </a:prstGeom>
          <a:solidFill xmlns:a="http://schemas.openxmlformats.org/drawingml/2006/main">
            <a:srgbClr val="268C8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F9741A6-4543-44A4-BB82-BCE696A827BE}"/>
              </a:ext>
            </a:extLst>
          </p:cNvPr>
          <p:cNvSpPr>
            <a:spLocks xmlns:a="http://schemas.openxmlformats.org/drawingml/2006/main" noGrp="1"/>
          </p:cNvSpPr>
          <p:nvPr/>
        </p:nvSpPr>
        <p:spPr>
          <a:xfrm xmlns:a="http://schemas.openxmlformats.org/drawingml/2006/main">
            <a:off x="4555141" y="390525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Sarvam warm</a:t>
            </a:r>
          </a:p>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223 ms</a:t>
            </a:r>
          </a:p>
        </p:txBody>
      </p:sp>
      <p:sp>
        <p:nvSpPr>
          <p:cNvPr id="26" name="">
            <a:extLst xmlns:a="http://schemas.openxmlformats.org/drawingml/2006/main">
              <a:ext uri="{FF2B5EF4-FFF2-40B4-BE49-F238E27FC236}">
                <a16:creationId xmlns:a16="http://schemas.microsoft.com/office/drawing/2014/main" id="{681B1B88-53E2-4909-A902-1837E60903E5}"/>
              </a:ext>
            </a:extLst>
          </p:cNvPr>
          <p:cNvSpPr>
            <a:spLocks xmlns:a="http://schemas.openxmlformats.org/drawingml/2006/main" noGrp="1"/>
          </p:cNvSpPr>
          <p:nvPr/>
        </p:nvSpPr>
        <p:spPr>
          <a:xfrm xmlns:a="http://schemas.openxmlformats.org/drawingml/2006/main">
            <a:off x="5507641" y="3286125"/>
            <a:ext cx="0" cy="381000"/>
          </a:xfrm>
          <a:prstGeom xmlns:a="http://schemas.openxmlformats.org/drawingml/2006/main" prst="line">
            <a:avLst/>
          </a:prstGeom>
          <a:noFill xmlns:a="http://schemas.openxmlformats.org/drawingml/2006/main"/>
          <a:ln xmlns:a="http://schemas.openxmlformats.org/drawingml/2006/main" w="19050">
            <a:solidFill>
              <a:srgbClr val="268C82"/>
            </a:solidFill>
            <a:prstDash val="solid"/>
          </a:ln>
        </p:spPr>
      </p:sp>
      <p:sp>
        <p:nvSpPr>
          <p:cNvPr id="27" name="">
            <a:extLst xmlns:a="http://schemas.openxmlformats.org/drawingml/2006/main">
              <a:ext uri="{FF2B5EF4-FFF2-40B4-BE49-F238E27FC236}">
                <a16:creationId xmlns:a16="http://schemas.microsoft.com/office/drawing/2014/main" id="{95186668-694B-40C0-98E4-EA1A7559AFCF}"/>
              </a:ext>
            </a:extLst>
          </p:cNvPr>
          <p:cNvSpPr>
            <a:spLocks xmlns:a="http://schemas.openxmlformats.org/drawingml/2006/main" noGrp="1"/>
          </p:cNvSpPr>
          <p:nvPr/>
        </p:nvSpPr>
        <p:spPr>
          <a:xfrm xmlns:a="http://schemas.openxmlformats.org/drawingml/2006/main">
            <a:off x="8389620" y="3286125"/>
            <a:ext cx="247650" cy="2476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2C04789-BE2E-4A8D-A105-B43DA2EED483}"/>
              </a:ext>
            </a:extLst>
          </p:cNvPr>
          <p:cNvSpPr>
            <a:spLocks xmlns:a="http://schemas.openxmlformats.org/drawingml/2006/main" noGrp="1"/>
          </p:cNvSpPr>
          <p:nvPr/>
        </p:nvSpPr>
        <p:spPr>
          <a:xfrm xmlns:a="http://schemas.openxmlformats.org/drawingml/2006/main">
            <a:off x="7560945" y="238125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Kokoro</a:t>
            </a:r>
          </a:p>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380 ms</a:t>
            </a:r>
          </a:p>
        </p:txBody>
      </p:sp>
      <p:sp>
        <p:nvSpPr>
          <p:cNvPr id="29" name="">
            <a:extLst xmlns:a="http://schemas.openxmlformats.org/drawingml/2006/main">
              <a:ext uri="{FF2B5EF4-FFF2-40B4-BE49-F238E27FC236}">
                <a16:creationId xmlns:a16="http://schemas.microsoft.com/office/drawing/2014/main" id="{E7E97702-3E30-4179-9D20-0D4D223F1EE8}"/>
              </a:ext>
            </a:extLst>
          </p:cNvPr>
          <p:cNvSpPr>
            <a:spLocks xmlns:a="http://schemas.openxmlformats.org/drawingml/2006/main" noGrp="1"/>
          </p:cNvSpPr>
          <p:nvPr/>
        </p:nvSpPr>
        <p:spPr>
          <a:xfrm xmlns:a="http://schemas.openxmlformats.org/drawingml/2006/main">
            <a:off x="8513445" y="3048000"/>
            <a:ext cx="0" cy="238125"/>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0" name="">
            <a:extLst xmlns:a="http://schemas.openxmlformats.org/drawingml/2006/main">
              <a:ext uri="{FF2B5EF4-FFF2-40B4-BE49-F238E27FC236}">
                <a16:creationId xmlns:a16="http://schemas.microsoft.com/office/drawing/2014/main" id="{4CD3877D-74B5-48E1-9EF8-898F76DD8601}"/>
              </a:ext>
            </a:extLst>
          </p:cNvPr>
          <p:cNvSpPr>
            <a:spLocks xmlns:a="http://schemas.openxmlformats.org/drawingml/2006/main" noGrp="1"/>
          </p:cNvSpPr>
          <p:nvPr/>
        </p:nvSpPr>
        <p:spPr>
          <a:xfrm xmlns:a="http://schemas.openxmlformats.org/drawingml/2006/main">
            <a:off x="2381250" y="51435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D96C5F"/>
                </a:solidFill>
                <a:latin typeface="Aptos"/>
                <a:ea typeface="Aptos"/>
                <a:cs typeface="Aptos"/>
              </a:defRPr>
            </a:pPr>
            <a:r>
              <a:rPr sz="2100" b="1">
                <a:solidFill>
                  <a:srgbClr val="D96C5F"/>
                </a:solidFill>
                <a:latin typeface="Aptos"/>
                <a:ea typeface="Aptos"/>
                <a:cs typeface="Aptos"/>
              </a:rPr>
              <a:t>Fast speech start ≠ human voice quality</a:t>
            </a:r>
          </a:p>
        </p:txBody>
      </p:sp>
      <p:sp>
        <p:nvSpPr>
          <p:cNvPr id="31" name="">
            <a:extLst xmlns:a="http://schemas.openxmlformats.org/drawingml/2006/main">
              <a:ext uri="{FF2B5EF4-FFF2-40B4-BE49-F238E27FC236}">
                <a16:creationId xmlns:a16="http://schemas.microsoft.com/office/drawing/2014/main" id="{5A607890-A6FB-42DB-A598-31E73667772E}"/>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eval/tts/README.md · Decision 0022</a:t>
            </a:r>
          </a:p>
        </p:txBody>
      </p:sp>
    </p:spTree>
    <p:extLst>
      <p:ext uri="{BB962C8B-B14F-4D97-AF65-F5344CB8AC3E}">
        <p14:creationId xmlns:p14="http://schemas.microsoft.com/office/powerpoint/2010/main" val="43997631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e2d2d573b2649b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EDA8E7-3814-4E33-BC0B-3E7F22836A1A}"/>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C4985E23-3A5B-4BFF-BA20-DAD2F0A19B77}"/>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13</a:t>
            </a:r>
          </a:p>
        </p:txBody>
      </p:sp>
      <p:sp>
        <p:nvSpPr>
          <p:cNvPr id="4" name="">
            <a:extLst xmlns:a="http://schemas.openxmlformats.org/drawingml/2006/main">
              <a:ext uri="{FF2B5EF4-FFF2-40B4-BE49-F238E27FC236}">
                <a16:creationId xmlns:a16="http://schemas.microsoft.com/office/drawing/2014/main" id="{70DAC7ED-E4DE-45AD-BB40-EAA81A353461}"/>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C81B17C6-AC8E-4FB1-9901-2130F4CB1A83}"/>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Why Gemini won our reasoning gate</a:t>
            </a:r>
          </a:p>
        </p:txBody>
      </p:sp>
      <p:sp>
        <p:nvSpPr>
          <p:cNvPr id="6" name="">
            <a:extLst xmlns:a="http://schemas.openxmlformats.org/drawingml/2006/main">
              <a:ext uri="{FF2B5EF4-FFF2-40B4-BE49-F238E27FC236}">
                <a16:creationId xmlns:a16="http://schemas.microsoft.com/office/drawing/2014/main" id="{ED457A79-EEF3-4CB0-B17A-9442C6756D55}"/>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F21FA608-711F-4419-95A4-0E3DA1AC6BA9}"/>
              </a:ext>
            </a:extLst>
          </p:cNvPr>
          <p:cNvSpPr>
            <a:spLocks xmlns:a="http://schemas.openxmlformats.org/drawingml/2006/main" noGrp="1"/>
          </p:cNvSpPr>
          <p:nvPr/>
        </p:nvSpPr>
        <p:spPr>
          <a:xfrm xmlns:a="http://schemas.openxmlformats.org/drawingml/2006/main">
            <a:off x="742950" y="1924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D96C5F"/>
                </a:solidFill>
                <a:latin typeface="Aptos"/>
                <a:ea typeface="Aptos"/>
                <a:cs typeface="Aptos"/>
              </a:defRPr>
            </a:pPr>
            <a:r>
              <a:rPr sz="825" b="1">
                <a:solidFill>
                  <a:srgbClr val="D96C5F"/>
                </a:solidFill>
                <a:latin typeface="Aptos"/>
                <a:ea typeface="Aptos"/>
                <a:cs typeface="Aptos"/>
              </a:rPr>
              <a:t>MEASURED ON OUR APPLE M5 · NOT A UNIVERSAL MODEL RANKING</a:t>
            </a:r>
          </a:p>
        </p:txBody>
      </p:sp>
      <p:sp>
        <p:nvSpPr>
          <p:cNvPr id="8" name="">
            <a:extLst xmlns:a="http://schemas.openxmlformats.org/drawingml/2006/main">
              <a:ext uri="{FF2B5EF4-FFF2-40B4-BE49-F238E27FC236}">
                <a16:creationId xmlns:a16="http://schemas.microsoft.com/office/drawing/2014/main" id="{816DB73A-DA12-4CD3-8365-FC90E005FE3E}"/>
              </a:ext>
            </a:extLst>
          </p:cNvPr>
          <p:cNvSpPr>
            <a:spLocks xmlns:a="http://schemas.openxmlformats.org/drawingml/2006/main" noGrp="1"/>
          </p:cNvSpPr>
          <p:nvPr/>
        </p:nvSpPr>
        <p:spPr>
          <a:xfrm xmlns:a="http://schemas.openxmlformats.org/drawingml/2006/main">
            <a:off x="742950" y="21717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4B687A"/>
                </a:solidFill>
                <a:latin typeface="Aptos"/>
                <a:ea typeface="Aptos"/>
                <a:cs typeface="Aptos"/>
              </a:defRPr>
            </a:pPr>
            <a:r>
              <a:rPr sz="1050" b="0">
                <a:solidFill>
                  <a:srgbClr val="4B687A"/>
                </a:solidFill>
                <a:latin typeface="Aptos"/>
                <a:ea typeface="Aptos"/>
                <a:cs typeface="Aptos"/>
              </a:rPr>
              <a:t>Evidence level: 0 failed control  ·  1 relevant but ungated  ·  2 grounded sample  ·  3 132/136 checks</a:t>
            </a:r>
          </a:p>
        </p:txBody>
      </p:sp>
      <p:sp>
        <p:nvSpPr>
          <p:cNvPr id="9" name="">
            <a:extLst xmlns:a="http://schemas.openxmlformats.org/drawingml/2006/main">
              <a:ext uri="{FF2B5EF4-FFF2-40B4-BE49-F238E27FC236}">
                <a16:creationId xmlns:a16="http://schemas.microsoft.com/office/drawing/2014/main" id="{DF5C3FDB-76B7-4782-996B-9C4AAF2A1EBF}"/>
              </a:ext>
            </a:extLst>
          </p:cNvPr>
          <p:cNvSpPr>
            <a:spLocks xmlns:a="http://schemas.openxmlformats.org/drawingml/2006/main" noGrp="1"/>
          </p:cNvSpPr>
          <p:nvPr/>
        </p:nvSpPr>
        <p:spPr>
          <a:xfrm xmlns:a="http://schemas.openxmlformats.org/drawingml/2006/main">
            <a:off x="2381250" y="5429250"/>
            <a:ext cx="8382000" cy="0"/>
          </a:xfrm>
          <a:prstGeom xmlns:a="http://schemas.openxmlformats.org/drawingml/2006/main" prst="line">
            <a:avLst/>
          </a:prstGeom>
          <a:noFill xmlns:a="http://schemas.openxmlformats.org/drawingml/2006/main"/>
          <a:ln xmlns:a="http://schemas.openxmlformats.org/drawingml/2006/main" w="19050">
            <a:solidFill>
              <a:srgbClr val="102A43"/>
            </a:solidFill>
            <a:prstDash val="solid"/>
          </a:ln>
        </p:spPr>
      </p:sp>
      <p:sp>
        <p:nvSpPr>
          <p:cNvPr id="10" name="">
            <a:extLst xmlns:a="http://schemas.openxmlformats.org/drawingml/2006/main">
              <a:ext uri="{FF2B5EF4-FFF2-40B4-BE49-F238E27FC236}">
                <a16:creationId xmlns:a16="http://schemas.microsoft.com/office/drawing/2014/main" id="{53FFABBD-F449-4C9D-81F5-9525781076E9}"/>
              </a:ext>
            </a:extLst>
          </p:cNvPr>
          <p:cNvSpPr>
            <a:spLocks xmlns:a="http://schemas.openxmlformats.org/drawingml/2006/main" noGrp="1"/>
          </p:cNvSpPr>
          <p:nvPr/>
        </p:nvSpPr>
        <p:spPr>
          <a:xfrm xmlns:a="http://schemas.openxmlformats.org/drawingml/2006/main">
            <a:off x="1752600" y="53149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75" b="1">
                <a:solidFill>
                  <a:srgbClr val="102A43"/>
                </a:solidFill>
                <a:latin typeface="Aptos Mono"/>
                <a:ea typeface="Aptos Mono"/>
                <a:cs typeface="Aptos Mono"/>
              </a:defRPr>
            </a:pPr>
            <a:r>
              <a:rPr sz="975" b="1">
                <a:solidFill>
                  <a:srgbClr val="102A43"/>
                </a:solidFill>
                <a:latin typeface="Aptos Mono"/>
                <a:ea typeface="Aptos Mono"/>
                <a:cs typeface="Aptos Mono"/>
              </a:rPr>
              <a:t>0</a:t>
            </a:r>
          </a:p>
        </p:txBody>
      </p:sp>
      <p:sp>
        <p:nvSpPr>
          <p:cNvPr id="11" name="">
            <a:extLst xmlns:a="http://schemas.openxmlformats.org/drawingml/2006/main">
              <a:ext uri="{FF2B5EF4-FFF2-40B4-BE49-F238E27FC236}">
                <a16:creationId xmlns:a16="http://schemas.microsoft.com/office/drawing/2014/main" id="{D03DA77A-C3E4-4F0F-BD65-BB08BE5691B8}"/>
              </a:ext>
            </a:extLst>
          </p:cNvPr>
          <p:cNvSpPr>
            <a:spLocks xmlns:a="http://schemas.openxmlformats.org/drawingml/2006/main" noGrp="1"/>
          </p:cNvSpPr>
          <p:nvPr/>
        </p:nvSpPr>
        <p:spPr>
          <a:xfrm xmlns:a="http://schemas.openxmlformats.org/drawingml/2006/main">
            <a:off x="2381250" y="4603750"/>
            <a:ext cx="83820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2" name="">
            <a:extLst xmlns:a="http://schemas.openxmlformats.org/drawingml/2006/main">
              <a:ext uri="{FF2B5EF4-FFF2-40B4-BE49-F238E27FC236}">
                <a16:creationId xmlns:a16="http://schemas.microsoft.com/office/drawing/2014/main" id="{8465D50F-C62E-48CB-A4E3-FC4E68A577EB}"/>
              </a:ext>
            </a:extLst>
          </p:cNvPr>
          <p:cNvSpPr>
            <a:spLocks xmlns:a="http://schemas.openxmlformats.org/drawingml/2006/main" noGrp="1"/>
          </p:cNvSpPr>
          <p:nvPr/>
        </p:nvSpPr>
        <p:spPr>
          <a:xfrm xmlns:a="http://schemas.openxmlformats.org/drawingml/2006/main">
            <a:off x="1752600" y="44894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75" b="1">
                <a:solidFill>
                  <a:srgbClr val="102A43"/>
                </a:solidFill>
                <a:latin typeface="Aptos Mono"/>
                <a:ea typeface="Aptos Mono"/>
                <a:cs typeface="Aptos Mono"/>
              </a:defRPr>
            </a:pPr>
            <a:r>
              <a:rPr sz="975" b="1">
                <a:solidFill>
                  <a:srgbClr val="102A43"/>
                </a:solidFill>
                <a:latin typeface="Aptos Mono"/>
                <a:ea typeface="Aptos Mono"/>
                <a:cs typeface="Aptos Mono"/>
              </a:rPr>
              <a:t>1</a:t>
            </a:r>
          </a:p>
        </p:txBody>
      </p:sp>
      <p:sp>
        <p:nvSpPr>
          <p:cNvPr id="13" name="">
            <a:extLst xmlns:a="http://schemas.openxmlformats.org/drawingml/2006/main">
              <a:ext uri="{FF2B5EF4-FFF2-40B4-BE49-F238E27FC236}">
                <a16:creationId xmlns:a16="http://schemas.microsoft.com/office/drawing/2014/main" id="{1186FEC5-2979-4E35-AF7E-80CA4DC9CF74}"/>
              </a:ext>
            </a:extLst>
          </p:cNvPr>
          <p:cNvSpPr>
            <a:spLocks xmlns:a="http://schemas.openxmlformats.org/drawingml/2006/main" noGrp="1"/>
          </p:cNvSpPr>
          <p:nvPr/>
        </p:nvSpPr>
        <p:spPr>
          <a:xfrm xmlns:a="http://schemas.openxmlformats.org/drawingml/2006/main">
            <a:off x="2381250" y="3778250"/>
            <a:ext cx="83820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4" name="">
            <a:extLst xmlns:a="http://schemas.openxmlformats.org/drawingml/2006/main">
              <a:ext uri="{FF2B5EF4-FFF2-40B4-BE49-F238E27FC236}">
                <a16:creationId xmlns:a16="http://schemas.microsoft.com/office/drawing/2014/main" id="{DCF75EC3-674C-4187-B90A-B45BA7A876A0}"/>
              </a:ext>
            </a:extLst>
          </p:cNvPr>
          <p:cNvSpPr>
            <a:spLocks xmlns:a="http://schemas.openxmlformats.org/drawingml/2006/main" noGrp="1"/>
          </p:cNvSpPr>
          <p:nvPr/>
        </p:nvSpPr>
        <p:spPr>
          <a:xfrm xmlns:a="http://schemas.openxmlformats.org/drawingml/2006/main">
            <a:off x="1752600" y="36639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75" b="1">
                <a:solidFill>
                  <a:srgbClr val="102A43"/>
                </a:solidFill>
                <a:latin typeface="Aptos Mono"/>
                <a:ea typeface="Aptos Mono"/>
                <a:cs typeface="Aptos Mono"/>
              </a:defRPr>
            </a:pPr>
            <a:r>
              <a:rPr sz="975" b="1">
                <a:solidFill>
                  <a:srgbClr val="102A43"/>
                </a:solidFill>
                <a:latin typeface="Aptos Mono"/>
                <a:ea typeface="Aptos Mono"/>
                <a:cs typeface="Aptos Mono"/>
              </a:rPr>
              <a:t>2</a:t>
            </a:r>
          </a:p>
        </p:txBody>
      </p:sp>
      <p:sp>
        <p:nvSpPr>
          <p:cNvPr id="15" name="">
            <a:extLst xmlns:a="http://schemas.openxmlformats.org/drawingml/2006/main">
              <a:ext uri="{FF2B5EF4-FFF2-40B4-BE49-F238E27FC236}">
                <a16:creationId xmlns:a16="http://schemas.microsoft.com/office/drawing/2014/main" id="{ACDCDD37-51BD-450D-B5F4-D07CC27AFF2A}"/>
              </a:ext>
            </a:extLst>
          </p:cNvPr>
          <p:cNvSpPr>
            <a:spLocks xmlns:a="http://schemas.openxmlformats.org/drawingml/2006/main" noGrp="1"/>
          </p:cNvSpPr>
          <p:nvPr/>
        </p:nvSpPr>
        <p:spPr>
          <a:xfrm xmlns:a="http://schemas.openxmlformats.org/drawingml/2006/main">
            <a:off x="2381250" y="2952750"/>
            <a:ext cx="83820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6" name="">
            <a:extLst xmlns:a="http://schemas.openxmlformats.org/drawingml/2006/main">
              <a:ext uri="{FF2B5EF4-FFF2-40B4-BE49-F238E27FC236}">
                <a16:creationId xmlns:a16="http://schemas.microsoft.com/office/drawing/2014/main" id="{5BDF38DC-92EA-4E67-BE7D-47B73664C743}"/>
              </a:ext>
            </a:extLst>
          </p:cNvPr>
          <p:cNvSpPr>
            <a:spLocks xmlns:a="http://schemas.openxmlformats.org/drawingml/2006/main" noGrp="1"/>
          </p:cNvSpPr>
          <p:nvPr/>
        </p:nvSpPr>
        <p:spPr>
          <a:xfrm xmlns:a="http://schemas.openxmlformats.org/drawingml/2006/main">
            <a:off x="1752600" y="28384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75" b="1">
                <a:solidFill>
                  <a:srgbClr val="102A43"/>
                </a:solidFill>
                <a:latin typeface="Aptos Mono"/>
                <a:ea typeface="Aptos Mono"/>
                <a:cs typeface="Aptos Mono"/>
              </a:defRPr>
            </a:pPr>
            <a:r>
              <a:rPr sz="975" b="1">
                <a:solidFill>
                  <a:srgbClr val="102A43"/>
                </a:solidFill>
                <a:latin typeface="Aptos Mono"/>
                <a:ea typeface="Aptos Mono"/>
                <a:cs typeface="Aptos Mono"/>
              </a:rPr>
              <a:t>3</a:t>
            </a:r>
          </a:p>
        </p:txBody>
      </p:sp>
      <p:sp>
        <p:nvSpPr>
          <p:cNvPr id="17" name="">
            <a:extLst xmlns:a="http://schemas.openxmlformats.org/drawingml/2006/main">
              <a:ext uri="{FF2B5EF4-FFF2-40B4-BE49-F238E27FC236}">
                <a16:creationId xmlns:a16="http://schemas.microsoft.com/office/drawing/2014/main" id="{258056B8-46C6-4703-BEB0-2AC8ED686E4F}"/>
              </a:ext>
            </a:extLst>
          </p:cNvPr>
          <p:cNvSpPr>
            <a:spLocks xmlns:a="http://schemas.openxmlformats.org/drawingml/2006/main" noGrp="1"/>
          </p:cNvSpPr>
          <p:nvPr/>
        </p:nvSpPr>
        <p:spPr>
          <a:xfrm xmlns:a="http://schemas.openxmlformats.org/drawingml/2006/main">
            <a:off x="2381250" y="2952750"/>
            <a:ext cx="0" cy="2476500"/>
          </a:xfrm>
          <a:prstGeom xmlns:a="http://schemas.openxmlformats.org/drawingml/2006/main" prst="line">
            <a:avLst/>
          </a:prstGeom>
          <a:noFill xmlns:a="http://schemas.openxmlformats.org/drawingml/2006/main"/>
          <a:ln xmlns:a="http://schemas.openxmlformats.org/drawingml/2006/main" w="19050">
            <a:solidFill>
              <a:srgbClr val="102A43"/>
            </a:solidFill>
            <a:prstDash val="solid"/>
          </a:ln>
        </p:spPr>
      </p:sp>
      <p:sp>
        <p:nvSpPr>
          <p:cNvPr id="18" name="">
            <a:extLst xmlns:a="http://schemas.openxmlformats.org/drawingml/2006/main">
              <a:ext uri="{FF2B5EF4-FFF2-40B4-BE49-F238E27FC236}">
                <a16:creationId xmlns:a16="http://schemas.microsoft.com/office/drawing/2014/main" id="{8A0BB3E2-8D7F-41BA-951E-E4CCE439EE4B}"/>
              </a:ext>
            </a:extLst>
          </p:cNvPr>
          <p:cNvSpPr>
            <a:spLocks xmlns:a="http://schemas.openxmlformats.org/drawingml/2006/main" noGrp="1"/>
          </p:cNvSpPr>
          <p:nvPr/>
        </p:nvSpPr>
        <p:spPr>
          <a:xfrm xmlns:a="http://schemas.openxmlformats.org/drawingml/2006/main">
            <a:off x="742950" y="285750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88DC1"/>
                </a:solidFill>
                <a:latin typeface="Aptos"/>
                <a:ea typeface="Aptos"/>
                <a:cs typeface="Aptos"/>
              </a:defRPr>
            </a:pPr>
            <a:r>
              <a:rPr sz="750" b="1">
                <a:solidFill>
                  <a:srgbClr val="288DC1"/>
                </a:solidFill>
                <a:latin typeface="Aptos"/>
                <a:ea typeface="Aptos"/>
                <a:cs typeface="Aptos"/>
              </a:rPr>
              <a:t>GROUNDING / POLICY</a:t>
            </a:r>
          </a:p>
          <a:p xmlns:a="http://schemas.openxmlformats.org/drawingml/2006/main">
            <a:pPr algn="l">
              <a:defRPr sz="750" b="1">
                <a:solidFill>
                  <a:srgbClr val="288DC1"/>
                </a:solidFill>
                <a:latin typeface="Aptos"/>
                <a:ea typeface="Aptos"/>
                <a:cs typeface="Aptos"/>
              </a:defRPr>
            </a:pPr>
            <a:r>
              <a:rPr sz="750" b="1">
                <a:solidFill>
                  <a:srgbClr val="288DC1"/>
                </a:solidFill>
                <a:latin typeface="Aptos"/>
                <a:ea typeface="Aptos"/>
                <a:cs typeface="Aptos"/>
              </a:rPr>
              <a:t>EVIDENCE</a:t>
            </a:r>
          </a:p>
        </p:txBody>
      </p:sp>
      <p:sp>
        <p:nvSpPr>
          <p:cNvPr id="19" name="">
            <a:extLst xmlns:a="http://schemas.openxmlformats.org/drawingml/2006/main">
              <a:ext uri="{FF2B5EF4-FFF2-40B4-BE49-F238E27FC236}">
                <a16:creationId xmlns:a16="http://schemas.microsoft.com/office/drawing/2014/main" id="{5EFE8236-6DCB-42BC-854C-86F8AB4D2A10}"/>
              </a:ext>
            </a:extLst>
          </p:cNvPr>
          <p:cNvSpPr>
            <a:spLocks xmlns:a="http://schemas.openxmlformats.org/drawingml/2006/main" noGrp="1"/>
          </p:cNvSpPr>
          <p:nvPr/>
        </p:nvSpPr>
        <p:spPr>
          <a:xfrm xmlns:a="http://schemas.openxmlformats.org/drawingml/2006/main">
            <a:off x="742950" y="52387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0">
                <a:solidFill>
                  <a:srgbClr val="4B687A"/>
                </a:solidFill>
                <a:latin typeface="Aptos"/>
                <a:ea typeface="Aptos"/>
                <a:cs typeface="Aptos"/>
              </a:defRPr>
            </a:pPr>
            <a:r>
              <a:rPr sz="825" b="0">
                <a:solidFill>
                  <a:srgbClr val="4B687A"/>
                </a:solidFill>
                <a:latin typeface="Aptos"/>
                <a:ea typeface="Aptos"/>
                <a:cs typeface="Aptos"/>
              </a:rPr>
              <a:t>0  known failure</a:t>
            </a:r>
          </a:p>
        </p:txBody>
      </p:sp>
      <p:sp>
        <p:nvSpPr>
          <p:cNvPr id="20" name="">
            <a:extLst xmlns:a="http://schemas.openxmlformats.org/drawingml/2006/main">
              <a:ext uri="{FF2B5EF4-FFF2-40B4-BE49-F238E27FC236}">
                <a16:creationId xmlns:a16="http://schemas.microsoft.com/office/drawing/2014/main" id="{C37BA03C-09EF-41F4-9213-56E12DA62FD7}"/>
              </a:ext>
            </a:extLst>
          </p:cNvPr>
          <p:cNvSpPr>
            <a:spLocks xmlns:a="http://schemas.openxmlformats.org/drawingml/2006/main" noGrp="1"/>
          </p:cNvSpPr>
          <p:nvPr/>
        </p:nvSpPr>
        <p:spPr>
          <a:xfrm xmlns:a="http://schemas.openxmlformats.org/drawingml/2006/main">
            <a:off x="742950" y="30099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0">
                <a:solidFill>
                  <a:srgbClr val="4B687A"/>
                </a:solidFill>
                <a:latin typeface="Aptos"/>
                <a:ea typeface="Aptos"/>
                <a:cs typeface="Aptos"/>
              </a:defRPr>
            </a:pPr>
            <a:r>
              <a:rPr sz="825" b="0">
                <a:solidFill>
                  <a:srgbClr val="4B687A"/>
                </a:solidFill>
                <a:latin typeface="Aptos"/>
                <a:ea typeface="Aptos"/>
                <a:cs typeface="Aptos"/>
              </a:rPr>
              <a:t>3  evaluated gate</a:t>
            </a:r>
          </a:p>
        </p:txBody>
      </p:sp>
      <p:sp>
        <p:nvSpPr>
          <p:cNvPr id="21" name="">
            <a:extLst xmlns:a="http://schemas.openxmlformats.org/drawingml/2006/main">
              <a:ext uri="{FF2B5EF4-FFF2-40B4-BE49-F238E27FC236}">
                <a16:creationId xmlns:a16="http://schemas.microsoft.com/office/drawing/2014/main" id="{A8EE73B9-F339-41E8-8C4E-81D3CA2A9A7F}"/>
              </a:ext>
            </a:extLst>
          </p:cNvPr>
          <p:cNvSpPr>
            <a:spLocks xmlns:a="http://schemas.openxmlformats.org/drawingml/2006/main" noGrp="1"/>
          </p:cNvSpPr>
          <p:nvPr/>
        </p:nvSpPr>
        <p:spPr>
          <a:xfrm xmlns:a="http://schemas.openxmlformats.org/drawingml/2006/main">
            <a:off x="2381250" y="5429250"/>
            <a:ext cx="0" cy="76200"/>
          </a:xfrm>
          <a:prstGeom xmlns:a="http://schemas.openxmlformats.org/drawingml/2006/main" prst="line">
            <a:avLst/>
          </a:prstGeom>
          <a:noFill xmlns:a="http://schemas.openxmlformats.org/drawingml/2006/main"/>
          <a:ln xmlns:a="http://schemas.openxmlformats.org/drawingml/2006/main" w="9525">
            <a:solidFill>
              <a:srgbClr val="102A43"/>
            </a:solidFill>
            <a:prstDash val="solid"/>
          </a:ln>
        </p:spPr>
      </p:sp>
      <p:sp>
        <p:nvSpPr>
          <p:cNvPr id="22" name="">
            <a:extLst xmlns:a="http://schemas.openxmlformats.org/drawingml/2006/main">
              <a:ext uri="{FF2B5EF4-FFF2-40B4-BE49-F238E27FC236}">
                <a16:creationId xmlns:a16="http://schemas.microsoft.com/office/drawing/2014/main" id="{CD16E219-EB78-41FB-87D9-457D64BBB5D6}"/>
              </a:ext>
            </a:extLst>
          </p:cNvPr>
          <p:cNvSpPr>
            <a:spLocks xmlns:a="http://schemas.openxmlformats.org/drawingml/2006/main" noGrp="1"/>
          </p:cNvSpPr>
          <p:nvPr/>
        </p:nvSpPr>
        <p:spPr>
          <a:xfrm xmlns:a="http://schemas.openxmlformats.org/drawingml/2006/main">
            <a:off x="1962150" y="554355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0 ms</a:t>
            </a:r>
          </a:p>
        </p:txBody>
      </p:sp>
      <p:sp>
        <p:nvSpPr>
          <p:cNvPr id="23" name="">
            <a:extLst xmlns:a="http://schemas.openxmlformats.org/drawingml/2006/main">
              <a:ext uri="{FF2B5EF4-FFF2-40B4-BE49-F238E27FC236}">
                <a16:creationId xmlns:a16="http://schemas.microsoft.com/office/drawing/2014/main" id="{BFF57868-61FF-45D0-A41A-A01DE37E7020}"/>
              </a:ext>
            </a:extLst>
          </p:cNvPr>
          <p:cNvSpPr>
            <a:spLocks xmlns:a="http://schemas.openxmlformats.org/drawingml/2006/main" noGrp="1"/>
          </p:cNvSpPr>
          <p:nvPr/>
        </p:nvSpPr>
        <p:spPr>
          <a:xfrm xmlns:a="http://schemas.openxmlformats.org/drawingml/2006/main">
            <a:off x="4476750" y="5429250"/>
            <a:ext cx="0" cy="76200"/>
          </a:xfrm>
          <a:prstGeom xmlns:a="http://schemas.openxmlformats.org/drawingml/2006/main" prst="line">
            <a:avLst/>
          </a:prstGeom>
          <a:noFill xmlns:a="http://schemas.openxmlformats.org/drawingml/2006/main"/>
          <a:ln xmlns:a="http://schemas.openxmlformats.org/drawingml/2006/main" w="9525">
            <a:solidFill>
              <a:srgbClr val="102A43"/>
            </a:solidFill>
            <a:prstDash val="solid"/>
          </a:ln>
        </p:spPr>
      </p:sp>
      <p:sp>
        <p:nvSpPr>
          <p:cNvPr id="24" name="">
            <a:extLst xmlns:a="http://schemas.openxmlformats.org/drawingml/2006/main">
              <a:ext uri="{FF2B5EF4-FFF2-40B4-BE49-F238E27FC236}">
                <a16:creationId xmlns:a16="http://schemas.microsoft.com/office/drawing/2014/main" id="{B2208EC9-EFF0-455E-9322-E6604A78854B}"/>
              </a:ext>
            </a:extLst>
          </p:cNvPr>
          <p:cNvSpPr>
            <a:spLocks xmlns:a="http://schemas.openxmlformats.org/drawingml/2006/main" noGrp="1"/>
          </p:cNvSpPr>
          <p:nvPr/>
        </p:nvSpPr>
        <p:spPr>
          <a:xfrm xmlns:a="http://schemas.openxmlformats.org/drawingml/2006/main">
            <a:off x="4057650" y="554355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800 ms</a:t>
            </a:r>
          </a:p>
        </p:txBody>
      </p:sp>
      <p:sp>
        <p:nvSpPr>
          <p:cNvPr id="25" name="">
            <a:extLst xmlns:a="http://schemas.openxmlformats.org/drawingml/2006/main">
              <a:ext uri="{FF2B5EF4-FFF2-40B4-BE49-F238E27FC236}">
                <a16:creationId xmlns:a16="http://schemas.microsoft.com/office/drawing/2014/main" id="{D43C0336-B162-40C1-B28E-1B861B12443A}"/>
              </a:ext>
            </a:extLst>
          </p:cNvPr>
          <p:cNvSpPr>
            <a:spLocks xmlns:a="http://schemas.openxmlformats.org/drawingml/2006/main" noGrp="1"/>
          </p:cNvSpPr>
          <p:nvPr/>
        </p:nvSpPr>
        <p:spPr>
          <a:xfrm xmlns:a="http://schemas.openxmlformats.org/drawingml/2006/main">
            <a:off x="6572250" y="5429250"/>
            <a:ext cx="0" cy="76200"/>
          </a:xfrm>
          <a:prstGeom xmlns:a="http://schemas.openxmlformats.org/drawingml/2006/main" prst="line">
            <a:avLst/>
          </a:prstGeom>
          <a:noFill xmlns:a="http://schemas.openxmlformats.org/drawingml/2006/main"/>
          <a:ln xmlns:a="http://schemas.openxmlformats.org/drawingml/2006/main" w="9525">
            <a:solidFill>
              <a:srgbClr val="102A43"/>
            </a:solidFill>
            <a:prstDash val="solid"/>
          </a:ln>
        </p:spPr>
      </p:sp>
      <p:sp>
        <p:nvSpPr>
          <p:cNvPr id="26" name="">
            <a:extLst xmlns:a="http://schemas.openxmlformats.org/drawingml/2006/main">
              <a:ext uri="{FF2B5EF4-FFF2-40B4-BE49-F238E27FC236}">
                <a16:creationId xmlns:a16="http://schemas.microsoft.com/office/drawing/2014/main" id="{183D54B0-0697-402F-84F5-7BB57A4A650E}"/>
              </a:ext>
            </a:extLst>
          </p:cNvPr>
          <p:cNvSpPr>
            <a:spLocks xmlns:a="http://schemas.openxmlformats.org/drawingml/2006/main" noGrp="1"/>
          </p:cNvSpPr>
          <p:nvPr/>
        </p:nvSpPr>
        <p:spPr>
          <a:xfrm xmlns:a="http://schemas.openxmlformats.org/drawingml/2006/main">
            <a:off x="6153150" y="554355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1,600 ms</a:t>
            </a:r>
          </a:p>
        </p:txBody>
      </p:sp>
      <p:sp>
        <p:nvSpPr>
          <p:cNvPr id="27" name="">
            <a:extLst xmlns:a="http://schemas.openxmlformats.org/drawingml/2006/main">
              <a:ext uri="{FF2B5EF4-FFF2-40B4-BE49-F238E27FC236}">
                <a16:creationId xmlns:a16="http://schemas.microsoft.com/office/drawing/2014/main" id="{3CB80D37-FB86-49A4-96C1-7A479DDD64C4}"/>
              </a:ext>
            </a:extLst>
          </p:cNvPr>
          <p:cNvSpPr>
            <a:spLocks xmlns:a="http://schemas.openxmlformats.org/drawingml/2006/main" noGrp="1"/>
          </p:cNvSpPr>
          <p:nvPr/>
        </p:nvSpPr>
        <p:spPr>
          <a:xfrm xmlns:a="http://schemas.openxmlformats.org/drawingml/2006/main">
            <a:off x="8667750" y="5429250"/>
            <a:ext cx="0" cy="76200"/>
          </a:xfrm>
          <a:prstGeom xmlns:a="http://schemas.openxmlformats.org/drawingml/2006/main" prst="line">
            <a:avLst/>
          </a:prstGeom>
          <a:noFill xmlns:a="http://schemas.openxmlformats.org/drawingml/2006/main"/>
          <a:ln xmlns:a="http://schemas.openxmlformats.org/drawingml/2006/main" w="9525">
            <a:solidFill>
              <a:srgbClr val="102A43"/>
            </a:solidFill>
            <a:prstDash val="solid"/>
          </a:ln>
        </p:spPr>
      </p:sp>
      <p:sp>
        <p:nvSpPr>
          <p:cNvPr id="28" name="">
            <a:extLst xmlns:a="http://schemas.openxmlformats.org/drawingml/2006/main">
              <a:ext uri="{FF2B5EF4-FFF2-40B4-BE49-F238E27FC236}">
                <a16:creationId xmlns:a16="http://schemas.microsoft.com/office/drawing/2014/main" id="{29198CB5-CB12-4418-866E-F9B0BBE55827}"/>
              </a:ext>
            </a:extLst>
          </p:cNvPr>
          <p:cNvSpPr>
            <a:spLocks xmlns:a="http://schemas.openxmlformats.org/drawingml/2006/main" noGrp="1"/>
          </p:cNvSpPr>
          <p:nvPr/>
        </p:nvSpPr>
        <p:spPr>
          <a:xfrm xmlns:a="http://schemas.openxmlformats.org/drawingml/2006/main">
            <a:off x="8248650" y="554355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2,400 ms</a:t>
            </a:r>
          </a:p>
        </p:txBody>
      </p:sp>
      <p:sp>
        <p:nvSpPr>
          <p:cNvPr id="29" name="">
            <a:extLst xmlns:a="http://schemas.openxmlformats.org/drawingml/2006/main">
              <a:ext uri="{FF2B5EF4-FFF2-40B4-BE49-F238E27FC236}">
                <a16:creationId xmlns:a16="http://schemas.microsoft.com/office/drawing/2014/main" id="{F69D7148-EEE6-45CE-AEA4-B12BA2FAA562}"/>
              </a:ext>
            </a:extLst>
          </p:cNvPr>
          <p:cNvSpPr>
            <a:spLocks xmlns:a="http://schemas.openxmlformats.org/drawingml/2006/main" noGrp="1"/>
          </p:cNvSpPr>
          <p:nvPr/>
        </p:nvSpPr>
        <p:spPr>
          <a:xfrm xmlns:a="http://schemas.openxmlformats.org/drawingml/2006/main">
            <a:off x="10763250" y="5429250"/>
            <a:ext cx="0" cy="76200"/>
          </a:xfrm>
          <a:prstGeom xmlns:a="http://schemas.openxmlformats.org/drawingml/2006/main" prst="line">
            <a:avLst/>
          </a:prstGeom>
          <a:noFill xmlns:a="http://schemas.openxmlformats.org/drawingml/2006/main"/>
          <a:ln xmlns:a="http://schemas.openxmlformats.org/drawingml/2006/main" w="9525">
            <a:solidFill>
              <a:srgbClr val="102A43"/>
            </a:solidFill>
            <a:prstDash val="solid"/>
          </a:ln>
        </p:spPr>
      </p:sp>
      <p:sp>
        <p:nvSpPr>
          <p:cNvPr id="30" name="">
            <a:extLst xmlns:a="http://schemas.openxmlformats.org/drawingml/2006/main">
              <a:ext uri="{FF2B5EF4-FFF2-40B4-BE49-F238E27FC236}">
                <a16:creationId xmlns:a16="http://schemas.microsoft.com/office/drawing/2014/main" id="{8C626184-0E1A-44EF-AFC1-D227C048D160}"/>
              </a:ext>
            </a:extLst>
          </p:cNvPr>
          <p:cNvSpPr>
            <a:spLocks xmlns:a="http://schemas.openxmlformats.org/drawingml/2006/main" noGrp="1"/>
          </p:cNvSpPr>
          <p:nvPr/>
        </p:nvSpPr>
        <p:spPr>
          <a:xfrm xmlns:a="http://schemas.openxmlformats.org/drawingml/2006/main">
            <a:off x="10344150" y="554355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4B687A"/>
                </a:solidFill>
                <a:latin typeface="Aptos Mono"/>
                <a:ea typeface="Aptos Mono"/>
                <a:cs typeface="Aptos Mono"/>
              </a:defRPr>
            </a:pPr>
            <a:r>
              <a:rPr sz="825" b="0">
                <a:solidFill>
                  <a:srgbClr val="4B687A"/>
                </a:solidFill>
                <a:latin typeface="Aptos Mono"/>
                <a:ea typeface="Aptos Mono"/>
                <a:cs typeface="Aptos Mono"/>
              </a:rPr>
              <a:t>3,200 ms</a:t>
            </a:r>
          </a:p>
        </p:txBody>
      </p:sp>
      <p:sp>
        <p:nvSpPr>
          <p:cNvPr id="31" name="">
            <a:extLst xmlns:a="http://schemas.openxmlformats.org/drawingml/2006/main">
              <a:ext uri="{FF2B5EF4-FFF2-40B4-BE49-F238E27FC236}">
                <a16:creationId xmlns:a16="http://schemas.microsoft.com/office/drawing/2014/main" id="{78E8E9A5-59FA-4359-9B71-7EC3FC2DC256}"/>
              </a:ext>
            </a:extLst>
          </p:cNvPr>
          <p:cNvSpPr>
            <a:spLocks xmlns:a="http://schemas.openxmlformats.org/drawingml/2006/main" noGrp="1"/>
          </p:cNvSpPr>
          <p:nvPr/>
        </p:nvSpPr>
        <p:spPr>
          <a:xfrm xmlns:a="http://schemas.openxmlformats.org/drawingml/2006/main">
            <a:off x="7410450" y="5791200"/>
            <a:ext cx="335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825" b="1">
                <a:solidFill>
                  <a:srgbClr val="288DC1"/>
                </a:solidFill>
                <a:latin typeface="Aptos"/>
                <a:ea typeface="Aptos"/>
                <a:cs typeface="Aptos"/>
              </a:defRPr>
            </a:pPr>
            <a:r>
              <a:rPr sz="825" b="1">
                <a:solidFill>
                  <a:srgbClr val="288DC1"/>
                </a:solidFill>
                <a:latin typeface="Aptos"/>
                <a:ea typeface="Aptos"/>
                <a:cs typeface="Aptos"/>
              </a:rPr>
              <a:t>FIRST-PLAN LATENCY →</a:t>
            </a:r>
          </a:p>
        </p:txBody>
      </p:sp>
      <p:sp>
        <p:nvSpPr>
          <p:cNvPr id="32" name="">
            <a:extLst xmlns:a="http://schemas.openxmlformats.org/drawingml/2006/main">
              <a:ext uri="{FF2B5EF4-FFF2-40B4-BE49-F238E27FC236}">
                <a16:creationId xmlns:a16="http://schemas.microsoft.com/office/drawing/2014/main" id="{45BC1CAC-6558-4189-B7D9-ECD1008CCE7C}"/>
              </a:ext>
            </a:extLst>
          </p:cNvPr>
          <p:cNvSpPr>
            <a:spLocks xmlns:a="http://schemas.openxmlformats.org/drawingml/2006/main" noGrp="1"/>
          </p:cNvSpPr>
          <p:nvPr/>
        </p:nvSpPr>
        <p:spPr>
          <a:xfrm xmlns:a="http://schemas.openxmlformats.org/drawingml/2006/main">
            <a:off x="2696289" y="5343525"/>
            <a:ext cx="171450" cy="171450"/>
          </a:xfrm>
          <a:prstGeom xmlns:a="http://schemas.openxmlformats.org/drawingml/2006/main" prst="ellipse">
            <a:avLst/>
          </a:prstGeom>
          <a:solidFill xmlns:a="http://schemas.openxmlformats.org/drawingml/2006/main">
            <a:srgbClr val="D96C5F"/>
          </a:solidFill>
          <a:ln xmlns:a="http://schemas.openxmlformats.org/drawingml/2006/main" w="14288">
            <a:solidFill>
              <a:srgbClr val="FFF8EA"/>
            </a:solidFill>
            <a:prstDash val="solid"/>
          </a:ln>
        </p:spPr>
      </p:sp>
      <p:sp>
        <p:nvSpPr>
          <p:cNvPr id="33" name="">
            <a:extLst xmlns:a="http://schemas.openxmlformats.org/drawingml/2006/main">
              <a:ext uri="{FF2B5EF4-FFF2-40B4-BE49-F238E27FC236}">
                <a16:creationId xmlns:a16="http://schemas.microsoft.com/office/drawing/2014/main" id="{43B037C2-79AB-4EAF-98BA-1BEC7BF4CEFC}"/>
              </a:ext>
            </a:extLst>
          </p:cNvPr>
          <p:cNvSpPr>
            <a:spLocks xmlns:a="http://schemas.openxmlformats.org/drawingml/2006/main" noGrp="1"/>
          </p:cNvSpPr>
          <p:nvPr/>
        </p:nvSpPr>
        <p:spPr>
          <a:xfrm xmlns:a="http://schemas.openxmlformats.org/drawingml/2006/main">
            <a:off x="2877264" y="502920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a:ea typeface="Aptos"/>
                <a:cs typeface="Aptos"/>
              </a:defRPr>
            </a:pPr>
            <a:r>
              <a:rPr sz="1125" b="1">
                <a:solidFill>
                  <a:srgbClr val="102A43"/>
                </a:solidFill>
                <a:latin typeface="Aptos"/>
                <a:ea typeface="Aptos"/>
                <a:cs typeface="Aptos"/>
              </a:rPr>
              <a:t>Qwen 0.8B</a:t>
            </a:r>
          </a:p>
        </p:txBody>
      </p:sp>
      <p:sp>
        <p:nvSpPr>
          <p:cNvPr id="34" name="">
            <a:extLst xmlns:a="http://schemas.openxmlformats.org/drawingml/2006/main">
              <a:ext uri="{FF2B5EF4-FFF2-40B4-BE49-F238E27FC236}">
                <a16:creationId xmlns:a16="http://schemas.microsoft.com/office/drawing/2014/main" id="{B67FF959-2FA0-4B3E-A2F4-A930F5ED3F0D}"/>
              </a:ext>
            </a:extLst>
          </p:cNvPr>
          <p:cNvSpPr>
            <a:spLocks xmlns:a="http://schemas.openxmlformats.org/drawingml/2006/main" noGrp="1"/>
          </p:cNvSpPr>
          <p:nvPr/>
        </p:nvSpPr>
        <p:spPr>
          <a:xfrm xmlns:a="http://schemas.openxmlformats.org/drawingml/2006/main">
            <a:off x="2877264" y="5219700"/>
            <a:ext cx="1857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a:ea typeface="Aptos"/>
                <a:cs typeface="Aptos"/>
              </a:defRPr>
            </a:pPr>
            <a:r>
              <a:rPr sz="900" b="0">
                <a:solidFill>
                  <a:srgbClr val="4B687A"/>
                </a:solidFill>
                <a:latin typeface="Aptos"/>
                <a:ea typeface="Aptos"/>
                <a:cs typeface="Aptos"/>
              </a:rPr>
              <a:t>153 ms · fabricated facts</a:t>
            </a:r>
          </a:p>
        </p:txBody>
      </p:sp>
      <p:sp>
        <p:nvSpPr>
          <p:cNvPr id="35" name="">
            <a:extLst xmlns:a="http://schemas.openxmlformats.org/drawingml/2006/main">
              <a:ext uri="{FF2B5EF4-FFF2-40B4-BE49-F238E27FC236}">
                <a16:creationId xmlns:a16="http://schemas.microsoft.com/office/drawing/2014/main" id="{0DFBE80C-947E-4C53-93B8-040424047A47}"/>
              </a:ext>
            </a:extLst>
          </p:cNvPr>
          <p:cNvSpPr>
            <a:spLocks xmlns:a="http://schemas.openxmlformats.org/drawingml/2006/main" noGrp="1"/>
          </p:cNvSpPr>
          <p:nvPr/>
        </p:nvSpPr>
        <p:spPr>
          <a:xfrm xmlns:a="http://schemas.openxmlformats.org/drawingml/2006/main">
            <a:off x="5582841" y="5343525"/>
            <a:ext cx="171450" cy="171450"/>
          </a:xfrm>
          <a:prstGeom xmlns:a="http://schemas.openxmlformats.org/drawingml/2006/main" prst="ellipse">
            <a:avLst/>
          </a:prstGeom>
          <a:solidFill xmlns:a="http://schemas.openxmlformats.org/drawingml/2006/main">
            <a:srgbClr val="D96C5F"/>
          </a:solidFill>
          <a:ln xmlns:a="http://schemas.openxmlformats.org/drawingml/2006/main" w="14288">
            <a:solidFill>
              <a:srgbClr val="FFF8EA"/>
            </a:solidFill>
            <a:prstDash val="solid"/>
          </a:ln>
        </p:spPr>
      </p:sp>
      <p:sp>
        <p:nvSpPr>
          <p:cNvPr id="36" name="">
            <a:extLst xmlns:a="http://schemas.openxmlformats.org/drawingml/2006/main">
              <a:ext uri="{FF2B5EF4-FFF2-40B4-BE49-F238E27FC236}">
                <a16:creationId xmlns:a16="http://schemas.microsoft.com/office/drawing/2014/main" id="{111FFC52-827E-4E54-9916-F8CD46F12999}"/>
              </a:ext>
            </a:extLst>
          </p:cNvPr>
          <p:cNvSpPr>
            <a:spLocks xmlns:a="http://schemas.openxmlformats.org/drawingml/2006/main" noGrp="1"/>
          </p:cNvSpPr>
          <p:nvPr/>
        </p:nvSpPr>
        <p:spPr>
          <a:xfrm xmlns:a="http://schemas.openxmlformats.org/drawingml/2006/main">
            <a:off x="4201716" y="47625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a:ea typeface="Aptos"/>
                <a:cs typeface="Aptos"/>
              </a:defRPr>
            </a:pPr>
            <a:r>
              <a:rPr sz="1125" b="1">
                <a:solidFill>
                  <a:srgbClr val="102A43"/>
                </a:solidFill>
                <a:latin typeface="Aptos"/>
                <a:ea typeface="Aptos"/>
                <a:cs typeface="Aptos"/>
              </a:rPr>
              <a:t>Gemma 1B</a:t>
            </a:r>
          </a:p>
        </p:txBody>
      </p:sp>
      <p:sp>
        <p:nvSpPr>
          <p:cNvPr id="37" name="">
            <a:extLst xmlns:a="http://schemas.openxmlformats.org/drawingml/2006/main">
              <a:ext uri="{FF2B5EF4-FFF2-40B4-BE49-F238E27FC236}">
                <a16:creationId xmlns:a16="http://schemas.microsoft.com/office/drawing/2014/main" id="{8032A0DF-4BF3-4D19-B261-E11D8C46BD87}"/>
              </a:ext>
            </a:extLst>
          </p:cNvPr>
          <p:cNvSpPr>
            <a:spLocks xmlns:a="http://schemas.openxmlformats.org/drawingml/2006/main" noGrp="1"/>
          </p:cNvSpPr>
          <p:nvPr/>
        </p:nvSpPr>
        <p:spPr>
          <a:xfrm xmlns:a="http://schemas.openxmlformats.org/drawingml/2006/main">
            <a:off x="4201716" y="49530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a:ea typeface="Aptos"/>
                <a:cs typeface="Aptos"/>
              </a:defRPr>
            </a:pPr>
            <a:r>
              <a:rPr sz="900" b="0">
                <a:solidFill>
                  <a:srgbClr val="4B687A"/>
                </a:solidFill>
                <a:latin typeface="Aptos"/>
                <a:ea typeface="Aptos"/>
                <a:cs typeface="Aptos"/>
              </a:rPr>
              <a:t>760–1,750 ms · schema/policy fails</a:t>
            </a:r>
          </a:p>
        </p:txBody>
      </p:sp>
      <p:sp>
        <p:nvSpPr>
          <p:cNvPr id="38" name="">
            <a:extLst xmlns:a="http://schemas.openxmlformats.org/drawingml/2006/main">
              <a:ext uri="{FF2B5EF4-FFF2-40B4-BE49-F238E27FC236}">
                <a16:creationId xmlns:a16="http://schemas.microsoft.com/office/drawing/2014/main" id="{45996374-18C3-469E-8140-BD3A75127C68}"/>
              </a:ext>
            </a:extLst>
          </p:cNvPr>
          <p:cNvSpPr>
            <a:spLocks xmlns:a="http://schemas.openxmlformats.org/drawingml/2006/main" noGrp="1"/>
          </p:cNvSpPr>
          <p:nvPr/>
        </p:nvSpPr>
        <p:spPr>
          <a:xfrm xmlns:a="http://schemas.openxmlformats.org/drawingml/2006/main">
            <a:off x="6546771" y="4518025"/>
            <a:ext cx="171450" cy="171450"/>
          </a:xfrm>
          <a:prstGeom xmlns:a="http://schemas.openxmlformats.org/drawingml/2006/main" prst="ellipse">
            <a:avLst/>
          </a:prstGeom>
          <a:solidFill xmlns:a="http://schemas.openxmlformats.org/drawingml/2006/main">
            <a:srgbClr val="288DC1"/>
          </a:solidFill>
          <a:ln xmlns:a="http://schemas.openxmlformats.org/drawingml/2006/main" w="14288">
            <a:solidFill>
              <a:srgbClr val="FFF8EA"/>
            </a:solidFill>
            <a:prstDash val="solid"/>
          </a:ln>
        </p:spPr>
      </p:sp>
      <p:sp>
        <p:nvSpPr>
          <p:cNvPr id="39" name="">
            <a:extLst xmlns:a="http://schemas.openxmlformats.org/drawingml/2006/main">
              <a:ext uri="{FF2B5EF4-FFF2-40B4-BE49-F238E27FC236}">
                <a16:creationId xmlns:a16="http://schemas.microsoft.com/office/drawing/2014/main" id="{7F5CFB07-E70A-4178-A0E7-F2301A399B6A}"/>
              </a:ext>
            </a:extLst>
          </p:cNvPr>
          <p:cNvSpPr>
            <a:spLocks xmlns:a="http://schemas.openxmlformats.org/drawingml/2006/main" noGrp="1"/>
          </p:cNvSpPr>
          <p:nvPr/>
        </p:nvSpPr>
        <p:spPr>
          <a:xfrm xmlns:a="http://schemas.openxmlformats.org/drawingml/2006/main">
            <a:off x="6727746" y="41275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a:ea typeface="Aptos"/>
                <a:cs typeface="Aptos"/>
              </a:defRPr>
            </a:pPr>
            <a:r>
              <a:rPr sz="1125" b="1">
                <a:solidFill>
                  <a:srgbClr val="102A43"/>
                </a:solidFill>
                <a:latin typeface="Aptos"/>
                <a:ea typeface="Aptos"/>
                <a:cs typeface="Aptos"/>
              </a:rPr>
              <a:t>Qwen 4B</a:t>
            </a:r>
          </a:p>
        </p:txBody>
      </p:sp>
      <p:sp>
        <p:nvSpPr>
          <p:cNvPr id="40" name="">
            <a:extLst xmlns:a="http://schemas.openxmlformats.org/drawingml/2006/main">
              <a:ext uri="{FF2B5EF4-FFF2-40B4-BE49-F238E27FC236}">
                <a16:creationId xmlns:a16="http://schemas.microsoft.com/office/drawing/2014/main" id="{9388C7DB-C9B9-4EFF-9732-9AEB535CC958}"/>
              </a:ext>
            </a:extLst>
          </p:cNvPr>
          <p:cNvSpPr>
            <a:spLocks xmlns:a="http://schemas.openxmlformats.org/drawingml/2006/main" noGrp="1"/>
          </p:cNvSpPr>
          <p:nvPr/>
        </p:nvSpPr>
        <p:spPr>
          <a:xfrm xmlns:a="http://schemas.openxmlformats.org/drawingml/2006/main">
            <a:off x="6727746" y="43180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a:ea typeface="Aptos"/>
                <a:cs typeface="Aptos"/>
              </a:defRPr>
            </a:pPr>
            <a:r>
              <a:rPr sz="900" b="0">
                <a:solidFill>
                  <a:srgbClr val="4B687A"/>
                </a:solidFill>
                <a:latin typeface="Aptos"/>
                <a:ea typeface="Aptos"/>
                <a:cs typeface="Aptos"/>
              </a:rPr>
              <a:t>1,623 ms · relevant, ungated</a:t>
            </a:r>
          </a:p>
        </p:txBody>
      </p:sp>
      <p:sp>
        <p:nvSpPr>
          <p:cNvPr id="41" name="">
            <a:extLst xmlns:a="http://schemas.openxmlformats.org/drawingml/2006/main">
              <a:ext uri="{FF2B5EF4-FFF2-40B4-BE49-F238E27FC236}">
                <a16:creationId xmlns:a16="http://schemas.microsoft.com/office/drawing/2014/main" id="{4E930E43-A41C-4C0F-957E-B867B58252B1}"/>
              </a:ext>
            </a:extLst>
          </p:cNvPr>
          <p:cNvSpPr>
            <a:spLocks xmlns:a="http://schemas.openxmlformats.org/drawingml/2006/main" noGrp="1"/>
          </p:cNvSpPr>
          <p:nvPr/>
        </p:nvSpPr>
        <p:spPr>
          <a:xfrm xmlns:a="http://schemas.openxmlformats.org/drawingml/2006/main">
            <a:off x="10153650" y="3692525"/>
            <a:ext cx="171450" cy="171450"/>
          </a:xfrm>
          <a:prstGeom xmlns:a="http://schemas.openxmlformats.org/drawingml/2006/main" prst="ellipse">
            <a:avLst/>
          </a:prstGeom>
          <a:solidFill xmlns:a="http://schemas.openxmlformats.org/drawingml/2006/main">
            <a:srgbClr val="268C82"/>
          </a:solidFill>
          <a:ln xmlns:a="http://schemas.openxmlformats.org/drawingml/2006/main" w="14288">
            <a:solidFill>
              <a:srgbClr val="FFF8EA"/>
            </a:solidFill>
            <a:prstDash val="solid"/>
          </a:ln>
        </p:spPr>
      </p:sp>
      <p:sp>
        <p:nvSpPr>
          <p:cNvPr id="42" name="">
            <a:extLst xmlns:a="http://schemas.openxmlformats.org/drawingml/2006/main">
              <a:ext uri="{FF2B5EF4-FFF2-40B4-BE49-F238E27FC236}">
                <a16:creationId xmlns:a16="http://schemas.microsoft.com/office/drawing/2014/main" id="{D7707771-5A52-4219-B1A5-439D1B457ADF}"/>
              </a:ext>
            </a:extLst>
          </p:cNvPr>
          <p:cNvSpPr>
            <a:spLocks xmlns:a="http://schemas.openxmlformats.org/drawingml/2006/main" noGrp="1"/>
          </p:cNvSpPr>
          <p:nvPr/>
        </p:nvSpPr>
        <p:spPr>
          <a:xfrm xmlns:a="http://schemas.openxmlformats.org/drawingml/2006/main">
            <a:off x="7877175" y="33496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a:ea typeface="Aptos"/>
                <a:cs typeface="Aptos"/>
              </a:defRPr>
            </a:pPr>
            <a:r>
              <a:rPr sz="1125" b="1">
                <a:solidFill>
                  <a:srgbClr val="102A43"/>
                </a:solidFill>
                <a:latin typeface="Aptos"/>
                <a:ea typeface="Aptos"/>
                <a:cs typeface="Aptos"/>
              </a:rPr>
              <a:t>Gemma 4B</a:t>
            </a:r>
          </a:p>
        </p:txBody>
      </p:sp>
      <p:sp>
        <p:nvSpPr>
          <p:cNvPr id="43" name="">
            <a:extLst xmlns:a="http://schemas.openxmlformats.org/drawingml/2006/main">
              <a:ext uri="{FF2B5EF4-FFF2-40B4-BE49-F238E27FC236}">
                <a16:creationId xmlns:a16="http://schemas.microsoft.com/office/drawing/2014/main" id="{4141CA42-C87E-4D82-9E16-6A33245EFB3E}"/>
              </a:ext>
            </a:extLst>
          </p:cNvPr>
          <p:cNvSpPr>
            <a:spLocks xmlns:a="http://schemas.openxmlformats.org/drawingml/2006/main" noGrp="1"/>
          </p:cNvSpPr>
          <p:nvPr/>
        </p:nvSpPr>
        <p:spPr>
          <a:xfrm xmlns:a="http://schemas.openxmlformats.org/drawingml/2006/main">
            <a:off x="7877175" y="35401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a:ea typeface="Aptos"/>
                <a:cs typeface="Aptos"/>
              </a:defRPr>
            </a:pPr>
            <a:r>
              <a:rPr sz="900" b="0">
                <a:solidFill>
                  <a:srgbClr val="4B687A"/>
                </a:solidFill>
                <a:latin typeface="Aptos"/>
                <a:ea typeface="Aptos"/>
                <a:cs typeface="Aptos"/>
              </a:rPr>
              <a:t>2,858–3,142 ms · grounded sample</a:t>
            </a:r>
          </a:p>
        </p:txBody>
      </p:sp>
      <p:sp>
        <p:nvSpPr>
          <p:cNvPr id="44" name="">
            <a:extLst xmlns:a="http://schemas.openxmlformats.org/drawingml/2006/main">
              <a:ext uri="{FF2B5EF4-FFF2-40B4-BE49-F238E27FC236}">
                <a16:creationId xmlns:a16="http://schemas.microsoft.com/office/drawing/2014/main" id="{E7FFC44E-6B05-47B3-9FA7-86C75375552A}"/>
              </a:ext>
            </a:extLst>
          </p:cNvPr>
          <p:cNvSpPr>
            <a:spLocks xmlns:a="http://schemas.openxmlformats.org/drawingml/2006/main" noGrp="1"/>
          </p:cNvSpPr>
          <p:nvPr/>
        </p:nvSpPr>
        <p:spPr>
          <a:xfrm xmlns:a="http://schemas.openxmlformats.org/drawingml/2006/main">
            <a:off x="5191125" y="2828925"/>
            <a:ext cx="247650" cy="247650"/>
          </a:xfrm>
          <a:prstGeom xmlns:a="http://schemas.openxmlformats.org/drawingml/2006/main" prst="ellipse">
            <a:avLst/>
          </a:prstGeom>
          <a:solidFill xmlns:a="http://schemas.openxmlformats.org/drawingml/2006/main">
            <a:srgbClr val="268C82"/>
          </a:solidFill>
          <a:ln xmlns:a="http://schemas.openxmlformats.org/drawingml/2006/main" w="28575">
            <a:solidFill>
              <a:srgbClr val="FFF8EA"/>
            </a:solidFill>
            <a:prstDash val="solid"/>
          </a:ln>
        </p:spPr>
      </p:sp>
      <p:sp>
        <p:nvSpPr>
          <p:cNvPr id="45" name="">
            <a:extLst xmlns:a="http://schemas.openxmlformats.org/drawingml/2006/main">
              <a:ext uri="{FF2B5EF4-FFF2-40B4-BE49-F238E27FC236}">
                <a16:creationId xmlns:a16="http://schemas.microsoft.com/office/drawing/2014/main" id="{B91493A1-1576-4FAF-9763-D0451A96FD53}"/>
              </a:ext>
            </a:extLst>
          </p:cNvPr>
          <p:cNvSpPr>
            <a:spLocks xmlns:a="http://schemas.openxmlformats.org/drawingml/2006/main" noGrp="1"/>
          </p:cNvSpPr>
          <p:nvPr/>
        </p:nvSpPr>
        <p:spPr>
          <a:xfrm xmlns:a="http://schemas.openxmlformats.org/drawingml/2006/main">
            <a:off x="5448300" y="25908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a:ea typeface="Aptos"/>
                <a:cs typeface="Aptos"/>
              </a:defRPr>
            </a:pPr>
            <a:r>
              <a:rPr sz="1125" b="1">
                <a:solidFill>
                  <a:srgbClr val="102A43"/>
                </a:solidFill>
                <a:latin typeface="Aptos"/>
                <a:ea typeface="Aptos"/>
                <a:cs typeface="Aptos"/>
              </a:rPr>
              <a:t>Gemini Flash Lite</a:t>
            </a:r>
          </a:p>
        </p:txBody>
      </p:sp>
      <p:sp>
        <p:nvSpPr>
          <p:cNvPr id="46" name="">
            <a:extLst xmlns:a="http://schemas.openxmlformats.org/drawingml/2006/main">
              <a:ext uri="{FF2B5EF4-FFF2-40B4-BE49-F238E27FC236}">
                <a16:creationId xmlns:a16="http://schemas.microsoft.com/office/drawing/2014/main" id="{318BA647-7370-44AF-8ED5-77A2C8B40D81}"/>
              </a:ext>
            </a:extLst>
          </p:cNvPr>
          <p:cNvSpPr>
            <a:spLocks xmlns:a="http://schemas.openxmlformats.org/drawingml/2006/main" noGrp="1"/>
          </p:cNvSpPr>
          <p:nvPr/>
        </p:nvSpPr>
        <p:spPr>
          <a:xfrm xmlns:a="http://schemas.openxmlformats.org/drawingml/2006/main">
            <a:off x="5448300" y="27813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a:ea typeface="Aptos"/>
                <a:cs typeface="Aptos"/>
              </a:defRPr>
            </a:pPr>
            <a:r>
              <a:rPr sz="900" b="0">
                <a:solidFill>
                  <a:srgbClr val="4B687A"/>
                </a:solidFill>
                <a:latin typeface="Aptos"/>
                <a:ea typeface="Aptos"/>
                <a:cs typeface="Aptos"/>
              </a:rPr>
              <a:t>1,120 ms · 132/136 checks</a:t>
            </a:r>
          </a:p>
        </p:txBody>
      </p:sp>
      <p:sp>
        <p:nvSpPr>
          <p:cNvPr id="47" name="">
            <a:extLst xmlns:a="http://schemas.openxmlformats.org/drawingml/2006/main">
              <a:ext uri="{FF2B5EF4-FFF2-40B4-BE49-F238E27FC236}">
                <a16:creationId xmlns:a16="http://schemas.microsoft.com/office/drawing/2014/main" id="{A6849A2D-EC51-4F33-AF19-2F3902F49AF4}"/>
              </a:ext>
            </a:extLst>
          </p:cNvPr>
          <p:cNvSpPr>
            <a:spLocks xmlns:a="http://schemas.openxmlformats.org/drawingml/2006/main" noGrp="1"/>
          </p:cNvSpPr>
          <p:nvPr/>
        </p:nvSpPr>
        <p:spPr>
          <a:xfrm xmlns:a="http://schemas.openxmlformats.org/drawingml/2006/main">
            <a:off x="1485900" y="6019800"/>
            <a:ext cx="922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102A43"/>
                </a:solidFill>
                <a:latin typeface="Aptos"/>
                <a:ea typeface="Aptos"/>
                <a:cs typeface="Aptos"/>
              </a:defRPr>
            </a:pPr>
            <a:r>
              <a:rPr sz="1125" b="1">
                <a:solidFill>
                  <a:srgbClr val="102A43"/>
                </a:solidFill>
                <a:latin typeface="Aptos"/>
                <a:ea typeface="Aptos"/>
                <a:cs typeface="Aptos"/>
              </a:rPr>
              <a:t>Gemini was the only option that paired ~1.1 s planning with a gated grounded-response eval.</a:t>
            </a:r>
          </a:p>
        </p:txBody>
      </p:sp>
      <p:sp>
        <p:nvSpPr>
          <p:cNvPr id="48" name="">
            <a:extLst xmlns:a="http://schemas.openxmlformats.org/drawingml/2006/main">
              <a:ext uri="{FF2B5EF4-FFF2-40B4-BE49-F238E27FC236}">
                <a16:creationId xmlns:a16="http://schemas.microsoft.com/office/drawing/2014/main" id="{794789FB-CD9A-40EE-8AD1-68F1AD929FD7}"/>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Gemini 3.1 Flash Lite docs · Decisions 0021–0022</a:t>
            </a:r>
          </a:p>
        </p:txBody>
      </p:sp>
    </p:spTree>
    <p:extLst>
      <p:ext uri="{BB962C8B-B14F-4D97-AF65-F5344CB8AC3E}">
        <p14:creationId xmlns:p14="http://schemas.microsoft.com/office/powerpoint/2010/main" val="78251068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761a01ced9246c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07F2D78-0D59-42E6-B675-FC4DBF5BB4D7}"/>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60D7AB13-1DCF-4B5A-A8BD-71C365EFEC27}"/>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14</a:t>
            </a:r>
          </a:p>
        </p:txBody>
      </p:sp>
      <p:sp>
        <p:nvSpPr>
          <p:cNvPr id="4" name="">
            <a:extLst xmlns:a="http://schemas.openxmlformats.org/drawingml/2006/main">
              <a:ext uri="{FF2B5EF4-FFF2-40B4-BE49-F238E27FC236}">
                <a16:creationId xmlns:a16="http://schemas.microsoft.com/office/drawing/2014/main" id="{F7079AC0-5847-47D8-B394-8999A103FB4B}"/>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D0559A3A-2084-4F69-BD75-EE4F4DB60360}"/>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Local reasoning: the speed–reliability wall</a:t>
            </a:r>
          </a:p>
        </p:txBody>
      </p:sp>
      <p:sp>
        <p:nvSpPr>
          <p:cNvPr id="6" name="">
            <a:extLst xmlns:a="http://schemas.openxmlformats.org/drawingml/2006/main">
              <a:ext uri="{FF2B5EF4-FFF2-40B4-BE49-F238E27FC236}">
                <a16:creationId xmlns:a16="http://schemas.microsoft.com/office/drawing/2014/main" id="{C09F20C1-D9C1-498F-B94E-DAB585EB5280}"/>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9FCBD471-A8F3-4FEC-A277-A8FCB01B7EAF}"/>
              </a:ext>
            </a:extLst>
          </p:cNvPr>
          <p:cNvSpPr>
            <a:spLocks xmlns:a="http://schemas.openxmlformats.org/drawingml/2006/main" noGrp="1"/>
          </p:cNvSpPr>
          <p:nvPr/>
        </p:nvSpPr>
        <p:spPr>
          <a:xfrm xmlns:a="http://schemas.openxmlformats.org/drawingml/2006/main">
            <a:off x="914400" y="201930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88DC1"/>
                </a:solidFill>
                <a:latin typeface="Aptos"/>
                <a:ea typeface="Aptos"/>
                <a:cs typeface="Aptos"/>
              </a:defRPr>
            </a:pPr>
            <a:r>
              <a:rPr sz="900" b="1">
                <a:solidFill>
                  <a:srgbClr val="288DC1"/>
                </a:solidFill>
                <a:latin typeface="Aptos"/>
                <a:ea typeface="Aptos"/>
                <a:cs typeface="Aptos"/>
              </a:rPr>
              <a:t>MODEL</a:t>
            </a:r>
          </a:p>
        </p:txBody>
      </p:sp>
      <p:sp>
        <p:nvSpPr>
          <p:cNvPr id="8" name="">
            <a:extLst xmlns:a="http://schemas.openxmlformats.org/drawingml/2006/main">
              <a:ext uri="{FF2B5EF4-FFF2-40B4-BE49-F238E27FC236}">
                <a16:creationId xmlns:a16="http://schemas.microsoft.com/office/drawing/2014/main" id="{A24233D2-C518-4EF4-AFCF-7D1F604564A3}"/>
              </a:ext>
            </a:extLst>
          </p:cNvPr>
          <p:cNvSpPr>
            <a:spLocks xmlns:a="http://schemas.openxmlformats.org/drawingml/2006/main" noGrp="1"/>
          </p:cNvSpPr>
          <p:nvPr/>
        </p:nvSpPr>
        <p:spPr>
          <a:xfrm xmlns:a="http://schemas.openxmlformats.org/drawingml/2006/main">
            <a:off x="3886200" y="201930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88DC1"/>
                </a:solidFill>
                <a:latin typeface="Aptos"/>
                <a:ea typeface="Aptos"/>
                <a:cs typeface="Aptos"/>
              </a:defRPr>
            </a:pPr>
            <a:r>
              <a:rPr sz="900" b="1">
                <a:solidFill>
                  <a:srgbClr val="288DC1"/>
                </a:solidFill>
                <a:latin typeface="Aptos"/>
                <a:ea typeface="Aptos"/>
                <a:cs typeface="Aptos"/>
              </a:rPr>
              <a:t>FIRST-PLAN LATENCY</a:t>
            </a:r>
          </a:p>
        </p:txBody>
      </p:sp>
      <p:sp>
        <p:nvSpPr>
          <p:cNvPr id="9" name="">
            <a:extLst xmlns:a="http://schemas.openxmlformats.org/drawingml/2006/main">
              <a:ext uri="{FF2B5EF4-FFF2-40B4-BE49-F238E27FC236}">
                <a16:creationId xmlns:a16="http://schemas.microsoft.com/office/drawing/2014/main" id="{A6223440-F67E-409F-8B23-93E358178C0B}"/>
              </a:ext>
            </a:extLst>
          </p:cNvPr>
          <p:cNvSpPr>
            <a:spLocks xmlns:a="http://schemas.openxmlformats.org/drawingml/2006/main" noGrp="1"/>
          </p:cNvSpPr>
          <p:nvPr/>
        </p:nvSpPr>
        <p:spPr>
          <a:xfrm xmlns:a="http://schemas.openxmlformats.org/drawingml/2006/main">
            <a:off x="5943600" y="2019300"/>
            <a:ext cx="5353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88DC1"/>
                </a:solidFill>
                <a:latin typeface="Aptos"/>
                <a:ea typeface="Aptos"/>
                <a:cs typeface="Aptos"/>
              </a:defRPr>
            </a:pPr>
            <a:r>
              <a:rPr sz="900" b="1">
                <a:solidFill>
                  <a:srgbClr val="288DC1"/>
                </a:solidFill>
                <a:latin typeface="Aptos"/>
                <a:ea typeface="Aptos"/>
                <a:cs typeface="Aptos"/>
              </a:rPr>
              <a:t>OUTCOME</a:t>
            </a:r>
          </a:p>
        </p:txBody>
      </p:sp>
      <p:sp>
        <p:nvSpPr>
          <p:cNvPr id="10" name="">
            <a:extLst xmlns:a="http://schemas.openxmlformats.org/drawingml/2006/main">
              <a:ext uri="{FF2B5EF4-FFF2-40B4-BE49-F238E27FC236}">
                <a16:creationId xmlns:a16="http://schemas.microsoft.com/office/drawing/2014/main" id="{D9684E91-6CDF-410D-9E34-46E7FC097F44}"/>
              </a:ext>
            </a:extLst>
          </p:cNvPr>
          <p:cNvSpPr>
            <a:spLocks xmlns:a="http://schemas.openxmlformats.org/drawingml/2006/main" noGrp="1"/>
          </p:cNvSpPr>
          <p:nvPr/>
        </p:nvSpPr>
        <p:spPr>
          <a:xfrm xmlns:a="http://schemas.openxmlformats.org/drawingml/2006/main">
            <a:off x="781050" y="2343150"/>
            <a:ext cx="10648950" cy="552450"/>
          </a:xfrm>
          <a:prstGeom xmlns:a="http://schemas.openxmlformats.org/drawingml/2006/main" prst="roundRect">
            <a:avLst>
              <a:gd name="adj" fmla="val 24138"/>
            </a:avLst>
          </a:prstGeom>
          <a:solidFill xmlns:a="http://schemas.openxmlformats.org/drawingml/2006/main">
            <a:srgbClr val="FFF8EA"/>
          </a:solidFill>
          <a:ln xmlns:a="http://schemas.openxmlformats.org/drawingml/2006/main" w="9525">
            <a:solidFill>
              <a:srgbClr val="8EBBD0"/>
            </a:solidFill>
            <a:prstDash val="solid"/>
          </a:ln>
        </p:spPr>
      </p:sp>
      <p:sp>
        <p:nvSpPr>
          <p:cNvPr id="11" name="">
            <a:extLst xmlns:a="http://schemas.openxmlformats.org/drawingml/2006/main">
              <a:ext uri="{FF2B5EF4-FFF2-40B4-BE49-F238E27FC236}">
                <a16:creationId xmlns:a16="http://schemas.microsoft.com/office/drawing/2014/main" id="{D2ACF8A3-406C-4E83-818A-B7696831C62A}"/>
              </a:ext>
            </a:extLst>
          </p:cNvPr>
          <p:cNvSpPr>
            <a:spLocks xmlns:a="http://schemas.openxmlformats.org/drawingml/2006/main" noGrp="1"/>
          </p:cNvSpPr>
          <p:nvPr/>
        </p:nvSpPr>
        <p:spPr>
          <a:xfrm xmlns:a="http://schemas.openxmlformats.org/drawingml/2006/main">
            <a:off x="952500" y="23431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Qwen 0.8B</a:t>
            </a:r>
          </a:p>
        </p:txBody>
      </p:sp>
      <p:sp>
        <p:nvSpPr>
          <p:cNvPr id="12" name="">
            <a:extLst xmlns:a="http://schemas.openxmlformats.org/drawingml/2006/main">
              <a:ext uri="{FF2B5EF4-FFF2-40B4-BE49-F238E27FC236}">
                <a16:creationId xmlns:a16="http://schemas.microsoft.com/office/drawing/2014/main" id="{76B7ACA9-8B2F-4B51-B092-7335C3A7B156}"/>
              </a:ext>
            </a:extLst>
          </p:cNvPr>
          <p:cNvSpPr>
            <a:spLocks xmlns:a="http://schemas.openxmlformats.org/drawingml/2006/main" noGrp="1"/>
          </p:cNvSpPr>
          <p:nvPr/>
        </p:nvSpPr>
        <p:spPr>
          <a:xfrm xmlns:a="http://schemas.openxmlformats.org/drawingml/2006/main">
            <a:off x="3886200" y="234315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Mono"/>
                <a:ea typeface="Aptos Mono"/>
                <a:cs typeface="Aptos Mono"/>
              </a:defRPr>
            </a:pPr>
            <a:r>
              <a:rPr sz="1125" b="1">
                <a:solidFill>
                  <a:srgbClr val="102A43"/>
                </a:solidFill>
                <a:latin typeface="Aptos Mono"/>
                <a:ea typeface="Aptos Mono"/>
                <a:cs typeface="Aptos Mono"/>
              </a:rPr>
              <a:t>153 ms</a:t>
            </a:r>
          </a:p>
        </p:txBody>
      </p:sp>
      <p:sp>
        <p:nvSpPr>
          <p:cNvPr id="13" name="">
            <a:extLst xmlns:a="http://schemas.openxmlformats.org/drawingml/2006/main">
              <a:ext uri="{FF2B5EF4-FFF2-40B4-BE49-F238E27FC236}">
                <a16:creationId xmlns:a16="http://schemas.microsoft.com/office/drawing/2014/main" id="{CA88A26C-9C09-4B19-A64C-1D32808D8042}"/>
              </a:ext>
            </a:extLst>
          </p:cNvPr>
          <p:cNvSpPr>
            <a:spLocks xmlns:a="http://schemas.openxmlformats.org/drawingml/2006/main" noGrp="1"/>
          </p:cNvSpPr>
          <p:nvPr/>
        </p:nvSpPr>
        <p:spPr>
          <a:xfrm xmlns:a="http://schemas.openxmlformats.org/drawingml/2006/main">
            <a:off x="5953125" y="234315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D96C5F"/>
                </a:solidFill>
                <a:latin typeface="Aptos"/>
                <a:ea typeface="Aptos"/>
                <a:cs typeface="Aptos"/>
              </a:defRPr>
            </a:pPr>
            <a:r>
              <a:rPr sz="1200" b="1">
                <a:solidFill>
                  <a:srgbClr val="D96C5F"/>
                </a:solidFill>
                <a:latin typeface="Aptos"/>
                <a:ea typeface="Aptos"/>
                <a:cs typeface="Aptos"/>
              </a:rPr>
              <a:t>fast, invented facts</a:t>
            </a:r>
          </a:p>
        </p:txBody>
      </p:sp>
      <p:sp>
        <p:nvSpPr>
          <p:cNvPr id="14" name="">
            <a:extLst xmlns:a="http://schemas.openxmlformats.org/drawingml/2006/main">
              <a:ext uri="{FF2B5EF4-FFF2-40B4-BE49-F238E27FC236}">
                <a16:creationId xmlns:a16="http://schemas.microsoft.com/office/drawing/2014/main" id="{2BFB737B-9CA3-4DB3-BAF3-B0EB7870DD4C}"/>
              </a:ext>
            </a:extLst>
          </p:cNvPr>
          <p:cNvSpPr>
            <a:spLocks xmlns:a="http://schemas.openxmlformats.org/drawingml/2006/main" noGrp="1"/>
          </p:cNvSpPr>
          <p:nvPr/>
        </p:nvSpPr>
        <p:spPr>
          <a:xfrm xmlns:a="http://schemas.openxmlformats.org/drawingml/2006/main">
            <a:off x="781050" y="3009900"/>
            <a:ext cx="10648950" cy="552450"/>
          </a:xfrm>
          <a:prstGeom xmlns:a="http://schemas.openxmlformats.org/drawingml/2006/main" prst="roundRect">
            <a:avLst>
              <a:gd name="adj" fmla="val 24138"/>
            </a:avLst>
          </a:prstGeom>
          <a:solidFill xmlns:a="http://schemas.openxmlformats.org/drawingml/2006/main">
            <a:srgbClr val="FFF8EA"/>
          </a:solidFill>
          <a:ln xmlns:a="http://schemas.openxmlformats.org/drawingml/2006/main" w="9525">
            <a:solidFill>
              <a:srgbClr val="8EBBD0"/>
            </a:solidFill>
            <a:prstDash val="solid"/>
          </a:ln>
        </p:spPr>
      </p:sp>
      <p:sp>
        <p:nvSpPr>
          <p:cNvPr id="15" name="">
            <a:extLst xmlns:a="http://schemas.openxmlformats.org/drawingml/2006/main">
              <a:ext uri="{FF2B5EF4-FFF2-40B4-BE49-F238E27FC236}">
                <a16:creationId xmlns:a16="http://schemas.microsoft.com/office/drawing/2014/main" id="{2B217AA1-0DE5-4DB2-B04E-942059A507B7}"/>
              </a:ext>
            </a:extLst>
          </p:cNvPr>
          <p:cNvSpPr>
            <a:spLocks xmlns:a="http://schemas.openxmlformats.org/drawingml/2006/main" noGrp="1"/>
          </p:cNvSpPr>
          <p:nvPr/>
        </p:nvSpPr>
        <p:spPr>
          <a:xfrm xmlns:a="http://schemas.openxmlformats.org/drawingml/2006/main">
            <a:off x="952500" y="30099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Qwen 4B</a:t>
            </a:r>
          </a:p>
        </p:txBody>
      </p:sp>
      <p:sp>
        <p:nvSpPr>
          <p:cNvPr id="16" name="">
            <a:extLst xmlns:a="http://schemas.openxmlformats.org/drawingml/2006/main">
              <a:ext uri="{FF2B5EF4-FFF2-40B4-BE49-F238E27FC236}">
                <a16:creationId xmlns:a16="http://schemas.microsoft.com/office/drawing/2014/main" id="{A3670BCB-54E1-4AB1-9CC2-7DEA3A1C455E}"/>
              </a:ext>
            </a:extLst>
          </p:cNvPr>
          <p:cNvSpPr>
            <a:spLocks xmlns:a="http://schemas.openxmlformats.org/drawingml/2006/main" noGrp="1"/>
          </p:cNvSpPr>
          <p:nvPr/>
        </p:nvSpPr>
        <p:spPr>
          <a:xfrm xmlns:a="http://schemas.openxmlformats.org/drawingml/2006/main">
            <a:off x="3886200" y="30099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Mono"/>
                <a:ea typeface="Aptos Mono"/>
                <a:cs typeface="Aptos Mono"/>
              </a:defRPr>
            </a:pPr>
            <a:r>
              <a:rPr sz="1125" b="1">
                <a:solidFill>
                  <a:srgbClr val="102A43"/>
                </a:solidFill>
                <a:latin typeface="Aptos Mono"/>
                <a:ea typeface="Aptos Mono"/>
                <a:cs typeface="Aptos Mono"/>
              </a:rPr>
              <a:t>1,623 ms</a:t>
            </a:r>
          </a:p>
        </p:txBody>
      </p:sp>
      <p:sp>
        <p:nvSpPr>
          <p:cNvPr id="17" name="">
            <a:extLst xmlns:a="http://schemas.openxmlformats.org/drawingml/2006/main">
              <a:ext uri="{FF2B5EF4-FFF2-40B4-BE49-F238E27FC236}">
                <a16:creationId xmlns:a16="http://schemas.microsoft.com/office/drawing/2014/main" id="{6835BD4A-9BE4-40E5-9F0E-BAED784C9830}"/>
              </a:ext>
            </a:extLst>
          </p:cNvPr>
          <p:cNvSpPr>
            <a:spLocks xmlns:a="http://schemas.openxmlformats.org/drawingml/2006/main" noGrp="1"/>
          </p:cNvSpPr>
          <p:nvPr/>
        </p:nvSpPr>
        <p:spPr>
          <a:xfrm xmlns:a="http://schemas.openxmlformats.org/drawingml/2006/main">
            <a:off x="5953125" y="300990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a:solidFill>
                  <a:srgbClr val="102A43"/>
                </a:solidFill>
                <a:latin typeface="Aptos"/>
                <a:ea typeface="Aptos"/>
                <a:cs typeface="Aptos"/>
              </a:defRPr>
            </a:pPr>
            <a:r>
              <a:rPr sz="1200" b="0">
                <a:solidFill>
                  <a:srgbClr val="102A43"/>
                </a:solidFill>
                <a:latin typeface="Aptos"/>
                <a:ea typeface="Aptos"/>
                <a:cs typeface="Aptos"/>
              </a:rPr>
              <a:t>relevant, too slow</a:t>
            </a:r>
          </a:p>
        </p:txBody>
      </p:sp>
      <p:sp>
        <p:nvSpPr>
          <p:cNvPr id="18" name="">
            <a:extLst xmlns:a="http://schemas.openxmlformats.org/drawingml/2006/main">
              <a:ext uri="{FF2B5EF4-FFF2-40B4-BE49-F238E27FC236}">
                <a16:creationId xmlns:a16="http://schemas.microsoft.com/office/drawing/2014/main" id="{0BA29277-32C6-4972-BC3E-2609F0978730}"/>
              </a:ext>
            </a:extLst>
          </p:cNvPr>
          <p:cNvSpPr>
            <a:spLocks xmlns:a="http://schemas.openxmlformats.org/drawingml/2006/main" noGrp="1"/>
          </p:cNvSpPr>
          <p:nvPr/>
        </p:nvSpPr>
        <p:spPr>
          <a:xfrm xmlns:a="http://schemas.openxmlformats.org/drawingml/2006/main">
            <a:off x="781050" y="3676650"/>
            <a:ext cx="10648950" cy="552450"/>
          </a:xfrm>
          <a:prstGeom xmlns:a="http://schemas.openxmlformats.org/drawingml/2006/main" prst="roundRect">
            <a:avLst>
              <a:gd name="adj" fmla="val 24138"/>
            </a:avLst>
          </a:prstGeom>
          <a:solidFill xmlns:a="http://schemas.openxmlformats.org/drawingml/2006/main">
            <a:srgbClr val="FFF8EA"/>
          </a:solidFill>
          <a:ln xmlns:a="http://schemas.openxmlformats.org/drawingml/2006/main" w="9525">
            <a:solidFill>
              <a:srgbClr val="8EBBD0"/>
            </a:solidFill>
            <a:prstDash val="solid"/>
          </a:ln>
        </p:spPr>
      </p:sp>
      <p:sp>
        <p:nvSpPr>
          <p:cNvPr id="19" name="">
            <a:extLst xmlns:a="http://schemas.openxmlformats.org/drawingml/2006/main">
              <a:ext uri="{FF2B5EF4-FFF2-40B4-BE49-F238E27FC236}">
                <a16:creationId xmlns:a16="http://schemas.microsoft.com/office/drawing/2014/main" id="{331D9B46-C318-4459-A4DC-6DDA0D8A4D85}"/>
              </a:ext>
            </a:extLst>
          </p:cNvPr>
          <p:cNvSpPr>
            <a:spLocks xmlns:a="http://schemas.openxmlformats.org/drawingml/2006/main" noGrp="1"/>
          </p:cNvSpPr>
          <p:nvPr/>
        </p:nvSpPr>
        <p:spPr>
          <a:xfrm xmlns:a="http://schemas.openxmlformats.org/drawingml/2006/main">
            <a:off x="952500" y="36766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Gemma 1B</a:t>
            </a:r>
          </a:p>
        </p:txBody>
      </p:sp>
      <p:sp>
        <p:nvSpPr>
          <p:cNvPr id="20" name="">
            <a:extLst xmlns:a="http://schemas.openxmlformats.org/drawingml/2006/main">
              <a:ext uri="{FF2B5EF4-FFF2-40B4-BE49-F238E27FC236}">
                <a16:creationId xmlns:a16="http://schemas.microsoft.com/office/drawing/2014/main" id="{D037B9F7-5D83-4BDC-89B3-27BED5E32980}"/>
              </a:ext>
            </a:extLst>
          </p:cNvPr>
          <p:cNvSpPr>
            <a:spLocks xmlns:a="http://schemas.openxmlformats.org/drawingml/2006/main" noGrp="1"/>
          </p:cNvSpPr>
          <p:nvPr/>
        </p:nvSpPr>
        <p:spPr>
          <a:xfrm xmlns:a="http://schemas.openxmlformats.org/drawingml/2006/main">
            <a:off x="3886200" y="367665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Mono"/>
                <a:ea typeface="Aptos Mono"/>
                <a:cs typeface="Aptos Mono"/>
              </a:defRPr>
            </a:pPr>
            <a:r>
              <a:rPr sz="1125" b="1">
                <a:solidFill>
                  <a:srgbClr val="102A43"/>
                </a:solidFill>
                <a:latin typeface="Aptos Mono"/>
                <a:ea typeface="Aptos Mono"/>
                <a:cs typeface="Aptos Mono"/>
              </a:rPr>
              <a:t>760–1,750 ms</a:t>
            </a:r>
          </a:p>
        </p:txBody>
      </p:sp>
      <p:sp>
        <p:nvSpPr>
          <p:cNvPr id="21" name="">
            <a:extLst xmlns:a="http://schemas.openxmlformats.org/drawingml/2006/main">
              <a:ext uri="{FF2B5EF4-FFF2-40B4-BE49-F238E27FC236}">
                <a16:creationId xmlns:a16="http://schemas.microsoft.com/office/drawing/2014/main" id="{BFE11A4A-841E-44BB-AD09-1F67D2ECB71A}"/>
              </a:ext>
            </a:extLst>
          </p:cNvPr>
          <p:cNvSpPr>
            <a:spLocks xmlns:a="http://schemas.openxmlformats.org/drawingml/2006/main" noGrp="1"/>
          </p:cNvSpPr>
          <p:nvPr/>
        </p:nvSpPr>
        <p:spPr>
          <a:xfrm xmlns:a="http://schemas.openxmlformats.org/drawingml/2006/main">
            <a:off x="5953125" y="367665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D96C5F"/>
                </a:solidFill>
                <a:latin typeface="Aptos"/>
                <a:ea typeface="Aptos"/>
                <a:cs typeface="Aptos"/>
              </a:defRPr>
            </a:pPr>
            <a:r>
              <a:rPr sz="1200" b="1">
                <a:solidFill>
                  <a:srgbClr val="D96C5F"/>
                </a:solidFill>
                <a:latin typeface="Aptos"/>
                <a:ea typeface="Aptos"/>
                <a:cs typeface="Aptos"/>
              </a:rPr>
              <a:t>schema / policy failures</a:t>
            </a:r>
          </a:p>
        </p:txBody>
      </p:sp>
      <p:sp>
        <p:nvSpPr>
          <p:cNvPr id="22" name="">
            <a:extLst xmlns:a="http://schemas.openxmlformats.org/drawingml/2006/main">
              <a:ext uri="{FF2B5EF4-FFF2-40B4-BE49-F238E27FC236}">
                <a16:creationId xmlns:a16="http://schemas.microsoft.com/office/drawing/2014/main" id="{165168E3-4BB9-4029-B85A-A975072C0AF4}"/>
              </a:ext>
            </a:extLst>
          </p:cNvPr>
          <p:cNvSpPr>
            <a:spLocks xmlns:a="http://schemas.openxmlformats.org/drawingml/2006/main" noGrp="1"/>
          </p:cNvSpPr>
          <p:nvPr/>
        </p:nvSpPr>
        <p:spPr>
          <a:xfrm xmlns:a="http://schemas.openxmlformats.org/drawingml/2006/main">
            <a:off x="781050" y="4343400"/>
            <a:ext cx="10648950" cy="552450"/>
          </a:xfrm>
          <a:prstGeom xmlns:a="http://schemas.openxmlformats.org/drawingml/2006/main" prst="roundRect">
            <a:avLst>
              <a:gd name="adj" fmla="val 24138"/>
            </a:avLst>
          </a:prstGeom>
          <a:solidFill xmlns:a="http://schemas.openxmlformats.org/drawingml/2006/main">
            <a:srgbClr val="FFF8EA"/>
          </a:solidFill>
          <a:ln xmlns:a="http://schemas.openxmlformats.org/drawingml/2006/main" w="9525">
            <a:solidFill>
              <a:srgbClr val="8EBBD0"/>
            </a:solidFill>
            <a:prstDash val="solid"/>
          </a:ln>
        </p:spPr>
      </p:sp>
      <p:sp>
        <p:nvSpPr>
          <p:cNvPr id="23" name="">
            <a:extLst xmlns:a="http://schemas.openxmlformats.org/drawingml/2006/main">
              <a:ext uri="{FF2B5EF4-FFF2-40B4-BE49-F238E27FC236}">
                <a16:creationId xmlns:a16="http://schemas.microsoft.com/office/drawing/2014/main" id="{D60DDAA3-772F-42FB-912C-82BD62F57B5F}"/>
              </a:ext>
            </a:extLst>
          </p:cNvPr>
          <p:cNvSpPr>
            <a:spLocks xmlns:a="http://schemas.openxmlformats.org/drawingml/2006/main" noGrp="1"/>
          </p:cNvSpPr>
          <p:nvPr/>
        </p:nvSpPr>
        <p:spPr>
          <a:xfrm xmlns:a="http://schemas.openxmlformats.org/drawingml/2006/main">
            <a:off x="952500" y="43434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latin typeface="Aptos"/>
                <a:ea typeface="Aptos"/>
                <a:cs typeface="Aptos"/>
              </a:defRPr>
            </a:pPr>
            <a:r>
              <a:rPr sz="1200" b="1">
                <a:solidFill>
                  <a:srgbClr val="102A43"/>
                </a:solidFill>
                <a:latin typeface="Aptos"/>
                <a:ea typeface="Aptos"/>
                <a:cs typeface="Aptos"/>
              </a:rPr>
              <a:t>Gemma 4B</a:t>
            </a:r>
          </a:p>
        </p:txBody>
      </p:sp>
      <p:sp>
        <p:nvSpPr>
          <p:cNvPr id="24" name="">
            <a:extLst xmlns:a="http://schemas.openxmlformats.org/drawingml/2006/main">
              <a:ext uri="{FF2B5EF4-FFF2-40B4-BE49-F238E27FC236}">
                <a16:creationId xmlns:a16="http://schemas.microsoft.com/office/drawing/2014/main" id="{98248A26-DA40-45BD-9ABF-259A064C3106}"/>
              </a:ext>
            </a:extLst>
          </p:cNvPr>
          <p:cNvSpPr>
            <a:spLocks xmlns:a="http://schemas.openxmlformats.org/drawingml/2006/main" noGrp="1"/>
          </p:cNvSpPr>
          <p:nvPr/>
        </p:nvSpPr>
        <p:spPr>
          <a:xfrm xmlns:a="http://schemas.openxmlformats.org/drawingml/2006/main">
            <a:off x="3886200" y="43434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A43"/>
                </a:solidFill>
                <a:latin typeface="Aptos Mono"/>
                <a:ea typeface="Aptos Mono"/>
                <a:cs typeface="Aptos Mono"/>
              </a:defRPr>
            </a:pPr>
            <a:r>
              <a:rPr sz="1125" b="1">
                <a:solidFill>
                  <a:srgbClr val="102A43"/>
                </a:solidFill>
                <a:latin typeface="Aptos Mono"/>
                <a:ea typeface="Aptos Mono"/>
                <a:cs typeface="Aptos Mono"/>
              </a:rPr>
              <a:t>2,858–3,142 ms</a:t>
            </a:r>
          </a:p>
        </p:txBody>
      </p:sp>
      <p:sp>
        <p:nvSpPr>
          <p:cNvPr id="25" name="">
            <a:extLst xmlns:a="http://schemas.openxmlformats.org/drawingml/2006/main">
              <a:ext uri="{FF2B5EF4-FFF2-40B4-BE49-F238E27FC236}">
                <a16:creationId xmlns:a16="http://schemas.microsoft.com/office/drawing/2014/main" id="{D63D5F8C-7FA0-4890-89EE-AA06A6A8D1EB}"/>
              </a:ext>
            </a:extLst>
          </p:cNvPr>
          <p:cNvSpPr>
            <a:spLocks xmlns:a="http://schemas.openxmlformats.org/drawingml/2006/main" noGrp="1"/>
          </p:cNvSpPr>
          <p:nvPr/>
        </p:nvSpPr>
        <p:spPr>
          <a:xfrm xmlns:a="http://schemas.openxmlformats.org/drawingml/2006/main">
            <a:off x="5953125" y="434340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a:solidFill>
                  <a:srgbClr val="102A43"/>
                </a:solidFill>
                <a:latin typeface="Aptos"/>
                <a:ea typeface="Aptos"/>
                <a:cs typeface="Aptos"/>
              </a:defRPr>
            </a:pPr>
            <a:r>
              <a:rPr sz="1200" b="0">
                <a:solidFill>
                  <a:srgbClr val="102A43"/>
                </a:solidFill>
                <a:latin typeface="Aptos"/>
                <a:ea typeface="Aptos"/>
                <a:cs typeface="Aptos"/>
              </a:rPr>
              <a:t>grounded sample, slower than Gemini</a:t>
            </a:r>
          </a:p>
        </p:txBody>
      </p:sp>
      <p:sp>
        <p:nvSpPr>
          <p:cNvPr id="26" name="">
            <a:extLst xmlns:a="http://schemas.openxmlformats.org/drawingml/2006/main">
              <a:ext uri="{FF2B5EF4-FFF2-40B4-BE49-F238E27FC236}">
                <a16:creationId xmlns:a16="http://schemas.microsoft.com/office/drawing/2014/main" id="{82546ACB-720D-42F3-AB26-68E6604868A3}"/>
              </a:ext>
            </a:extLst>
          </p:cNvPr>
          <p:cNvSpPr>
            <a:spLocks xmlns:a="http://schemas.openxmlformats.org/drawingml/2006/main" noGrp="1"/>
          </p:cNvSpPr>
          <p:nvPr/>
        </p:nvSpPr>
        <p:spPr>
          <a:xfrm xmlns:a="http://schemas.openxmlformats.org/drawingml/2006/main">
            <a:off x="781050" y="5010150"/>
            <a:ext cx="10648950" cy="552450"/>
          </a:xfrm>
          <a:prstGeom xmlns:a="http://schemas.openxmlformats.org/drawingml/2006/main" prst="roundRect">
            <a:avLst>
              <a:gd name="adj" fmla="val 24138"/>
            </a:avLst>
          </a:prstGeom>
          <a:solidFill xmlns:a="http://schemas.openxmlformats.org/drawingml/2006/main">
            <a:srgbClr val="DDEEEA"/>
          </a:solidFill>
          <a:ln xmlns:a="http://schemas.openxmlformats.org/drawingml/2006/main" w="19050">
            <a:solidFill>
              <a:srgbClr val="268C82"/>
            </a:solidFill>
            <a:prstDash val="solid"/>
          </a:ln>
        </p:spPr>
      </p:sp>
      <p:sp>
        <p:nvSpPr>
          <p:cNvPr id="27" name="">
            <a:extLst xmlns:a="http://schemas.openxmlformats.org/drawingml/2006/main">
              <a:ext uri="{FF2B5EF4-FFF2-40B4-BE49-F238E27FC236}">
                <a16:creationId xmlns:a16="http://schemas.microsoft.com/office/drawing/2014/main" id="{85594059-56F9-4402-8446-F64CB16172D2}"/>
              </a:ext>
            </a:extLst>
          </p:cNvPr>
          <p:cNvSpPr>
            <a:spLocks xmlns:a="http://schemas.openxmlformats.org/drawingml/2006/main" noGrp="1"/>
          </p:cNvSpPr>
          <p:nvPr/>
        </p:nvSpPr>
        <p:spPr>
          <a:xfrm xmlns:a="http://schemas.openxmlformats.org/drawingml/2006/main">
            <a:off x="952500" y="50101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268C82"/>
                </a:solidFill>
                <a:latin typeface="Aptos"/>
                <a:ea typeface="Aptos"/>
                <a:cs typeface="Aptos"/>
              </a:defRPr>
            </a:pPr>
            <a:r>
              <a:rPr sz="1200" b="1">
                <a:solidFill>
                  <a:srgbClr val="268C82"/>
                </a:solidFill>
                <a:latin typeface="Aptos"/>
                <a:ea typeface="Aptos"/>
                <a:cs typeface="Aptos"/>
              </a:rPr>
              <a:t>Gemini Flash Lite</a:t>
            </a:r>
          </a:p>
        </p:txBody>
      </p:sp>
      <p:sp>
        <p:nvSpPr>
          <p:cNvPr id="28" name="">
            <a:extLst xmlns:a="http://schemas.openxmlformats.org/drawingml/2006/main">
              <a:ext uri="{FF2B5EF4-FFF2-40B4-BE49-F238E27FC236}">
                <a16:creationId xmlns:a16="http://schemas.microsoft.com/office/drawing/2014/main" id="{3407E6EC-FFB2-4D6B-B8A2-016C84678E13}"/>
              </a:ext>
            </a:extLst>
          </p:cNvPr>
          <p:cNvSpPr>
            <a:spLocks xmlns:a="http://schemas.openxmlformats.org/drawingml/2006/main" noGrp="1"/>
          </p:cNvSpPr>
          <p:nvPr/>
        </p:nvSpPr>
        <p:spPr>
          <a:xfrm xmlns:a="http://schemas.openxmlformats.org/drawingml/2006/main">
            <a:off x="3886200" y="501015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268C82"/>
                </a:solidFill>
                <a:latin typeface="Aptos Mono"/>
                <a:ea typeface="Aptos Mono"/>
                <a:cs typeface="Aptos Mono"/>
              </a:defRPr>
            </a:pPr>
            <a:r>
              <a:rPr sz="1125" b="1">
                <a:solidFill>
                  <a:srgbClr val="268C82"/>
                </a:solidFill>
                <a:latin typeface="Aptos Mono"/>
                <a:ea typeface="Aptos Mono"/>
                <a:cs typeface="Aptos Mono"/>
              </a:rPr>
              <a:t>1,120 ms</a:t>
            </a:r>
          </a:p>
        </p:txBody>
      </p:sp>
      <p:sp>
        <p:nvSpPr>
          <p:cNvPr id="29" name="">
            <a:extLst xmlns:a="http://schemas.openxmlformats.org/drawingml/2006/main">
              <a:ext uri="{FF2B5EF4-FFF2-40B4-BE49-F238E27FC236}">
                <a16:creationId xmlns:a16="http://schemas.microsoft.com/office/drawing/2014/main" id="{8691B768-7B0B-4816-ABA9-98A32DB28E66}"/>
              </a:ext>
            </a:extLst>
          </p:cNvPr>
          <p:cNvSpPr>
            <a:spLocks xmlns:a="http://schemas.openxmlformats.org/drawingml/2006/main" noGrp="1"/>
          </p:cNvSpPr>
          <p:nvPr/>
        </p:nvSpPr>
        <p:spPr>
          <a:xfrm xmlns:a="http://schemas.openxmlformats.org/drawingml/2006/main">
            <a:off x="5953125" y="501015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268C82"/>
                </a:solidFill>
                <a:latin typeface="Aptos"/>
                <a:ea typeface="Aptos"/>
                <a:cs typeface="Aptos"/>
              </a:defRPr>
            </a:pPr>
            <a:r>
              <a:rPr sz="1200" b="1">
                <a:solidFill>
                  <a:srgbClr val="268C82"/>
                </a:solidFill>
                <a:latin typeface="Aptos"/>
                <a:ea typeface="Aptos"/>
                <a:cs typeface="Aptos"/>
              </a:rPr>
              <a:t>132/136 grounded-policy checks · chosen</a:t>
            </a:r>
          </a:p>
        </p:txBody>
      </p:sp>
      <p:sp>
        <p:nvSpPr>
          <p:cNvPr id="30" name="">
            <a:extLst xmlns:a="http://schemas.openxmlformats.org/drawingml/2006/main">
              <a:ext uri="{FF2B5EF4-FFF2-40B4-BE49-F238E27FC236}">
                <a16:creationId xmlns:a16="http://schemas.microsoft.com/office/drawing/2014/main" id="{C27726B4-6E7A-42BD-8877-E3224213FC2D}"/>
              </a:ext>
            </a:extLst>
          </p:cNvPr>
          <p:cNvSpPr>
            <a:spLocks xmlns:a="http://schemas.openxmlformats.org/drawingml/2006/main" noGrp="1"/>
          </p:cNvSpPr>
          <p:nvPr/>
        </p:nvSpPr>
        <p:spPr>
          <a:xfrm xmlns:a="http://schemas.openxmlformats.org/drawingml/2006/main">
            <a:off x="1428750" y="5867400"/>
            <a:ext cx="933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268C82"/>
                </a:solidFill>
                <a:latin typeface="Aptos"/>
                <a:ea typeface="Aptos"/>
                <a:cs typeface="Aptos"/>
              </a:defRPr>
            </a:pPr>
            <a:r>
              <a:rPr sz="1200" b="1">
                <a:solidFill>
                  <a:srgbClr val="268C82"/>
                </a:solidFill>
                <a:latin typeface="Aptos"/>
                <a:ea typeface="Aptos"/>
                <a:cs typeface="Aptos"/>
              </a:rPr>
              <a:t>Chosen: ~1.1 s planning + 132/136 grounded-policy checks.</a:t>
            </a:r>
          </a:p>
        </p:txBody>
      </p:sp>
      <p:sp>
        <p:nvSpPr>
          <p:cNvPr id="31" name="">
            <a:extLst xmlns:a="http://schemas.openxmlformats.org/drawingml/2006/main">
              <a:ext uri="{FF2B5EF4-FFF2-40B4-BE49-F238E27FC236}">
                <a16:creationId xmlns:a16="http://schemas.microsoft.com/office/drawing/2014/main" id="{EDC465D1-4BE9-4BBB-B848-0521CA790C0B}"/>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Local model measurements · Decisions 0021–0022</a:t>
            </a:r>
          </a:p>
        </p:txBody>
      </p:sp>
    </p:spTree>
    <p:extLst>
      <p:ext uri="{BB962C8B-B14F-4D97-AF65-F5344CB8AC3E}">
        <p14:creationId xmlns:p14="http://schemas.microsoft.com/office/powerpoint/2010/main" val="48532232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aacdc2992944c8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2FFFA4-9331-4BA6-B72C-BEE418BD4BAD}"/>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F8B2552D-4B8F-4060-89EE-81E7E682132C}"/>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15</a:t>
            </a:r>
          </a:p>
        </p:txBody>
      </p:sp>
      <p:sp>
        <p:nvSpPr>
          <p:cNvPr id="4" name="">
            <a:extLst xmlns:a="http://schemas.openxmlformats.org/drawingml/2006/main">
              <a:ext uri="{FF2B5EF4-FFF2-40B4-BE49-F238E27FC236}">
                <a16:creationId xmlns:a16="http://schemas.microsoft.com/office/drawing/2014/main" id="{4EE8839B-3E4D-47D4-B6EC-B7539EACA8E3}"/>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8F67D64E-AE1F-41F1-8F6E-5A9B76CC546C}"/>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Moshi proved speed—and failed control</a:t>
            </a:r>
          </a:p>
        </p:txBody>
      </p:sp>
      <p:sp>
        <p:nvSpPr>
          <p:cNvPr id="6" name="">
            <a:extLst xmlns:a="http://schemas.openxmlformats.org/drawingml/2006/main">
              <a:ext uri="{FF2B5EF4-FFF2-40B4-BE49-F238E27FC236}">
                <a16:creationId xmlns:a16="http://schemas.microsoft.com/office/drawing/2014/main" id="{E77CAE4F-C455-4A9D-B533-FDF922EBD5A8}"/>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32DD5B1C-086C-467C-B99A-73CE7D2C73FF}"/>
              </a:ext>
            </a:extLst>
          </p:cNvPr>
          <p:cNvSpPr>
            <a:spLocks xmlns:a="http://schemas.openxmlformats.org/drawingml/2006/main" noGrp="1"/>
          </p:cNvSpPr>
          <p:nvPr/>
        </p:nvSpPr>
        <p:spPr>
          <a:xfrm xmlns:a="http://schemas.openxmlformats.org/drawingml/2006/main">
            <a:off x="952500" y="2209800"/>
            <a:ext cx="2686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44ACF20C-940C-4998-840F-CCF8FC16E743}"/>
              </a:ext>
            </a:extLst>
          </p:cNvPr>
          <p:cNvSpPr>
            <a:spLocks xmlns:a="http://schemas.openxmlformats.org/drawingml/2006/main" noGrp="1"/>
          </p:cNvSpPr>
          <p:nvPr/>
        </p:nvSpPr>
        <p:spPr>
          <a:xfrm xmlns:a="http://schemas.openxmlformats.org/drawingml/2006/main">
            <a:off x="3790950" y="2209800"/>
            <a:ext cx="2400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288DC1"/>
                </a:solidFill>
                <a:latin typeface="Aptos"/>
                <a:ea typeface="Aptos"/>
                <a:cs typeface="Aptos"/>
              </a:defRPr>
            </a:pPr>
            <a:r>
              <a:rPr sz="1050" b="1">
                <a:solidFill>
                  <a:srgbClr val="288DC1"/>
                </a:solidFill>
                <a:latin typeface="Aptos"/>
                <a:ea typeface="Aptos"/>
                <a:cs typeface="Aptos"/>
              </a:rPr>
              <a:t>Handoff p50</a:t>
            </a:r>
          </a:p>
        </p:txBody>
      </p:sp>
      <p:sp>
        <p:nvSpPr>
          <p:cNvPr id="9" name="">
            <a:extLst xmlns:a="http://schemas.openxmlformats.org/drawingml/2006/main">
              <a:ext uri="{FF2B5EF4-FFF2-40B4-BE49-F238E27FC236}">
                <a16:creationId xmlns:a16="http://schemas.microsoft.com/office/drawing/2014/main" id="{784B4EE5-B6CA-4240-8881-D5332EBAE807}"/>
              </a:ext>
            </a:extLst>
          </p:cNvPr>
          <p:cNvSpPr>
            <a:spLocks xmlns:a="http://schemas.openxmlformats.org/drawingml/2006/main" noGrp="1"/>
          </p:cNvSpPr>
          <p:nvPr/>
        </p:nvSpPr>
        <p:spPr>
          <a:xfrm xmlns:a="http://schemas.openxmlformats.org/drawingml/2006/main">
            <a:off x="6343650" y="2209800"/>
            <a:ext cx="1924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288DC1"/>
                </a:solidFill>
                <a:latin typeface="Aptos"/>
                <a:ea typeface="Aptos"/>
                <a:cs typeface="Aptos"/>
              </a:defRPr>
            </a:pPr>
            <a:r>
              <a:rPr sz="1050" b="1">
                <a:solidFill>
                  <a:srgbClr val="288DC1"/>
                </a:solidFill>
                <a:latin typeface="Aptos"/>
                <a:ea typeface="Aptos"/>
                <a:cs typeface="Aptos"/>
              </a:rPr>
              <a:t>Takeover</a:t>
            </a:r>
          </a:p>
        </p:txBody>
      </p:sp>
      <p:sp>
        <p:nvSpPr>
          <p:cNvPr id="10" name="">
            <a:extLst xmlns:a="http://schemas.openxmlformats.org/drawingml/2006/main">
              <a:ext uri="{FF2B5EF4-FFF2-40B4-BE49-F238E27FC236}">
                <a16:creationId xmlns:a16="http://schemas.microsoft.com/office/drawing/2014/main" id="{70680705-52EF-40CC-971D-863F69020DD2}"/>
              </a:ext>
            </a:extLst>
          </p:cNvPr>
          <p:cNvSpPr>
            <a:spLocks xmlns:a="http://schemas.openxmlformats.org/drawingml/2006/main" noGrp="1"/>
          </p:cNvSpPr>
          <p:nvPr/>
        </p:nvSpPr>
        <p:spPr>
          <a:xfrm xmlns:a="http://schemas.openxmlformats.org/drawingml/2006/main">
            <a:off x="8420100" y="2209800"/>
            <a:ext cx="20288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288DC1"/>
                </a:solidFill>
                <a:latin typeface="Aptos"/>
                <a:ea typeface="Aptos"/>
                <a:cs typeface="Aptos"/>
              </a:defRPr>
            </a:pPr>
            <a:r>
              <a:rPr sz="1050" b="1">
                <a:solidFill>
                  <a:srgbClr val="288DC1"/>
                </a:solidFill>
                <a:latin typeface="Aptos"/>
                <a:ea typeface="Aptos"/>
                <a:cs typeface="Aptos"/>
              </a:rPr>
              <a:t>Overlap</a:t>
            </a:r>
          </a:p>
        </p:txBody>
      </p:sp>
      <p:sp>
        <p:nvSpPr>
          <p:cNvPr id="11" name="">
            <a:extLst xmlns:a="http://schemas.openxmlformats.org/drawingml/2006/main">
              <a:ext uri="{FF2B5EF4-FFF2-40B4-BE49-F238E27FC236}">
                <a16:creationId xmlns:a16="http://schemas.microsoft.com/office/drawing/2014/main" id="{E8FE1A2E-CFDC-4A06-88E5-27E481C8CE6F}"/>
              </a:ext>
            </a:extLst>
          </p:cNvPr>
          <p:cNvSpPr>
            <a:spLocks xmlns:a="http://schemas.openxmlformats.org/drawingml/2006/main" noGrp="1"/>
          </p:cNvSpPr>
          <p:nvPr/>
        </p:nvSpPr>
        <p:spPr>
          <a:xfrm xmlns:a="http://schemas.openxmlformats.org/drawingml/2006/main">
            <a:off x="952500" y="3105150"/>
            <a:ext cx="2686050" cy="647700"/>
          </a:xfrm>
          <a:prstGeom xmlns:a="http://schemas.openxmlformats.org/drawingml/2006/main" prst="roundRect">
            <a:avLst>
              <a:gd name="adj" fmla="val 17647"/>
            </a:avLst>
          </a:prstGeom>
          <a:solidFill xmlns:a="http://schemas.openxmlformats.org/drawingml/2006/main">
            <a:srgbClr val="E6F2F5"/>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02A43"/>
                </a:solidFill>
                <a:latin typeface="Aptos"/>
                <a:ea typeface="Aptos"/>
                <a:cs typeface="Aptos"/>
              </a:defRPr>
            </a:pPr>
            <a:r>
              <a:rPr sz="1575" b="1">
                <a:solidFill>
                  <a:srgbClr val="102A43"/>
                </a:solidFill>
                <a:latin typeface="Aptos"/>
                <a:ea typeface="Aptos"/>
                <a:cs typeface="Aptos"/>
              </a:rPr>
              <a:t>Moshi duplex</a:t>
            </a:r>
          </a:p>
        </p:txBody>
      </p:sp>
      <p:sp>
        <p:nvSpPr>
          <p:cNvPr id="12" name="">
            <a:extLst xmlns:a="http://schemas.openxmlformats.org/drawingml/2006/main">
              <a:ext uri="{FF2B5EF4-FFF2-40B4-BE49-F238E27FC236}">
                <a16:creationId xmlns:a16="http://schemas.microsoft.com/office/drawing/2014/main" id="{C2B3FF84-38F5-414D-AD87-B55F27C7B357}"/>
              </a:ext>
            </a:extLst>
          </p:cNvPr>
          <p:cNvSpPr>
            <a:spLocks xmlns:a="http://schemas.openxmlformats.org/drawingml/2006/main" noGrp="1"/>
          </p:cNvSpPr>
          <p:nvPr/>
        </p:nvSpPr>
        <p:spPr>
          <a:xfrm xmlns:a="http://schemas.openxmlformats.org/drawingml/2006/main">
            <a:off x="3790950" y="3105150"/>
            <a:ext cx="2400300" cy="647700"/>
          </a:xfrm>
          <a:prstGeom xmlns:a="http://schemas.openxmlformats.org/drawingml/2006/main" prst="roundRect">
            <a:avLst>
              <a:gd name="adj" fmla="val 17647"/>
            </a:avLst>
          </a:prstGeom>
          <a:solidFill xmlns:a="http://schemas.openxmlformats.org/drawingml/2006/main">
            <a:srgbClr val="E6F2F5"/>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240 ms</a:t>
            </a:r>
          </a:p>
        </p:txBody>
      </p:sp>
      <p:sp>
        <p:nvSpPr>
          <p:cNvPr id="13" name="">
            <a:extLst xmlns:a="http://schemas.openxmlformats.org/drawingml/2006/main">
              <a:ext uri="{FF2B5EF4-FFF2-40B4-BE49-F238E27FC236}">
                <a16:creationId xmlns:a16="http://schemas.microsoft.com/office/drawing/2014/main" id="{E9F4454B-16C6-459C-B53F-D3C06A6C0858}"/>
              </a:ext>
            </a:extLst>
          </p:cNvPr>
          <p:cNvSpPr>
            <a:spLocks xmlns:a="http://schemas.openxmlformats.org/drawingml/2006/main" noGrp="1"/>
          </p:cNvSpPr>
          <p:nvPr/>
        </p:nvSpPr>
        <p:spPr>
          <a:xfrm xmlns:a="http://schemas.openxmlformats.org/drawingml/2006/main">
            <a:off x="6343650" y="3105150"/>
            <a:ext cx="1924050" cy="647700"/>
          </a:xfrm>
          <a:prstGeom xmlns:a="http://schemas.openxmlformats.org/drawingml/2006/main" prst="roundRect">
            <a:avLst>
              <a:gd name="adj" fmla="val 17647"/>
            </a:avLst>
          </a:prstGeom>
          <a:solidFill xmlns:a="http://schemas.openxmlformats.org/drawingml/2006/main">
            <a:srgbClr val="E6F2F5"/>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0.24</a:t>
            </a:r>
          </a:p>
        </p:txBody>
      </p:sp>
      <p:sp>
        <p:nvSpPr>
          <p:cNvPr id="14" name="">
            <a:extLst xmlns:a="http://schemas.openxmlformats.org/drawingml/2006/main">
              <a:ext uri="{FF2B5EF4-FFF2-40B4-BE49-F238E27FC236}">
                <a16:creationId xmlns:a16="http://schemas.microsoft.com/office/drawing/2014/main" id="{9CB2A755-435D-4485-A769-32B09D4A2620}"/>
              </a:ext>
            </a:extLst>
          </p:cNvPr>
          <p:cNvSpPr>
            <a:spLocks xmlns:a="http://schemas.openxmlformats.org/drawingml/2006/main" noGrp="1"/>
          </p:cNvSpPr>
          <p:nvPr/>
        </p:nvSpPr>
        <p:spPr>
          <a:xfrm xmlns:a="http://schemas.openxmlformats.org/drawingml/2006/main">
            <a:off x="8420100" y="3105150"/>
            <a:ext cx="2028825" cy="647700"/>
          </a:xfrm>
          <a:prstGeom xmlns:a="http://schemas.openxmlformats.org/drawingml/2006/main" prst="roundRect">
            <a:avLst>
              <a:gd name="adj" fmla="val 17647"/>
            </a:avLst>
          </a:prstGeom>
          <a:solidFill xmlns:a="http://schemas.openxmlformats.org/drawingml/2006/main">
            <a:srgbClr val="E6F2F5"/>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0.234</a:t>
            </a:r>
          </a:p>
        </p:txBody>
      </p:sp>
      <p:sp>
        <p:nvSpPr>
          <p:cNvPr id="15" name="">
            <a:extLst xmlns:a="http://schemas.openxmlformats.org/drawingml/2006/main">
              <a:ext uri="{FF2B5EF4-FFF2-40B4-BE49-F238E27FC236}">
                <a16:creationId xmlns:a16="http://schemas.microsoft.com/office/drawing/2014/main" id="{880F0E2B-57B6-447C-B990-AFFC7C995F57}"/>
              </a:ext>
            </a:extLst>
          </p:cNvPr>
          <p:cNvSpPr>
            <a:spLocks xmlns:a="http://schemas.openxmlformats.org/drawingml/2006/main" noGrp="1"/>
          </p:cNvSpPr>
          <p:nvPr/>
        </p:nvSpPr>
        <p:spPr>
          <a:xfrm xmlns:a="http://schemas.openxmlformats.org/drawingml/2006/main">
            <a:off x="952500" y="4000500"/>
            <a:ext cx="2686050" cy="647700"/>
          </a:xfrm>
          <a:prstGeom xmlns:a="http://schemas.openxmlformats.org/drawingml/2006/main" prst="roundRect">
            <a:avLst>
              <a:gd name="adj" fmla="val 1764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02A43"/>
                </a:solidFill>
                <a:latin typeface="Aptos"/>
                <a:ea typeface="Aptos"/>
                <a:cs typeface="Aptos"/>
              </a:defRPr>
            </a:pPr>
            <a:r>
              <a:rPr sz="1575" b="1">
                <a:solidFill>
                  <a:srgbClr val="102A43"/>
                </a:solidFill>
                <a:latin typeface="Aptos"/>
                <a:ea typeface="Aptos"/>
                <a:cs typeface="Aptos"/>
              </a:rPr>
              <a:t>Cascade</a:t>
            </a:r>
          </a:p>
        </p:txBody>
      </p:sp>
      <p:sp>
        <p:nvSpPr>
          <p:cNvPr id="16" name="">
            <a:extLst xmlns:a="http://schemas.openxmlformats.org/drawingml/2006/main">
              <a:ext uri="{FF2B5EF4-FFF2-40B4-BE49-F238E27FC236}">
                <a16:creationId xmlns:a16="http://schemas.microsoft.com/office/drawing/2014/main" id="{22EF01A9-557D-4569-BBC0-4970EEEF70AD}"/>
              </a:ext>
            </a:extLst>
          </p:cNvPr>
          <p:cNvSpPr>
            <a:spLocks xmlns:a="http://schemas.openxmlformats.org/drawingml/2006/main" noGrp="1"/>
          </p:cNvSpPr>
          <p:nvPr/>
        </p:nvSpPr>
        <p:spPr>
          <a:xfrm xmlns:a="http://schemas.openxmlformats.org/drawingml/2006/main">
            <a:off x="3790950" y="4000500"/>
            <a:ext cx="2400300" cy="647700"/>
          </a:xfrm>
          <a:prstGeom xmlns:a="http://schemas.openxmlformats.org/drawingml/2006/main" prst="roundRect">
            <a:avLst>
              <a:gd name="adj" fmla="val 1764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1,880 ms</a:t>
            </a:r>
          </a:p>
        </p:txBody>
      </p:sp>
      <p:sp>
        <p:nvSpPr>
          <p:cNvPr id="17" name="">
            <a:extLst xmlns:a="http://schemas.openxmlformats.org/drawingml/2006/main">
              <a:ext uri="{FF2B5EF4-FFF2-40B4-BE49-F238E27FC236}">
                <a16:creationId xmlns:a16="http://schemas.microsoft.com/office/drawing/2014/main" id="{07B4073E-3DB5-4F73-AB82-606FB2F7BF5B}"/>
              </a:ext>
            </a:extLst>
          </p:cNvPr>
          <p:cNvSpPr>
            <a:spLocks xmlns:a="http://schemas.openxmlformats.org/drawingml/2006/main" noGrp="1"/>
          </p:cNvSpPr>
          <p:nvPr/>
        </p:nvSpPr>
        <p:spPr>
          <a:xfrm xmlns:a="http://schemas.openxmlformats.org/drawingml/2006/main">
            <a:off x="6343650" y="4000500"/>
            <a:ext cx="1924050" cy="647700"/>
          </a:xfrm>
          <a:prstGeom xmlns:a="http://schemas.openxmlformats.org/drawingml/2006/main" prst="roundRect">
            <a:avLst>
              <a:gd name="adj" fmla="val 1764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0.00</a:t>
            </a:r>
          </a:p>
        </p:txBody>
      </p:sp>
      <p:sp>
        <p:nvSpPr>
          <p:cNvPr id="18" name="">
            <a:extLst xmlns:a="http://schemas.openxmlformats.org/drawingml/2006/main">
              <a:ext uri="{FF2B5EF4-FFF2-40B4-BE49-F238E27FC236}">
                <a16:creationId xmlns:a16="http://schemas.microsoft.com/office/drawing/2014/main" id="{EFA8449B-7574-4450-8C43-B8652F280DE8}"/>
              </a:ext>
            </a:extLst>
          </p:cNvPr>
          <p:cNvSpPr>
            <a:spLocks xmlns:a="http://schemas.openxmlformats.org/drawingml/2006/main" noGrp="1"/>
          </p:cNvSpPr>
          <p:nvPr/>
        </p:nvSpPr>
        <p:spPr>
          <a:xfrm xmlns:a="http://schemas.openxmlformats.org/drawingml/2006/main">
            <a:off x="8420100" y="4000500"/>
            <a:ext cx="2028825" cy="647700"/>
          </a:xfrm>
          <a:prstGeom xmlns:a="http://schemas.openxmlformats.org/drawingml/2006/main" prst="roundRect">
            <a:avLst>
              <a:gd name="adj" fmla="val 17647"/>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0.053</a:t>
            </a:r>
          </a:p>
        </p:txBody>
      </p:sp>
      <p:sp>
        <p:nvSpPr>
          <p:cNvPr id="19" name="">
            <a:extLst xmlns:a="http://schemas.openxmlformats.org/drawingml/2006/main">
              <a:ext uri="{FF2B5EF4-FFF2-40B4-BE49-F238E27FC236}">
                <a16:creationId xmlns:a16="http://schemas.microsoft.com/office/drawing/2014/main" id="{D61A572B-CBE0-4C3A-80E9-309C939DE0B9}"/>
              </a:ext>
            </a:extLst>
          </p:cNvPr>
          <p:cNvSpPr>
            <a:spLocks xmlns:a="http://schemas.openxmlformats.org/drawingml/2006/main" noGrp="1"/>
          </p:cNvSpPr>
          <p:nvPr/>
        </p:nvSpPr>
        <p:spPr>
          <a:xfrm xmlns:a="http://schemas.openxmlformats.org/drawingml/2006/main">
            <a:off x="1619250" y="52863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68C82"/>
                </a:solidFill>
                <a:latin typeface="Aptos"/>
                <a:ea typeface="Aptos"/>
                <a:cs typeface="Aptos"/>
              </a:defRPr>
            </a:pPr>
            <a:r>
              <a:rPr sz="1050" b="1">
                <a:solidFill>
                  <a:srgbClr val="268C82"/>
                </a:solidFill>
                <a:latin typeface="Aptos"/>
                <a:ea typeface="Aptos"/>
                <a:cs typeface="Aptos"/>
              </a:rPr>
              <a:t>fast</a:t>
            </a:r>
          </a:p>
        </p:txBody>
      </p:sp>
      <p:sp>
        <p:nvSpPr>
          <p:cNvPr id="20" name="">
            <a:extLst xmlns:a="http://schemas.openxmlformats.org/drawingml/2006/main">
              <a:ext uri="{FF2B5EF4-FFF2-40B4-BE49-F238E27FC236}">
                <a16:creationId xmlns:a16="http://schemas.microsoft.com/office/drawing/2014/main" id="{D6BC4359-B77B-4605-B3F2-DB700D8DB09F}"/>
              </a:ext>
            </a:extLst>
          </p:cNvPr>
          <p:cNvSpPr>
            <a:spLocks xmlns:a="http://schemas.openxmlformats.org/drawingml/2006/main" noGrp="1"/>
          </p:cNvSpPr>
          <p:nvPr/>
        </p:nvSpPr>
        <p:spPr>
          <a:xfrm xmlns:a="http://schemas.openxmlformats.org/drawingml/2006/main">
            <a:off x="2476500" y="5429250"/>
            <a:ext cx="7239000"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21" name="">
            <a:extLst xmlns:a="http://schemas.openxmlformats.org/drawingml/2006/main">
              <a:ext uri="{FF2B5EF4-FFF2-40B4-BE49-F238E27FC236}">
                <a16:creationId xmlns:a16="http://schemas.microsoft.com/office/drawing/2014/main" id="{0C16E866-62B3-4336-9A76-9A79F2E816A2}"/>
              </a:ext>
            </a:extLst>
          </p:cNvPr>
          <p:cNvSpPr>
            <a:spLocks xmlns:a="http://schemas.openxmlformats.org/drawingml/2006/main" noGrp="1"/>
          </p:cNvSpPr>
          <p:nvPr/>
        </p:nvSpPr>
        <p:spPr>
          <a:xfrm xmlns:a="http://schemas.openxmlformats.org/drawingml/2006/main">
            <a:off x="9715500" y="52863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1">
                <a:solidFill>
                  <a:srgbClr val="268C82"/>
                </a:solidFill>
                <a:latin typeface="Aptos"/>
                <a:ea typeface="Aptos"/>
                <a:cs typeface="Aptos"/>
              </a:defRPr>
            </a:pPr>
            <a:r>
              <a:rPr sz="1050" b="1">
                <a:solidFill>
                  <a:srgbClr val="268C82"/>
                </a:solidFill>
                <a:latin typeface="Aptos"/>
                <a:ea typeface="Aptos"/>
                <a:cs typeface="Aptos"/>
              </a:rPr>
              <a:t>polite</a:t>
            </a:r>
          </a:p>
        </p:txBody>
      </p:sp>
      <p:sp>
        <p:nvSpPr>
          <p:cNvPr id="22" name="">
            <a:extLst xmlns:a="http://schemas.openxmlformats.org/drawingml/2006/main">
              <a:ext uri="{FF2B5EF4-FFF2-40B4-BE49-F238E27FC236}">
                <a16:creationId xmlns:a16="http://schemas.microsoft.com/office/drawing/2014/main" id="{8F0223AF-3A73-4CC4-8A4C-2B0A52146A26}"/>
              </a:ext>
            </a:extLst>
          </p:cNvPr>
          <p:cNvSpPr>
            <a:spLocks xmlns:a="http://schemas.openxmlformats.org/drawingml/2006/main" noGrp="1"/>
          </p:cNvSpPr>
          <p:nvPr/>
        </p:nvSpPr>
        <p:spPr>
          <a:xfrm xmlns:a="http://schemas.openxmlformats.org/drawingml/2006/main">
            <a:off x="3381375" y="5295900"/>
            <a:ext cx="266700" cy="266700"/>
          </a:xfrm>
          <a:prstGeom xmlns:a="http://schemas.openxmlformats.org/drawingml/2006/main" prst="ellipse">
            <a:avLst/>
          </a:prstGeom>
          <a:solidFill xmlns:a="http://schemas.openxmlformats.org/drawingml/2006/main">
            <a:srgbClr val="D96C5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29BB7E8-716F-44A1-A883-AF01B8BCFB2F}"/>
              </a:ext>
            </a:extLst>
          </p:cNvPr>
          <p:cNvSpPr>
            <a:spLocks xmlns:a="http://schemas.openxmlformats.org/drawingml/2006/main" noGrp="1"/>
          </p:cNvSpPr>
          <p:nvPr/>
        </p:nvSpPr>
        <p:spPr>
          <a:xfrm xmlns:a="http://schemas.openxmlformats.org/drawingml/2006/main">
            <a:off x="3067050" y="5638800"/>
            <a:ext cx="904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D96C5F"/>
                </a:solidFill>
                <a:latin typeface="Aptos"/>
                <a:ea typeface="Aptos"/>
                <a:cs typeface="Aptos"/>
              </a:defRPr>
            </a:pPr>
            <a:r>
              <a:rPr sz="900" b="1">
                <a:solidFill>
                  <a:srgbClr val="D96C5F"/>
                </a:solidFill>
                <a:latin typeface="Aptos"/>
                <a:ea typeface="Aptos"/>
                <a:cs typeface="Aptos"/>
              </a:rPr>
              <a:t>Moshi</a:t>
            </a:r>
          </a:p>
        </p:txBody>
      </p:sp>
      <p:sp>
        <p:nvSpPr>
          <p:cNvPr id="24" name="">
            <a:extLst xmlns:a="http://schemas.openxmlformats.org/drawingml/2006/main">
              <a:ext uri="{FF2B5EF4-FFF2-40B4-BE49-F238E27FC236}">
                <a16:creationId xmlns:a16="http://schemas.microsoft.com/office/drawing/2014/main" id="{3F5BCFEE-5285-4072-9C31-CBCD988365E7}"/>
              </a:ext>
            </a:extLst>
          </p:cNvPr>
          <p:cNvSpPr>
            <a:spLocks xmlns:a="http://schemas.openxmlformats.org/drawingml/2006/main" noGrp="1"/>
          </p:cNvSpPr>
          <p:nvPr/>
        </p:nvSpPr>
        <p:spPr>
          <a:xfrm xmlns:a="http://schemas.openxmlformats.org/drawingml/2006/main">
            <a:off x="1524000" y="59245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102A43"/>
                </a:solidFill>
                <a:latin typeface="Aptos"/>
                <a:ea typeface="Aptos"/>
                <a:cs typeface="Aptos"/>
              </a:defRPr>
            </a:pPr>
            <a:r>
              <a:rPr sz="1125" b="1">
                <a:solidFill>
                  <a:srgbClr val="102A43"/>
                </a:solidFill>
                <a:latin typeface="Aptos"/>
                <a:ea typeface="Aptos"/>
                <a:cs typeface="Aptos"/>
              </a:rPr>
              <a:t>In simple terms: it answered quickly, but often spoke at the wrong time.</a:t>
            </a:r>
          </a:p>
        </p:txBody>
      </p:sp>
      <p:sp>
        <p:nvSpPr>
          <p:cNvPr id="25" name="">
            <a:extLst xmlns:a="http://schemas.openxmlformats.org/drawingml/2006/main">
              <a:ext uri="{FF2B5EF4-FFF2-40B4-BE49-F238E27FC236}">
                <a16:creationId xmlns:a16="http://schemas.microsoft.com/office/drawing/2014/main" id="{EBC1319C-9545-4FEA-8C86-406FC3537594}"/>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Moshi paper · eval/bench/RESULTS.md</a:t>
            </a:r>
          </a:p>
        </p:txBody>
      </p:sp>
    </p:spTree>
    <p:extLst>
      <p:ext uri="{BB962C8B-B14F-4D97-AF65-F5344CB8AC3E}">
        <p14:creationId xmlns:p14="http://schemas.microsoft.com/office/powerpoint/2010/main" val="2010215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79d98cfda924b6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6A40E5-6838-4091-815D-F6EB20B54367}"/>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8B29A658-DE79-4974-B22D-781CDA05EE42}"/>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16</a:t>
            </a:r>
          </a:p>
        </p:txBody>
      </p:sp>
      <p:sp>
        <p:nvSpPr>
          <p:cNvPr id="4" name="">
            <a:extLst xmlns:a="http://schemas.openxmlformats.org/drawingml/2006/main">
              <a:ext uri="{FF2B5EF4-FFF2-40B4-BE49-F238E27FC236}">
                <a16:creationId xmlns:a16="http://schemas.microsoft.com/office/drawing/2014/main" id="{897CA41F-7F6B-40B2-B273-7485A8FBB942}"/>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9477FCA9-2159-401C-9B46-E45D67C26B33}"/>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Experiment 1: earlier speculation did not prove speed</a:t>
            </a:r>
          </a:p>
        </p:txBody>
      </p:sp>
      <p:sp>
        <p:nvSpPr>
          <p:cNvPr id="6" name="">
            <a:extLst xmlns:a="http://schemas.openxmlformats.org/drawingml/2006/main">
              <a:ext uri="{FF2B5EF4-FFF2-40B4-BE49-F238E27FC236}">
                <a16:creationId xmlns:a16="http://schemas.microsoft.com/office/drawing/2014/main" id="{3D202947-C3D7-4CF9-956A-640117CA3BF3}"/>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F74DDA03-BC2B-4B21-89BB-F3885E021F68}"/>
              </a:ext>
            </a:extLst>
          </p:cNvPr>
          <p:cNvSpPr>
            <a:spLocks xmlns:a="http://schemas.openxmlformats.org/drawingml/2006/main" noGrp="1"/>
          </p:cNvSpPr>
          <p:nvPr/>
        </p:nvSpPr>
        <p:spPr>
          <a:xfrm xmlns:a="http://schemas.openxmlformats.org/drawingml/2006/main">
            <a:off x="781050" y="2000250"/>
            <a:ext cx="5105400" cy="1028700"/>
          </a:xfrm>
          <a:prstGeom xmlns:a="http://schemas.openxmlformats.org/drawingml/2006/main" prst="roundRect">
            <a:avLst>
              <a:gd name="adj" fmla="val 14815"/>
            </a:avLst>
          </a:prstGeom>
          <a:solidFill xmlns:a="http://schemas.openxmlformats.org/drawingml/2006/main">
            <a:srgbClr val="FFF8EA"/>
          </a:solidFill>
          <a:ln xmlns:a="http://schemas.openxmlformats.org/drawingml/2006/main" w="9525">
            <a:solidFill>
              <a:srgbClr val="8EBBD0"/>
            </a:solidFill>
            <a:prstDash val="solid"/>
          </a:ln>
        </p:spPr>
      </p:sp>
      <p:sp>
        <p:nvSpPr>
          <p:cNvPr id="8" name="">
            <a:extLst xmlns:a="http://schemas.openxmlformats.org/drawingml/2006/main">
              <a:ext uri="{FF2B5EF4-FFF2-40B4-BE49-F238E27FC236}">
                <a16:creationId xmlns:a16="http://schemas.microsoft.com/office/drawing/2014/main" id="{6995C485-6C32-4715-A787-7FA725AD2B3B}"/>
              </a:ext>
            </a:extLst>
          </p:cNvPr>
          <p:cNvSpPr>
            <a:spLocks xmlns:a="http://schemas.openxmlformats.org/drawingml/2006/main" noGrp="1"/>
          </p:cNvSpPr>
          <p:nvPr/>
        </p:nvSpPr>
        <p:spPr>
          <a:xfrm xmlns:a="http://schemas.openxmlformats.org/drawingml/2006/main">
            <a:off x="1009650" y="21717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88DC1"/>
                </a:solidFill>
                <a:latin typeface="Aptos"/>
                <a:ea typeface="Aptos"/>
                <a:cs typeface="Aptos"/>
              </a:defRPr>
            </a:pPr>
            <a:r>
              <a:rPr sz="900" b="1">
                <a:solidFill>
                  <a:srgbClr val="288DC1"/>
                </a:solidFill>
                <a:latin typeface="Aptos"/>
                <a:ea typeface="Aptos"/>
                <a:cs typeface="Aptos"/>
              </a:rPr>
              <a:t>THE THESIS</a:t>
            </a:r>
          </a:p>
        </p:txBody>
      </p:sp>
      <p:sp>
        <p:nvSpPr>
          <p:cNvPr id="9" name="">
            <a:extLst xmlns:a="http://schemas.openxmlformats.org/drawingml/2006/main">
              <a:ext uri="{FF2B5EF4-FFF2-40B4-BE49-F238E27FC236}">
                <a16:creationId xmlns:a16="http://schemas.microsoft.com/office/drawing/2014/main" id="{8EC569EF-DE14-4B85-AF1C-3C121D6110A4}"/>
              </a:ext>
            </a:extLst>
          </p:cNvPr>
          <p:cNvSpPr>
            <a:spLocks xmlns:a="http://schemas.openxmlformats.org/drawingml/2006/main" noGrp="1"/>
          </p:cNvSpPr>
          <p:nvPr/>
        </p:nvSpPr>
        <p:spPr>
          <a:xfrm xmlns:a="http://schemas.openxmlformats.org/drawingml/2006/main">
            <a:off x="1009650" y="2419350"/>
            <a:ext cx="453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latin typeface="Aptos"/>
                <a:ea typeface="Aptos"/>
                <a:cs typeface="Aptos"/>
              </a:defRPr>
            </a:pPr>
            <a:r>
              <a:rPr sz="1275" b="1">
                <a:solidFill>
                  <a:srgbClr val="102A43"/>
                </a:solidFill>
                <a:latin typeface="Aptos"/>
                <a:ea typeface="Aptos"/>
                <a:cs typeface="Aptos"/>
              </a:rPr>
              <a:t>Start reasoning after two stable words, rather than wait for four.</a:t>
            </a:r>
          </a:p>
        </p:txBody>
      </p:sp>
      <p:sp>
        <p:nvSpPr>
          <p:cNvPr id="10" name="">
            <a:extLst xmlns:a="http://schemas.openxmlformats.org/drawingml/2006/main">
              <a:ext uri="{FF2B5EF4-FFF2-40B4-BE49-F238E27FC236}">
                <a16:creationId xmlns:a16="http://schemas.microsoft.com/office/drawing/2014/main" id="{E94FE201-F14E-4B16-B734-A5E1A184C592}"/>
              </a:ext>
            </a:extLst>
          </p:cNvPr>
          <p:cNvSpPr>
            <a:spLocks xmlns:a="http://schemas.openxmlformats.org/drawingml/2006/main" noGrp="1"/>
          </p:cNvSpPr>
          <p:nvPr/>
        </p:nvSpPr>
        <p:spPr>
          <a:xfrm xmlns:a="http://schemas.openxmlformats.org/drawingml/2006/main">
            <a:off x="6305550" y="2000250"/>
            <a:ext cx="5105400" cy="1028700"/>
          </a:xfrm>
          <a:prstGeom xmlns:a="http://schemas.openxmlformats.org/drawingml/2006/main" prst="roundRect">
            <a:avLst>
              <a:gd name="adj" fmla="val 14815"/>
            </a:avLst>
          </a:prstGeom>
          <a:solidFill xmlns:a="http://schemas.openxmlformats.org/drawingml/2006/main">
            <a:srgbClr val="E8F3F6"/>
          </a:solidFill>
          <a:ln xmlns:a="http://schemas.openxmlformats.org/drawingml/2006/main" w="9525">
            <a:solidFill>
              <a:srgbClr val="8EBBD0"/>
            </a:solidFill>
            <a:prstDash val="solid"/>
          </a:ln>
        </p:spPr>
      </p:sp>
      <p:sp>
        <p:nvSpPr>
          <p:cNvPr id="11" name="">
            <a:extLst xmlns:a="http://schemas.openxmlformats.org/drawingml/2006/main">
              <a:ext uri="{FF2B5EF4-FFF2-40B4-BE49-F238E27FC236}">
                <a16:creationId xmlns:a16="http://schemas.microsoft.com/office/drawing/2014/main" id="{CE713CD3-0A75-4D6F-A6DB-443FE7CDA2AA}"/>
              </a:ext>
            </a:extLst>
          </p:cNvPr>
          <p:cNvSpPr>
            <a:spLocks xmlns:a="http://schemas.openxmlformats.org/drawingml/2006/main" noGrp="1"/>
          </p:cNvSpPr>
          <p:nvPr/>
        </p:nvSpPr>
        <p:spPr>
          <a:xfrm xmlns:a="http://schemas.openxmlformats.org/drawingml/2006/main">
            <a:off x="6534150" y="2171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88DC1"/>
                </a:solidFill>
                <a:latin typeface="Aptos"/>
                <a:ea typeface="Aptos"/>
                <a:cs typeface="Aptos"/>
              </a:defRPr>
            </a:pPr>
            <a:r>
              <a:rPr sz="900" b="1">
                <a:solidFill>
                  <a:srgbClr val="288DC1"/>
                </a:solidFill>
                <a:latin typeface="Aptos"/>
                <a:ea typeface="Aptos"/>
                <a:cs typeface="Aptos"/>
              </a:rPr>
              <a:t>WHAT WE EXPECTED</a:t>
            </a:r>
          </a:p>
        </p:txBody>
      </p:sp>
      <p:sp>
        <p:nvSpPr>
          <p:cNvPr id="12" name="">
            <a:extLst xmlns:a="http://schemas.openxmlformats.org/drawingml/2006/main">
              <a:ext uri="{FF2B5EF4-FFF2-40B4-BE49-F238E27FC236}">
                <a16:creationId xmlns:a16="http://schemas.microsoft.com/office/drawing/2014/main" id="{0D84E52C-EBF6-4D89-9BA6-52C2F5E5073F}"/>
              </a:ext>
            </a:extLst>
          </p:cNvPr>
          <p:cNvSpPr>
            <a:spLocks xmlns:a="http://schemas.openxmlformats.org/drawingml/2006/main" noGrp="1"/>
          </p:cNvSpPr>
          <p:nvPr/>
        </p:nvSpPr>
        <p:spPr>
          <a:xfrm xmlns:a="http://schemas.openxmlformats.org/drawingml/2006/main">
            <a:off x="6534150" y="2419350"/>
            <a:ext cx="453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latin typeface="Aptos"/>
                <a:ea typeface="Aptos"/>
                <a:cs typeface="Aptos"/>
              </a:defRPr>
            </a:pPr>
            <a:r>
              <a:rPr sz="1275" b="1">
                <a:solidFill>
                  <a:srgbClr val="102A43"/>
                </a:solidFill>
                <a:latin typeface="Aptos"/>
                <a:ea typeface="Aptos"/>
                <a:cs typeface="Aptos"/>
              </a:rPr>
              <a:t>The reply should begin meaningfully sooner.</a:t>
            </a:r>
          </a:p>
        </p:txBody>
      </p:sp>
      <p:sp>
        <p:nvSpPr>
          <p:cNvPr id="13" name="">
            <a:extLst xmlns:a="http://schemas.openxmlformats.org/drawingml/2006/main">
              <a:ext uri="{FF2B5EF4-FFF2-40B4-BE49-F238E27FC236}">
                <a16:creationId xmlns:a16="http://schemas.microsoft.com/office/drawing/2014/main" id="{A6ECF13E-9893-4BAF-83D5-D5235A8313AF}"/>
              </a:ext>
            </a:extLst>
          </p:cNvPr>
          <p:cNvSpPr>
            <a:spLocks xmlns:a="http://schemas.openxmlformats.org/drawingml/2006/main" noGrp="1"/>
          </p:cNvSpPr>
          <p:nvPr/>
        </p:nvSpPr>
        <p:spPr>
          <a:xfrm xmlns:a="http://schemas.openxmlformats.org/drawingml/2006/main">
            <a:off x="781050" y="3333750"/>
            <a:ext cx="10629900" cy="1600200"/>
          </a:xfrm>
          <a:prstGeom xmlns:a="http://schemas.openxmlformats.org/drawingml/2006/main" prst="roundRect">
            <a:avLst>
              <a:gd name="adj" fmla="val 10714"/>
            </a:avLst>
          </a:prstGeom>
          <a:solidFill xmlns:a="http://schemas.openxmlformats.org/drawingml/2006/main">
            <a:srgbClr val="F6FBFC"/>
          </a:solidFill>
          <a:ln xmlns:a="http://schemas.openxmlformats.org/drawingml/2006/main" w="9525">
            <a:solidFill>
              <a:srgbClr val="8EBBD0"/>
            </a:solidFill>
            <a:prstDash val="solid"/>
          </a:ln>
        </p:spPr>
      </p:sp>
      <p:sp>
        <p:nvSpPr>
          <p:cNvPr id="14" name="">
            <a:extLst xmlns:a="http://schemas.openxmlformats.org/drawingml/2006/main">
              <a:ext uri="{FF2B5EF4-FFF2-40B4-BE49-F238E27FC236}">
                <a16:creationId xmlns:a16="http://schemas.microsoft.com/office/drawing/2014/main" id="{F7AC5BB8-1573-48E5-BD57-BA7555DE1809}"/>
              </a:ext>
            </a:extLst>
          </p:cNvPr>
          <p:cNvSpPr>
            <a:spLocks xmlns:a="http://schemas.openxmlformats.org/drawingml/2006/main" noGrp="1"/>
          </p:cNvSpPr>
          <p:nvPr/>
        </p:nvSpPr>
        <p:spPr>
          <a:xfrm xmlns:a="http://schemas.openxmlformats.org/drawingml/2006/main">
            <a:off x="1066800" y="35623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4B687A"/>
                </a:solidFill>
                <a:latin typeface="Aptos"/>
                <a:ea typeface="Aptos"/>
                <a:cs typeface="Aptos"/>
              </a:defRPr>
            </a:pPr>
            <a:r>
              <a:rPr sz="900" b="1">
                <a:solidFill>
                  <a:srgbClr val="4B687A"/>
                </a:solidFill>
                <a:latin typeface="Aptos"/>
                <a:ea typeface="Aptos"/>
                <a:cs typeface="Aptos"/>
              </a:rPr>
              <a:t>BASELINE</a:t>
            </a:r>
          </a:p>
        </p:txBody>
      </p:sp>
      <p:sp>
        <p:nvSpPr>
          <p:cNvPr id="15" name="">
            <a:extLst xmlns:a="http://schemas.openxmlformats.org/drawingml/2006/main">
              <a:ext uri="{FF2B5EF4-FFF2-40B4-BE49-F238E27FC236}">
                <a16:creationId xmlns:a16="http://schemas.microsoft.com/office/drawing/2014/main" id="{025BD262-6CC5-4ADB-8D4B-6406174AC320}"/>
              </a:ext>
            </a:extLst>
          </p:cNvPr>
          <p:cNvSpPr>
            <a:spLocks xmlns:a="http://schemas.openxmlformats.org/drawingml/2006/main" noGrp="1"/>
          </p:cNvSpPr>
          <p:nvPr/>
        </p:nvSpPr>
        <p:spPr>
          <a:xfrm xmlns:a="http://schemas.openxmlformats.org/drawingml/2006/main">
            <a:off x="1066800" y="38290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102A43"/>
                </a:solidFill>
                <a:latin typeface="Aptos Mono"/>
                <a:ea typeface="Aptos Mono"/>
                <a:cs typeface="Aptos Mono"/>
              </a:defRPr>
            </a:pPr>
            <a:r>
              <a:rPr sz="2250" b="1">
                <a:solidFill>
                  <a:srgbClr val="102A43"/>
                </a:solidFill>
                <a:latin typeface="Aptos Mono"/>
                <a:ea typeface="Aptos Mono"/>
                <a:cs typeface="Aptos Mono"/>
              </a:rPr>
              <a:t>1,943 ms</a:t>
            </a:r>
          </a:p>
        </p:txBody>
      </p:sp>
      <p:sp>
        <p:nvSpPr>
          <p:cNvPr id="16" name="">
            <a:extLst xmlns:a="http://schemas.openxmlformats.org/drawingml/2006/main">
              <a:ext uri="{FF2B5EF4-FFF2-40B4-BE49-F238E27FC236}">
                <a16:creationId xmlns:a16="http://schemas.microsoft.com/office/drawing/2014/main" id="{F1164289-B0EB-4D02-8152-6242EB98157D}"/>
              </a:ext>
            </a:extLst>
          </p:cNvPr>
          <p:cNvSpPr>
            <a:spLocks xmlns:a="http://schemas.openxmlformats.org/drawingml/2006/main" noGrp="1"/>
          </p:cNvSpPr>
          <p:nvPr/>
        </p:nvSpPr>
        <p:spPr>
          <a:xfrm xmlns:a="http://schemas.openxmlformats.org/drawingml/2006/main">
            <a:off x="1066800" y="43053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wait for four stable words</a:t>
            </a:r>
          </a:p>
        </p:txBody>
      </p:sp>
      <p:sp>
        <p:nvSpPr>
          <p:cNvPr id="17" name="">
            <a:extLst xmlns:a="http://schemas.openxmlformats.org/drawingml/2006/main">
              <a:ext uri="{FF2B5EF4-FFF2-40B4-BE49-F238E27FC236}">
                <a16:creationId xmlns:a16="http://schemas.microsoft.com/office/drawing/2014/main" id="{587C4D2E-EB19-482D-AEFD-F07811135593}"/>
              </a:ext>
            </a:extLst>
          </p:cNvPr>
          <p:cNvSpPr>
            <a:spLocks xmlns:a="http://schemas.openxmlformats.org/drawingml/2006/main" noGrp="1"/>
          </p:cNvSpPr>
          <p:nvPr/>
        </p:nvSpPr>
        <p:spPr>
          <a:xfrm xmlns:a="http://schemas.openxmlformats.org/drawingml/2006/main">
            <a:off x="5029200" y="3600450"/>
            <a:ext cx="0" cy="106680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8" name="">
            <a:extLst xmlns:a="http://schemas.openxmlformats.org/drawingml/2006/main">
              <a:ext uri="{FF2B5EF4-FFF2-40B4-BE49-F238E27FC236}">
                <a16:creationId xmlns:a16="http://schemas.microsoft.com/office/drawing/2014/main" id="{1D975E11-2AD0-4C22-9CB7-16A78E69133E}"/>
              </a:ext>
            </a:extLst>
          </p:cNvPr>
          <p:cNvSpPr>
            <a:spLocks xmlns:a="http://schemas.openxmlformats.org/drawingml/2006/main" noGrp="1"/>
          </p:cNvSpPr>
          <p:nvPr/>
        </p:nvSpPr>
        <p:spPr>
          <a:xfrm xmlns:a="http://schemas.openxmlformats.org/drawingml/2006/main">
            <a:off x="5391150" y="35623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268C82"/>
                </a:solidFill>
                <a:latin typeface="Aptos"/>
                <a:ea typeface="Aptos"/>
                <a:cs typeface="Aptos"/>
              </a:defRPr>
            </a:pPr>
            <a:r>
              <a:rPr sz="900" b="1">
                <a:solidFill>
                  <a:srgbClr val="268C82"/>
                </a:solidFill>
                <a:latin typeface="Aptos"/>
                <a:ea typeface="Aptos"/>
                <a:cs typeface="Aptos"/>
              </a:rPr>
              <a:t>TWO-WORD SPECULATION</a:t>
            </a:r>
          </a:p>
        </p:txBody>
      </p:sp>
      <p:sp>
        <p:nvSpPr>
          <p:cNvPr id="19" name="">
            <a:extLst xmlns:a="http://schemas.openxmlformats.org/drawingml/2006/main">
              <a:ext uri="{FF2B5EF4-FFF2-40B4-BE49-F238E27FC236}">
                <a16:creationId xmlns:a16="http://schemas.microsoft.com/office/drawing/2014/main" id="{E4CEE346-67BD-4565-A0D3-95562BD66845}"/>
              </a:ext>
            </a:extLst>
          </p:cNvPr>
          <p:cNvSpPr>
            <a:spLocks xmlns:a="http://schemas.openxmlformats.org/drawingml/2006/main" noGrp="1"/>
          </p:cNvSpPr>
          <p:nvPr/>
        </p:nvSpPr>
        <p:spPr>
          <a:xfrm xmlns:a="http://schemas.openxmlformats.org/drawingml/2006/main">
            <a:off x="5391150" y="38290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268C82"/>
                </a:solidFill>
                <a:latin typeface="Aptos Mono"/>
                <a:ea typeface="Aptos Mono"/>
                <a:cs typeface="Aptos Mono"/>
              </a:defRPr>
            </a:pPr>
            <a:r>
              <a:rPr sz="2250" b="1">
                <a:solidFill>
                  <a:srgbClr val="268C82"/>
                </a:solidFill>
                <a:latin typeface="Aptos Mono"/>
                <a:ea typeface="Aptos Mono"/>
                <a:cs typeface="Aptos Mono"/>
              </a:rPr>
              <a:t>1,912 ms</a:t>
            </a:r>
          </a:p>
        </p:txBody>
      </p:sp>
      <p:sp>
        <p:nvSpPr>
          <p:cNvPr id="20" name="">
            <a:extLst xmlns:a="http://schemas.openxmlformats.org/drawingml/2006/main">
              <a:ext uri="{FF2B5EF4-FFF2-40B4-BE49-F238E27FC236}">
                <a16:creationId xmlns:a16="http://schemas.microsoft.com/office/drawing/2014/main" id="{7BF45679-5829-4196-9182-90ECD4039777}"/>
              </a:ext>
            </a:extLst>
          </p:cNvPr>
          <p:cNvSpPr>
            <a:spLocks xmlns:a="http://schemas.openxmlformats.org/drawingml/2006/main" noGrp="1"/>
          </p:cNvSpPr>
          <p:nvPr/>
        </p:nvSpPr>
        <p:spPr>
          <a:xfrm xmlns:a="http://schemas.openxmlformats.org/drawingml/2006/main">
            <a:off x="5391150" y="43053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4B687A"/>
                </a:solidFill>
                <a:latin typeface="Aptos"/>
                <a:ea typeface="Aptos"/>
                <a:cs typeface="Aptos"/>
              </a:defRPr>
            </a:pPr>
            <a:r>
              <a:rPr sz="1125" b="0">
                <a:solidFill>
                  <a:srgbClr val="4B687A"/>
                </a:solidFill>
                <a:latin typeface="Aptos"/>
                <a:ea typeface="Aptos"/>
                <a:cs typeface="Aptos"/>
              </a:rPr>
              <a:t>start from two stable words</a:t>
            </a:r>
          </a:p>
        </p:txBody>
      </p:sp>
      <p:sp>
        <p:nvSpPr>
          <p:cNvPr id="21" name="">
            <a:extLst xmlns:a="http://schemas.openxmlformats.org/drawingml/2006/main">
              <a:ext uri="{FF2B5EF4-FFF2-40B4-BE49-F238E27FC236}">
                <a16:creationId xmlns:a16="http://schemas.microsoft.com/office/drawing/2014/main" id="{71C7867C-1979-4857-9043-1529485E2AF2}"/>
              </a:ext>
            </a:extLst>
          </p:cNvPr>
          <p:cNvSpPr>
            <a:spLocks xmlns:a="http://schemas.openxmlformats.org/drawingml/2006/main" noGrp="1"/>
          </p:cNvSpPr>
          <p:nvPr/>
        </p:nvSpPr>
        <p:spPr>
          <a:xfrm xmlns:a="http://schemas.openxmlformats.org/drawingml/2006/main">
            <a:off x="8858250" y="3714750"/>
            <a:ext cx="1905000" cy="381000"/>
          </a:xfrm>
          <a:prstGeom xmlns:a="http://schemas.openxmlformats.org/drawingml/2006/main" prst="roundRect">
            <a:avLst>
              <a:gd name="adj" fmla="val 40000"/>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91153"/>
          </a:bodyPr>
          <a:lstStyle xmlns:a="http://schemas.openxmlformats.org/drawingml/2006/main"/>
          <a:p xmlns:a="http://schemas.openxmlformats.org/drawingml/2006/main">
            <a:pPr algn="ctr">
              <a:defRPr sz="2100" b="1">
                <a:solidFill>
                  <a:srgbClr val="D96C5F"/>
                </a:solidFill>
                <a:latin typeface="Aptos Mono"/>
                <a:ea typeface="Aptos Mono"/>
                <a:cs typeface="Aptos Mono"/>
              </a:defRPr>
            </a:pPr>
            <a:r>
              <a:rPr sz="2100" b="1">
                <a:solidFill>
                  <a:srgbClr val="D96C5F"/>
                </a:solidFill>
                <a:latin typeface="Aptos Mono"/>
                <a:ea typeface="Aptos Mono"/>
                <a:cs typeface="Aptos Mono"/>
              </a:rPr>
              <a:t>31 ms</a:t>
            </a:r>
          </a:p>
        </p:txBody>
      </p:sp>
      <p:sp>
        <p:nvSpPr>
          <p:cNvPr id="22" name="">
            <a:extLst xmlns:a="http://schemas.openxmlformats.org/drawingml/2006/main">
              <a:ext uri="{FF2B5EF4-FFF2-40B4-BE49-F238E27FC236}">
                <a16:creationId xmlns:a16="http://schemas.microsoft.com/office/drawing/2014/main" id="{82F8D6A7-CE97-4DA1-AA7E-192DDC3688A6}"/>
              </a:ext>
            </a:extLst>
          </p:cNvPr>
          <p:cNvSpPr>
            <a:spLocks xmlns:a="http://schemas.openxmlformats.org/drawingml/2006/main" noGrp="1"/>
          </p:cNvSpPr>
          <p:nvPr/>
        </p:nvSpPr>
        <p:spPr>
          <a:xfrm xmlns:a="http://schemas.openxmlformats.org/drawingml/2006/main">
            <a:off x="8477250" y="4171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4B687A"/>
                </a:solidFill>
                <a:latin typeface="Aptos"/>
                <a:ea typeface="Aptos"/>
                <a:cs typeface="Aptos"/>
              </a:defRPr>
            </a:pPr>
            <a:r>
              <a:rPr sz="1050" b="1">
                <a:solidFill>
                  <a:srgbClr val="4B687A"/>
                </a:solidFill>
                <a:latin typeface="Aptos"/>
                <a:ea typeface="Aptos"/>
                <a:cs typeface="Aptos"/>
              </a:rPr>
              <a:t>31 ms difference across two live runs.</a:t>
            </a:r>
          </a:p>
        </p:txBody>
      </p:sp>
      <p:sp>
        <p:nvSpPr>
          <p:cNvPr id="23" name="">
            <a:extLst xmlns:a="http://schemas.openxmlformats.org/drawingml/2006/main">
              <a:ext uri="{FF2B5EF4-FFF2-40B4-BE49-F238E27FC236}">
                <a16:creationId xmlns:a16="http://schemas.microsoft.com/office/drawing/2014/main" id="{A9C7C315-9969-4D11-8209-230F950E99BA}"/>
              </a:ext>
            </a:extLst>
          </p:cNvPr>
          <p:cNvSpPr>
            <a:spLocks xmlns:a="http://schemas.openxmlformats.org/drawingml/2006/main" noGrp="1"/>
          </p:cNvSpPr>
          <p:nvPr/>
        </p:nvSpPr>
        <p:spPr>
          <a:xfrm xmlns:a="http://schemas.openxmlformats.org/drawingml/2006/main">
            <a:off x="1809750" y="5314950"/>
            <a:ext cx="8572500" cy="609600"/>
          </a:xfrm>
          <a:prstGeom xmlns:a="http://schemas.openxmlformats.org/drawingml/2006/main" prst="roundRect">
            <a:avLst>
              <a:gd name="adj" fmla="val 25000"/>
            </a:avLst>
          </a:prstGeom>
          <a:solidFill xmlns:a="http://schemas.openxmlformats.org/drawingml/2006/main">
            <a:srgbClr val="FCEAE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56A9C33-214D-4755-ADC6-45989D2D7A38}"/>
              </a:ext>
            </a:extLst>
          </p:cNvPr>
          <p:cNvSpPr>
            <a:spLocks xmlns:a="http://schemas.openxmlformats.org/drawingml/2006/main" noGrp="1"/>
          </p:cNvSpPr>
          <p:nvPr/>
        </p:nvSpPr>
        <p:spPr>
          <a:xfrm xmlns:a="http://schemas.openxmlformats.org/drawingml/2006/main">
            <a:off x="2038350" y="54864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D96C5F"/>
                </a:solidFill>
                <a:latin typeface="Aptos"/>
                <a:ea typeface="Aptos"/>
                <a:cs typeface="Aptos"/>
              </a:defRPr>
            </a:pPr>
            <a:r>
              <a:rPr sz="900" b="1">
                <a:solidFill>
                  <a:srgbClr val="D96C5F"/>
                </a:solidFill>
                <a:latin typeface="Aptos"/>
                <a:ea typeface="Aptos"/>
                <a:cs typeface="Aptos"/>
              </a:rPr>
              <a:t>HONEST VERDICT</a:t>
            </a:r>
          </a:p>
        </p:txBody>
      </p:sp>
      <p:sp>
        <p:nvSpPr>
          <p:cNvPr id="25" name="">
            <a:extLst xmlns:a="http://schemas.openxmlformats.org/drawingml/2006/main">
              <a:ext uri="{FF2B5EF4-FFF2-40B4-BE49-F238E27FC236}">
                <a16:creationId xmlns:a16="http://schemas.microsoft.com/office/drawing/2014/main" id="{3CB7BDAF-F97D-48DE-8417-739B8551FBFB}"/>
              </a:ext>
            </a:extLst>
          </p:cNvPr>
          <p:cNvSpPr>
            <a:spLocks xmlns:a="http://schemas.openxmlformats.org/drawingml/2006/main" noGrp="1"/>
          </p:cNvSpPr>
          <p:nvPr/>
        </p:nvSpPr>
        <p:spPr>
          <a:xfrm xmlns:a="http://schemas.openxmlformats.org/drawingml/2006/main">
            <a:off x="3733800" y="5429250"/>
            <a:ext cx="628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Too small and too few runs: noise, not a proven speedup.</a:t>
            </a:r>
          </a:p>
        </p:txBody>
      </p:sp>
      <p:sp>
        <p:nvSpPr>
          <p:cNvPr id="26" name="">
            <a:extLst xmlns:a="http://schemas.openxmlformats.org/drawingml/2006/main">
              <a:ext uri="{FF2B5EF4-FFF2-40B4-BE49-F238E27FC236}">
                <a16:creationId xmlns:a16="http://schemas.microsoft.com/office/drawing/2014/main" id="{0B3BEB2E-11B7-4B92-A86B-381B7A6D6831}"/>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GitHub PR #1 · Widen speculative-reasoning coverage</a:t>
            </a:r>
          </a:p>
        </p:txBody>
      </p:sp>
    </p:spTree>
    <p:extLst>
      <p:ext uri="{BB962C8B-B14F-4D97-AF65-F5344CB8AC3E}">
        <p14:creationId xmlns:p14="http://schemas.microsoft.com/office/powerpoint/2010/main" val="183422209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c096babb917413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23B098-AA6A-4A12-BD97-0228793F170E}"/>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AD303D1D-C404-434A-8D58-E71FF02C2C01}"/>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17</a:t>
            </a:r>
          </a:p>
        </p:txBody>
      </p:sp>
      <p:sp>
        <p:nvSpPr>
          <p:cNvPr id="4" name="">
            <a:extLst xmlns:a="http://schemas.openxmlformats.org/drawingml/2006/main">
              <a:ext uri="{FF2B5EF4-FFF2-40B4-BE49-F238E27FC236}">
                <a16:creationId xmlns:a16="http://schemas.microsoft.com/office/drawing/2014/main" id="{E2358464-C52A-4D73-8442-DE389D2F51D3}"/>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B9D6D7B0-48D5-469B-8EEF-12DCFCAD8582}"/>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Experiment 2: the proxy win inverted</a:t>
            </a:r>
          </a:p>
        </p:txBody>
      </p:sp>
      <p:sp>
        <p:nvSpPr>
          <p:cNvPr id="6" name="">
            <a:extLst xmlns:a="http://schemas.openxmlformats.org/drawingml/2006/main">
              <a:ext uri="{FF2B5EF4-FFF2-40B4-BE49-F238E27FC236}">
                <a16:creationId xmlns:a16="http://schemas.microsoft.com/office/drawing/2014/main" id="{97DA832C-B2CF-4FC2-B29D-EC9E19A4EF8E}"/>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E332EB36-F523-4BA4-A659-056D3A2CD971}"/>
              </a:ext>
            </a:extLst>
          </p:cNvPr>
          <p:cNvSpPr>
            <a:spLocks xmlns:a="http://schemas.openxmlformats.org/drawingml/2006/main" noGrp="1"/>
          </p:cNvSpPr>
          <p:nvPr/>
        </p:nvSpPr>
        <p:spPr>
          <a:xfrm xmlns:a="http://schemas.openxmlformats.org/drawingml/2006/main">
            <a:off x="1143000" y="2324100"/>
            <a:ext cx="3810000" cy="990600"/>
          </a:xfrm>
          <a:prstGeom xmlns:a="http://schemas.openxmlformats.org/drawingml/2006/main" prst="roundRect">
            <a:avLst>
              <a:gd name="adj" fmla="val 23077"/>
            </a:avLst>
          </a:prstGeom>
          <a:solidFill xmlns:a="http://schemas.openxmlformats.org/drawingml/2006/main">
            <a:srgbClr val="268C82"/>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F8EA"/>
                </a:solidFill>
                <a:latin typeface="Aptos"/>
                <a:ea typeface="Aptos"/>
                <a:cs typeface="Aptos"/>
              </a:defRPr>
            </a:pPr>
            <a:r>
              <a:rPr sz="2250" b="1">
                <a:solidFill>
                  <a:srgbClr val="FFF8EA"/>
                </a:solidFill>
                <a:latin typeface="Aptos"/>
                <a:ea typeface="Aptos"/>
                <a:cs typeface="Aptos"/>
              </a:rPr>
              <a:t>4.9× fewer free-run tokens</a:t>
            </a:r>
          </a:p>
        </p:txBody>
      </p:sp>
      <p:sp>
        <p:nvSpPr>
          <p:cNvPr id="8" name="">
            <a:extLst xmlns:a="http://schemas.openxmlformats.org/drawingml/2006/main">
              <a:ext uri="{FF2B5EF4-FFF2-40B4-BE49-F238E27FC236}">
                <a16:creationId xmlns:a16="http://schemas.microsoft.com/office/drawing/2014/main" id="{ABEB63B7-48EA-4424-8161-B293F4E9C376}"/>
              </a:ext>
            </a:extLst>
          </p:cNvPr>
          <p:cNvSpPr>
            <a:spLocks xmlns:a="http://schemas.openxmlformats.org/drawingml/2006/main" noGrp="1"/>
          </p:cNvSpPr>
          <p:nvPr/>
        </p:nvSpPr>
        <p:spPr>
          <a:xfrm xmlns:a="http://schemas.openxmlformats.org/drawingml/2006/main">
            <a:off x="2238375" y="20383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268C82"/>
                </a:solidFill>
                <a:latin typeface="Aptos"/>
                <a:ea typeface="Aptos"/>
                <a:cs typeface="Aptos"/>
              </a:defRPr>
            </a:pPr>
            <a:r>
              <a:rPr sz="900" b="1">
                <a:solidFill>
                  <a:srgbClr val="268C82"/>
                </a:solidFill>
                <a:latin typeface="Aptos"/>
                <a:ea typeface="Aptos"/>
                <a:cs typeface="Aptos"/>
              </a:rPr>
              <a:t>PROXY ✓</a:t>
            </a:r>
          </a:p>
        </p:txBody>
      </p:sp>
      <p:sp>
        <p:nvSpPr>
          <p:cNvPr id="9" name="">
            <a:extLst xmlns:a="http://schemas.openxmlformats.org/drawingml/2006/main">
              <a:ext uri="{FF2B5EF4-FFF2-40B4-BE49-F238E27FC236}">
                <a16:creationId xmlns:a16="http://schemas.microsoft.com/office/drawing/2014/main" id="{46F3FFF7-F1FE-4207-AEC2-556AA370DBF8}"/>
              </a:ext>
            </a:extLst>
          </p:cNvPr>
          <p:cNvSpPr>
            <a:spLocks xmlns:a="http://schemas.openxmlformats.org/drawingml/2006/main" noGrp="1"/>
          </p:cNvSpPr>
          <p:nvPr/>
        </p:nvSpPr>
        <p:spPr>
          <a:xfrm xmlns:a="http://schemas.openxmlformats.org/drawingml/2006/main">
            <a:off x="4953000" y="2819400"/>
            <a:ext cx="1809750" cy="0"/>
          </a:xfrm>
          <a:prstGeom xmlns:a="http://schemas.openxmlformats.org/drawingml/2006/main" prst="line">
            <a:avLst/>
          </a:prstGeom>
          <a:noFill xmlns:a="http://schemas.openxmlformats.org/drawingml/2006/main"/>
          <a:ln xmlns:a="http://schemas.openxmlformats.org/drawingml/2006/main" w="47625">
            <a:solidFill>
              <a:srgbClr val="D96C5F"/>
            </a:solidFill>
            <a:prstDash val="solid"/>
          </a:ln>
        </p:spPr>
      </p:sp>
      <p:sp>
        <p:nvSpPr>
          <p:cNvPr id="10" name="">
            <a:extLst xmlns:a="http://schemas.openxmlformats.org/drawingml/2006/main">
              <a:ext uri="{FF2B5EF4-FFF2-40B4-BE49-F238E27FC236}">
                <a16:creationId xmlns:a16="http://schemas.microsoft.com/office/drawing/2014/main" id="{E78D670F-1050-478E-B825-1B56485E17C6}"/>
              </a:ext>
            </a:extLst>
          </p:cNvPr>
          <p:cNvSpPr>
            <a:spLocks xmlns:a="http://schemas.openxmlformats.org/drawingml/2006/main" noGrp="1"/>
          </p:cNvSpPr>
          <p:nvPr/>
        </p:nvSpPr>
        <p:spPr>
          <a:xfrm xmlns:a="http://schemas.openxmlformats.org/drawingml/2006/main">
            <a:off x="5810250" y="24955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300" b="1">
                <a:solidFill>
                  <a:srgbClr val="D96C5F"/>
                </a:solidFill>
                <a:latin typeface="Aptos"/>
                <a:ea typeface="Aptos"/>
                <a:cs typeface="Aptos"/>
              </a:defRPr>
            </a:pPr>
            <a:r>
              <a:rPr sz="3300" b="1">
                <a:solidFill>
                  <a:srgbClr val="D96C5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CB81CAAA-CE7A-4D8B-8006-1AFC65206688}"/>
              </a:ext>
            </a:extLst>
          </p:cNvPr>
          <p:cNvSpPr>
            <a:spLocks xmlns:a="http://schemas.openxmlformats.org/drawingml/2006/main" noGrp="1"/>
          </p:cNvSpPr>
          <p:nvPr/>
        </p:nvSpPr>
        <p:spPr>
          <a:xfrm xmlns:a="http://schemas.openxmlformats.org/drawingml/2006/main">
            <a:off x="7848600" y="20383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D96C5F"/>
                </a:solidFill>
                <a:latin typeface="Aptos"/>
                <a:ea typeface="Aptos"/>
                <a:cs typeface="Aptos"/>
              </a:defRPr>
            </a:pPr>
            <a:r>
              <a:rPr sz="900" b="1">
                <a:solidFill>
                  <a:srgbClr val="D96C5F"/>
                </a:solidFill>
                <a:latin typeface="Aptos"/>
                <a:ea typeface="Aptos"/>
                <a:cs typeface="Aptos"/>
              </a:rPr>
              <a:t>REALITY ✕</a:t>
            </a:r>
          </a:p>
        </p:txBody>
      </p:sp>
      <p:sp>
        <p:nvSpPr>
          <p:cNvPr id="12" name="">
            <a:extLst xmlns:a="http://schemas.openxmlformats.org/drawingml/2006/main">
              <a:ext uri="{FF2B5EF4-FFF2-40B4-BE49-F238E27FC236}">
                <a16:creationId xmlns:a16="http://schemas.microsoft.com/office/drawing/2014/main" id="{1D018535-0623-4F11-B025-E2E12EB90053}"/>
              </a:ext>
            </a:extLst>
          </p:cNvPr>
          <p:cNvSpPr>
            <a:spLocks xmlns:a="http://schemas.openxmlformats.org/drawingml/2006/main" noGrp="1"/>
          </p:cNvSpPr>
          <p:nvPr/>
        </p:nvSpPr>
        <p:spPr>
          <a:xfrm xmlns:a="http://schemas.openxmlformats.org/drawingml/2006/main">
            <a:off x="6953250" y="2343150"/>
            <a:ext cx="3714750" cy="685800"/>
          </a:xfrm>
          <a:prstGeom xmlns:a="http://schemas.openxmlformats.org/drawingml/2006/main" prst="roundRect">
            <a:avLst>
              <a:gd name="adj" fmla="val 25000"/>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FFF8EA"/>
                </a:solidFill>
                <a:latin typeface="Aptos"/>
                <a:ea typeface="Aptos"/>
                <a:cs typeface="Aptos"/>
              </a:defRPr>
            </a:pPr>
            <a:r>
              <a:rPr sz="1875" b="1">
                <a:solidFill>
                  <a:srgbClr val="FFF8EA"/>
                </a:solidFill>
                <a:latin typeface="Aptos"/>
                <a:ea typeface="Aptos"/>
                <a:cs typeface="Aptos"/>
              </a:rPr>
              <a:t>+59% takeovers</a:t>
            </a:r>
          </a:p>
        </p:txBody>
      </p:sp>
      <p:sp>
        <p:nvSpPr>
          <p:cNvPr id="13" name="">
            <a:extLst xmlns:a="http://schemas.openxmlformats.org/drawingml/2006/main">
              <a:ext uri="{FF2B5EF4-FFF2-40B4-BE49-F238E27FC236}">
                <a16:creationId xmlns:a16="http://schemas.microsoft.com/office/drawing/2014/main" id="{A1E916CB-A536-4C45-A8E9-6EBBC709DE97}"/>
              </a:ext>
            </a:extLst>
          </p:cNvPr>
          <p:cNvSpPr>
            <a:spLocks xmlns:a="http://schemas.openxmlformats.org/drawingml/2006/main" noGrp="1"/>
          </p:cNvSpPr>
          <p:nvPr/>
        </p:nvSpPr>
        <p:spPr>
          <a:xfrm xmlns:a="http://schemas.openxmlformats.org/drawingml/2006/main">
            <a:off x="6953250" y="3333750"/>
            <a:ext cx="3714750" cy="685800"/>
          </a:xfrm>
          <a:prstGeom xmlns:a="http://schemas.openxmlformats.org/drawingml/2006/main" prst="roundRect">
            <a:avLst>
              <a:gd name="adj" fmla="val 25000"/>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FFF8EA"/>
                </a:solidFill>
                <a:latin typeface="Aptos"/>
                <a:ea typeface="Aptos"/>
                <a:cs typeface="Aptos"/>
              </a:defRPr>
            </a:pPr>
            <a:r>
              <a:rPr sz="1875" b="1">
                <a:solidFill>
                  <a:srgbClr val="FFF8EA"/>
                </a:solidFill>
                <a:latin typeface="Aptos"/>
                <a:ea typeface="Aptos"/>
                <a:cs typeface="Aptos"/>
              </a:rPr>
              <a:t>+41% overlap</a:t>
            </a:r>
          </a:p>
        </p:txBody>
      </p:sp>
      <p:sp>
        <p:nvSpPr>
          <p:cNvPr id="14" name="">
            <a:extLst xmlns:a="http://schemas.openxmlformats.org/drawingml/2006/main">
              <a:ext uri="{FF2B5EF4-FFF2-40B4-BE49-F238E27FC236}">
                <a16:creationId xmlns:a16="http://schemas.microsoft.com/office/drawing/2014/main" id="{9F1F6F02-F8A4-4E71-9D50-F42CF469EBA5}"/>
              </a:ext>
            </a:extLst>
          </p:cNvPr>
          <p:cNvSpPr>
            <a:spLocks xmlns:a="http://schemas.openxmlformats.org/drawingml/2006/main" noGrp="1"/>
          </p:cNvSpPr>
          <p:nvPr/>
        </p:nvSpPr>
        <p:spPr>
          <a:xfrm xmlns:a="http://schemas.openxmlformats.org/drawingml/2006/main">
            <a:off x="6953250" y="4324350"/>
            <a:ext cx="3714750" cy="685800"/>
          </a:xfrm>
          <a:prstGeom xmlns:a="http://schemas.openxmlformats.org/drawingml/2006/main" prst="roundRect">
            <a:avLst>
              <a:gd name="adj" fmla="val 25000"/>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FFF8EA"/>
                </a:solidFill>
                <a:latin typeface="Aptos"/>
                <a:ea typeface="Aptos"/>
                <a:cs typeface="Aptos"/>
              </a:defRPr>
            </a:pPr>
            <a:r>
              <a:rPr sz="1875" b="1">
                <a:solidFill>
                  <a:srgbClr val="FFF8EA"/>
                </a:solidFill>
                <a:latin typeface="Aptos"/>
                <a:ea typeface="Aptos"/>
                <a:cs typeface="Aptos"/>
              </a:rPr>
              <a:t>8× worse handoff</a:t>
            </a:r>
          </a:p>
        </p:txBody>
      </p:sp>
      <p:sp>
        <p:nvSpPr>
          <p:cNvPr id="15" name="">
            <a:extLst xmlns:a="http://schemas.openxmlformats.org/drawingml/2006/main">
              <a:ext uri="{FF2B5EF4-FFF2-40B4-BE49-F238E27FC236}">
                <a16:creationId xmlns:a16="http://schemas.microsoft.com/office/drawing/2014/main" id="{4852B88F-D9A2-44A4-8CBE-CE3EAF38B226}"/>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02A43"/>
                </a:solidFill>
                <a:latin typeface="Aptos"/>
                <a:ea typeface="Aptos"/>
                <a:cs typeface="Aptos"/>
              </a:defRPr>
            </a:pPr>
            <a:r>
              <a:rPr sz="1500" b="1">
                <a:solidFill>
                  <a:srgbClr val="102A43"/>
                </a:solidFill>
                <a:latin typeface="Aptos"/>
                <a:ea typeface="Aptos"/>
                <a:cs typeface="Aptos"/>
              </a:rPr>
              <a:t>In simple terms: we made the bot wait less; it interrupted people more often.</a:t>
            </a:r>
          </a:p>
        </p:txBody>
      </p:sp>
      <p:sp>
        <p:nvSpPr>
          <p:cNvPr id="16" name="">
            <a:extLst xmlns:a="http://schemas.openxmlformats.org/drawingml/2006/main">
              <a:ext uri="{FF2B5EF4-FFF2-40B4-BE49-F238E27FC236}">
                <a16:creationId xmlns:a16="http://schemas.microsoft.com/office/drawing/2014/main" id="{A0C9BAB1-B837-4DF1-AD4B-F474D54AE0C2}"/>
              </a:ext>
            </a:extLst>
          </p:cNvPr>
          <p:cNvSpPr>
            <a:spLocks xmlns:a="http://schemas.openxmlformats.org/drawingml/2006/main" noGrp="1"/>
          </p:cNvSpPr>
          <p:nvPr/>
        </p:nvSpPr>
        <p:spPr>
          <a:xfrm xmlns:a="http://schemas.openxmlformats.org/drawingml/2006/main">
            <a:off x="1524000" y="5829300"/>
            <a:ext cx="9144000" cy="285750"/>
          </a:xfrm>
          <a:prstGeom xmlns:a="http://schemas.openxmlformats.org/drawingml/2006/main" prst="roundRect">
            <a:avLst>
              <a:gd name="adj" fmla="val 46667"/>
            </a:avLst>
          </a:prstGeom>
          <a:solidFill xmlns:a="http://schemas.openxmlformats.org/drawingml/2006/main">
            <a:srgbClr val="E8F3F6"/>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68C82"/>
                </a:solidFill>
                <a:latin typeface="Aptos"/>
                <a:ea typeface="Aptos"/>
                <a:cs typeface="Aptos"/>
              </a:defRPr>
            </a:pPr>
            <a:r>
              <a:rPr sz="1125" b="1">
                <a:solidFill>
                  <a:srgbClr val="268C82"/>
                </a:solidFill>
                <a:latin typeface="Aptos"/>
                <a:ea typeface="Aptos"/>
                <a:cs typeface="Aptos"/>
              </a:rPr>
              <a:t>EVAL RULE  ·  Eval the behaviour you care about—not the proxy that flatters your optimization.</a:t>
            </a:r>
          </a:p>
        </p:txBody>
      </p:sp>
      <p:sp>
        <p:nvSpPr>
          <p:cNvPr id="17" name="">
            <a:extLst xmlns:a="http://schemas.openxmlformats.org/drawingml/2006/main">
              <a:ext uri="{FF2B5EF4-FFF2-40B4-BE49-F238E27FC236}">
                <a16:creationId xmlns:a16="http://schemas.microsoft.com/office/drawing/2014/main" id="{84544F00-B7FE-4CF3-A3BF-185BDC1B2E8B}"/>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GitHub PR #2 · docs/DUPLEX_STEERING.md</a:t>
            </a:r>
          </a:p>
        </p:txBody>
      </p:sp>
    </p:spTree>
    <p:extLst>
      <p:ext uri="{BB962C8B-B14F-4D97-AF65-F5344CB8AC3E}">
        <p14:creationId xmlns:p14="http://schemas.microsoft.com/office/powerpoint/2010/main" val="40227230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3cb31ce3f324ab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08A8B4-2D16-4CE7-B261-86920258A12D}"/>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B2F62C88-CB3E-4D7E-8CD2-9EBCEDE3A9BB}"/>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18</a:t>
            </a:r>
          </a:p>
        </p:txBody>
      </p:sp>
      <p:sp>
        <p:nvSpPr>
          <p:cNvPr id="4" name="">
            <a:extLst xmlns:a="http://schemas.openxmlformats.org/drawingml/2006/main">
              <a:ext uri="{FF2B5EF4-FFF2-40B4-BE49-F238E27FC236}">
                <a16:creationId xmlns:a16="http://schemas.microsoft.com/office/drawing/2014/main" id="{7B3D7932-BE44-46EC-9D02-7C45F898F340}"/>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1B78395A-F12C-4689-BB77-91E6D4505C37}"/>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Evals are the new PRDs</a:t>
            </a:r>
          </a:p>
        </p:txBody>
      </p:sp>
      <p:sp>
        <p:nvSpPr>
          <p:cNvPr id="6" name="">
            <a:extLst xmlns:a="http://schemas.openxmlformats.org/drawingml/2006/main">
              <a:ext uri="{FF2B5EF4-FFF2-40B4-BE49-F238E27FC236}">
                <a16:creationId xmlns:a16="http://schemas.microsoft.com/office/drawing/2014/main" id="{F27BE173-5E60-4CEE-89B8-99ABDA0534D8}"/>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CA82FD17-269C-4225-97FC-4D810FD09C0C}"/>
              </a:ext>
            </a:extLst>
          </p:cNvPr>
          <p:cNvSpPr>
            <a:spLocks xmlns:a="http://schemas.openxmlformats.org/drawingml/2006/main" noGrp="1"/>
          </p:cNvSpPr>
          <p:nvPr/>
        </p:nvSpPr>
        <p:spPr>
          <a:xfrm xmlns:a="http://schemas.openxmlformats.org/drawingml/2006/main">
            <a:off x="1238250" y="2762250"/>
            <a:ext cx="1809750" cy="1047750"/>
          </a:xfrm>
          <a:prstGeom xmlns:a="http://schemas.openxmlformats.org/drawingml/2006/main" prst="ellipse">
            <a:avLst/>
          </a:prstGeom>
          <a:solidFill xmlns:a="http://schemas.openxmlformats.org/drawingml/2006/main">
            <a:srgbClr val="E8F3F6"/>
          </a:solidFill>
          <a:ln xmlns:a="http://schemas.openxmlformats.org/drawingml/2006/main" w="19050">
            <a:solidFill>
              <a:srgbClr val="288DC1"/>
            </a:solidFill>
            <a:prstDash val="solid"/>
          </a:ln>
        </p:spPr>
      </p:sp>
      <p:sp>
        <p:nvSpPr>
          <p:cNvPr id="8" name="">
            <a:extLst xmlns:a="http://schemas.openxmlformats.org/drawingml/2006/main">
              <a:ext uri="{FF2B5EF4-FFF2-40B4-BE49-F238E27FC236}">
                <a16:creationId xmlns:a16="http://schemas.microsoft.com/office/drawing/2014/main" id="{0C3C76CD-59FC-42A6-9F95-1B02998DA67D}"/>
              </a:ext>
            </a:extLst>
          </p:cNvPr>
          <p:cNvSpPr>
            <a:spLocks xmlns:a="http://schemas.openxmlformats.org/drawingml/2006/main" noGrp="1"/>
          </p:cNvSpPr>
          <p:nvPr/>
        </p:nvSpPr>
        <p:spPr>
          <a:xfrm xmlns:a="http://schemas.openxmlformats.org/drawingml/2006/main">
            <a:off x="1352550" y="276225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scenario</a:t>
            </a:r>
          </a:p>
        </p:txBody>
      </p:sp>
      <p:sp>
        <p:nvSpPr>
          <p:cNvPr id="9" name="">
            <a:extLst xmlns:a="http://schemas.openxmlformats.org/drawingml/2006/main">
              <a:ext uri="{FF2B5EF4-FFF2-40B4-BE49-F238E27FC236}">
                <a16:creationId xmlns:a16="http://schemas.microsoft.com/office/drawing/2014/main" id="{1723F873-48ED-4700-BD4E-93A68BBB1098}"/>
              </a:ext>
            </a:extLst>
          </p:cNvPr>
          <p:cNvSpPr>
            <a:spLocks xmlns:a="http://schemas.openxmlformats.org/drawingml/2006/main" noGrp="1"/>
          </p:cNvSpPr>
          <p:nvPr/>
        </p:nvSpPr>
        <p:spPr>
          <a:xfrm xmlns:a="http://schemas.openxmlformats.org/drawingml/2006/main">
            <a:off x="3714750" y="2095500"/>
            <a:ext cx="1809750" cy="1047750"/>
          </a:xfrm>
          <a:prstGeom xmlns:a="http://schemas.openxmlformats.org/drawingml/2006/main" prst="ellipse">
            <a:avLst/>
          </a:prstGeom>
          <a:solidFill xmlns:a="http://schemas.openxmlformats.org/drawingml/2006/main">
            <a:srgbClr val="E8F3F6"/>
          </a:solidFill>
          <a:ln xmlns:a="http://schemas.openxmlformats.org/drawingml/2006/main" w="19050">
            <a:solidFill>
              <a:srgbClr val="288DC1"/>
            </a:solidFill>
            <a:prstDash val="solid"/>
          </a:ln>
        </p:spPr>
      </p:sp>
      <p:sp>
        <p:nvSpPr>
          <p:cNvPr id="10" name="">
            <a:extLst xmlns:a="http://schemas.openxmlformats.org/drawingml/2006/main">
              <a:ext uri="{FF2B5EF4-FFF2-40B4-BE49-F238E27FC236}">
                <a16:creationId xmlns:a16="http://schemas.microsoft.com/office/drawing/2014/main" id="{B77F04AF-ED8C-41A3-BA94-66279696F6A7}"/>
              </a:ext>
            </a:extLst>
          </p:cNvPr>
          <p:cNvSpPr>
            <a:spLocks xmlns:a="http://schemas.openxmlformats.org/drawingml/2006/main" noGrp="1"/>
          </p:cNvSpPr>
          <p:nvPr/>
        </p:nvSpPr>
        <p:spPr>
          <a:xfrm xmlns:a="http://schemas.openxmlformats.org/drawingml/2006/main">
            <a:off x="3829050" y="209550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metric</a:t>
            </a:r>
          </a:p>
        </p:txBody>
      </p:sp>
      <p:sp>
        <p:nvSpPr>
          <p:cNvPr id="11" name="">
            <a:extLst xmlns:a="http://schemas.openxmlformats.org/drawingml/2006/main">
              <a:ext uri="{FF2B5EF4-FFF2-40B4-BE49-F238E27FC236}">
                <a16:creationId xmlns:a16="http://schemas.microsoft.com/office/drawing/2014/main" id="{12FF16A2-85CF-4B8C-A567-DCF6B34A5843}"/>
              </a:ext>
            </a:extLst>
          </p:cNvPr>
          <p:cNvSpPr>
            <a:spLocks xmlns:a="http://schemas.openxmlformats.org/drawingml/2006/main" noGrp="1"/>
          </p:cNvSpPr>
          <p:nvPr/>
        </p:nvSpPr>
        <p:spPr>
          <a:xfrm xmlns:a="http://schemas.openxmlformats.org/drawingml/2006/main">
            <a:off x="6667500" y="2095500"/>
            <a:ext cx="1809750" cy="1047750"/>
          </a:xfrm>
          <a:prstGeom xmlns:a="http://schemas.openxmlformats.org/drawingml/2006/main" prst="ellipse">
            <a:avLst/>
          </a:prstGeom>
          <a:solidFill xmlns:a="http://schemas.openxmlformats.org/drawingml/2006/main">
            <a:srgbClr val="E8F3F6"/>
          </a:solidFill>
          <a:ln xmlns:a="http://schemas.openxmlformats.org/drawingml/2006/main" w="19050">
            <a:solidFill>
              <a:srgbClr val="288DC1"/>
            </a:solidFill>
            <a:prstDash val="solid"/>
          </a:ln>
        </p:spPr>
      </p:sp>
      <p:sp>
        <p:nvSpPr>
          <p:cNvPr id="12" name="">
            <a:extLst xmlns:a="http://schemas.openxmlformats.org/drawingml/2006/main">
              <a:ext uri="{FF2B5EF4-FFF2-40B4-BE49-F238E27FC236}">
                <a16:creationId xmlns:a16="http://schemas.microsoft.com/office/drawing/2014/main" id="{8B046EF6-07E9-40D6-B0B2-8DB0402860E8}"/>
              </a:ext>
            </a:extLst>
          </p:cNvPr>
          <p:cNvSpPr>
            <a:spLocks xmlns:a="http://schemas.openxmlformats.org/drawingml/2006/main" noGrp="1"/>
          </p:cNvSpPr>
          <p:nvPr/>
        </p:nvSpPr>
        <p:spPr>
          <a:xfrm xmlns:a="http://schemas.openxmlformats.org/drawingml/2006/main">
            <a:off x="6781800" y="209550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threshold</a:t>
            </a:r>
          </a:p>
        </p:txBody>
      </p:sp>
      <p:sp>
        <p:nvSpPr>
          <p:cNvPr id="13" name="">
            <a:extLst xmlns:a="http://schemas.openxmlformats.org/drawingml/2006/main">
              <a:ext uri="{FF2B5EF4-FFF2-40B4-BE49-F238E27FC236}">
                <a16:creationId xmlns:a16="http://schemas.microsoft.com/office/drawing/2014/main" id="{DBFBA5CD-5E97-4FE4-9EE9-86DC4BD1B04F}"/>
              </a:ext>
            </a:extLst>
          </p:cNvPr>
          <p:cNvSpPr>
            <a:spLocks xmlns:a="http://schemas.openxmlformats.org/drawingml/2006/main" noGrp="1"/>
          </p:cNvSpPr>
          <p:nvPr/>
        </p:nvSpPr>
        <p:spPr>
          <a:xfrm xmlns:a="http://schemas.openxmlformats.org/drawingml/2006/main">
            <a:off x="9144000" y="2762250"/>
            <a:ext cx="1809750" cy="1047750"/>
          </a:xfrm>
          <a:prstGeom xmlns:a="http://schemas.openxmlformats.org/drawingml/2006/main" prst="ellipse">
            <a:avLst/>
          </a:prstGeom>
          <a:solidFill xmlns:a="http://schemas.openxmlformats.org/drawingml/2006/main">
            <a:srgbClr val="268C82"/>
          </a:solidFill>
          <a:ln xmlns:a="http://schemas.openxmlformats.org/drawingml/2006/main" w="19050">
            <a:solidFill>
              <a:srgbClr val="268C82"/>
            </a:solidFill>
            <a:prstDash val="solid"/>
          </a:ln>
        </p:spPr>
      </p:sp>
      <p:sp>
        <p:nvSpPr>
          <p:cNvPr id="14" name="">
            <a:extLst xmlns:a="http://schemas.openxmlformats.org/drawingml/2006/main">
              <a:ext uri="{FF2B5EF4-FFF2-40B4-BE49-F238E27FC236}">
                <a16:creationId xmlns:a16="http://schemas.microsoft.com/office/drawing/2014/main" id="{14E7B92E-4096-4CAB-AD8D-89C2EF656803}"/>
              </a:ext>
            </a:extLst>
          </p:cNvPr>
          <p:cNvSpPr>
            <a:spLocks xmlns:a="http://schemas.openxmlformats.org/drawingml/2006/main" noGrp="1"/>
          </p:cNvSpPr>
          <p:nvPr/>
        </p:nvSpPr>
        <p:spPr>
          <a:xfrm xmlns:a="http://schemas.openxmlformats.org/drawingml/2006/main">
            <a:off x="9258300" y="276225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regression test</a:t>
            </a:r>
          </a:p>
        </p:txBody>
      </p:sp>
      <p:sp>
        <p:nvSpPr>
          <p:cNvPr id="15" name="">
            <a:extLst xmlns:a="http://schemas.openxmlformats.org/drawingml/2006/main">
              <a:ext uri="{FF2B5EF4-FFF2-40B4-BE49-F238E27FC236}">
                <a16:creationId xmlns:a16="http://schemas.microsoft.com/office/drawing/2014/main" id="{C22FC4F0-6394-4778-9887-29780EA09608}"/>
              </a:ext>
            </a:extLst>
          </p:cNvPr>
          <p:cNvSpPr>
            <a:spLocks xmlns:a="http://schemas.openxmlformats.org/drawingml/2006/main" noGrp="1"/>
          </p:cNvSpPr>
          <p:nvPr/>
        </p:nvSpPr>
        <p:spPr>
          <a:xfrm xmlns:a="http://schemas.openxmlformats.org/drawingml/2006/main">
            <a:off x="3143250" y="261937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288DC1"/>
                </a:solidFill>
                <a:latin typeface="Aptos"/>
                <a:ea typeface="Aptos"/>
                <a:cs typeface="Aptos"/>
              </a:defRPr>
            </a:pPr>
            <a:r>
              <a:rPr sz="2250" b="1">
                <a:solidFill>
                  <a:srgbClr val="288DC1"/>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D814F9B9-0697-4854-963F-BF7A058FC923}"/>
              </a:ext>
            </a:extLst>
          </p:cNvPr>
          <p:cNvSpPr>
            <a:spLocks xmlns:a="http://schemas.openxmlformats.org/drawingml/2006/main" noGrp="1"/>
          </p:cNvSpPr>
          <p:nvPr/>
        </p:nvSpPr>
        <p:spPr>
          <a:xfrm xmlns:a="http://schemas.openxmlformats.org/drawingml/2006/main">
            <a:off x="5953125" y="223837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288DC1"/>
                </a:solidFill>
                <a:latin typeface="Aptos"/>
                <a:ea typeface="Aptos"/>
                <a:cs typeface="Aptos"/>
              </a:defRPr>
            </a:pPr>
            <a:r>
              <a:rPr sz="2250" b="1">
                <a:solidFill>
                  <a:srgbClr val="288DC1"/>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88E7C727-7A17-44A4-8F61-3F4F5147FFA3}"/>
              </a:ext>
            </a:extLst>
          </p:cNvPr>
          <p:cNvSpPr>
            <a:spLocks xmlns:a="http://schemas.openxmlformats.org/drawingml/2006/main" noGrp="1"/>
          </p:cNvSpPr>
          <p:nvPr/>
        </p:nvSpPr>
        <p:spPr>
          <a:xfrm xmlns:a="http://schemas.openxmlformats.org/drawingml/2006/main">
            <a:off x="8524875" y="261937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288DC1"/>
                </a:solidFill>
                <a:latin typeface="Aptos"/>
                <a:ea typeface="Aptos"/>
                <a:cs typeface="Aptos"/>
              </a:defRPr>
            </a:pPr>
            <a:r>
              <a:rPr sz="2250" b="1">
                <a:solidFill>
                  <a:srgbClr val="288DC1"/>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14FF785A-0EDC-44FB-8A63-2C34EA0222DE}"/>
              </a:ext>
            </a:extLst>
          </p:cNvPr>
          <p:cNvSpPr>
            <a:spLocks xmlns:a="http://schemas.openxmlformats.org/drawingml/2006/main" noGrp="1"/>
          </p:cNvSpPr>
          <p:nvPr/>
        </p:nvSpPr>
        <p:spPr>
          <a:xfrm xmlns:a="http://schemas.openxmlformats.org/drawingml/2006/main">
            <a:off x="10048875" y="3810000"/>
            <a:ext cx="0" cy="104775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19" name="">
            <a:extLst xmlns:a="http://schemas.openxmlformats.org/drawingml/2006/main">
              <a:ext uri="{FF2B5EF4-FFF2-40B4-BE49-F238E27FC236}">
                <a16:creationId xmlns:a16="http://schemas.microsoft.com/office/drawing/2014/main" id="{330012A1-3072-409C-9C40-FF86E9F45511}"/>
              </a:ext>
            </a:extLst>
          </p:cNvPr>
          <p:cNvSpPr>
            <a:spLocks xmlns:a="http://schemas.openxmlformats.org/drawingml/2006/main" noGrp="1"/>
          </p:cNvSpPr>
          <p:nvPr/>
        </p:nvSpPr>
        <p:spPr>
          <a:xfrm xmlns:a="http://schemas.openxmlformats.org/drawingml/2006/main">
            <a:off x="2095500" y="4857750"/>
            <a:ext cx="7953375"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20" name="">
            <a:extLst xmlns:a="http://schemas.openxmlformats.org/drawingml/2006/main">
              <a:ext uri="{FF2B5EF4-FFF2-40B4-BE49-F238E27FC236}">
                <a16:creationId xmlns:a16="http://schemas.microsoft.com/office/drawing/2014/main" id="{57EDB953-6BAF-4766-A608-704C2F974882}"/>
              </a:ext>
            </a:extLst>
          </p:cNvPr>
          <p:cNvSpPr>
            <a:spLocks xmlns:a="http://schemas.openxmlformats.org/drawingml/2006/main" noGrp="1"/>
          </p:cNvSpPr>
          <p:nvPr/>
        </p:nvSpPr>
        <p:spPr>
          <a:xfrm xmlns:a="http://schemas.openxmlformats.org/drawingml/2006/main">
            <a:off x="2095500" y="3810000"/>
            <a:ext cx="0" cy="104775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21" name="">
            <a:extLst xmlns:a="http://schemas.openxmlformats.org/drawingml/2006/main">
              <a:ext uri="{FF2B5EF4-FFF2-40B4-BE49-F238E27FC236}">
                <a16:creationId xmlns:a16="http://schemas.microsoft.com/office/drawing/2014/main" id="{1289A905-5DE6-4D5E-9EE3-446F25479110}"/>
              </a:ext>
            </a:extLst>
          </p:cNvPr>
          <p:cNvSpPr>
            <a:spLocks xmlns:a="http://schemas.openxmlformats.org/drawingml/2006/main" noGrp="1"/>
          </p:cNvSpPr>
          <p:nvPr/>
        </p:nvSpPr>
        <p:spPr>
          <a:xfrm xmlns:a="http://schemas.openxmlformats.org/drawingml/2006/main">
            <a:off x="4953000" y="4572000"/>
            <a:ext cx="2286000" cy="552450"/>
          </a:xfrm>
          <a:prstGeom xmlns:a="http://schemas.openxmlformats.org/drawingml/2006/main" prst="roundRect">
            <a:avLst>
              <a:gd name="adj" fmla="val 31034"/>
            </a:avLst>
          </a:prstGeom>
          <a:solidFill xmlns:a="http://schemas.openxmlformats.org/drawingml/2006/main">
            <a:srgbClr val="FFF8EA"/>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D96C5F"/>
                </a:solidFill>
                <a:latin typeface="Aptos"/>
                <a:ea typeface="Aptos"/>
                <a:cs typeface="Aptos"/>
              </a:defRPr>
            </a:pPr>
            <a:r>
              <a:rPr sz="1875" b="1">
                <a:solidFill>
                  <a:srgbClr val="D96C5F"/>
                </a:solidFill>
                <a:latin typeface="Aptos"/>
                <a:ea typeface="Aptos"/>
                <a:cs typeface="Aptos"/>
              </a:rPr>
              <a:t>real call</a:t>
            </a:r>
          </a:p>
        </p:txBody>
      </p:sp>
      <p:sp>
        <p:nvSpPr>
          <p:cNvPr id="22" name="">
            <a:extLst xmlns:a="http://schemas.openxmlformats.org/drawingml/2006/main">
              <a:ext uri="{FF2B5EF4-FFF2-40B4-BE49-F238E27FC236}">
                <a16:creationId xmlns:a16="http://schemas.microsoft.com/office/drawing/2014/main" id="{5E8363B6-1E70-4E93-8C5C-26930ABBC8CE}"/>
              </a:ext>
            </a:extLst>
          </p:cNvPr>
          <p:cNvSpPr>
            <a:spLocks xmlns:a="http://schemas.openxmlformats.org/drawingml/2006/main" noGrp="1"/>
          </p:cNvSpPr>
          <p:nvPr/>
        </p:nvSpPr>
        <p:spPr>
          <a:xfrm xmlns:a="http://schemas.openxmlformats.org/drawingml/2006/main">
            <a:off x="1619250" y="5619750"/>
            <a:ext cx="8953500" cy="323850"/>
          </a:xfrm>
          <a:prstGeom xmlns:a="http://schemas.openxmlformats.org/drawingml/2006/main" prst="roundRect">
            <a:avLst>
              <a:gd name="adj" fmla="val 47059"/>
            </a:avLst>
          </a:prstGeom>
          <a:solidFill xmlns:a="http://schemas.openxmlformats.org/drawingml/2006/main">
            <a:srgbClr val="E8F3F6"/>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A43"/>
                </a:solidFill>
                <a:latin typeface="Aptos"/>
                <a:ea typeface="Aptos"/>
                <a:cs typeface="Aptos"/>
              </a:defRPr>
            </a:pPr>
            <a:r>
              <a:rPr sz="1275" b="1">
                <a:solidFill>
                  <a:srgbClr val="102A43"/>
                </a:solidFill>
                <a:latin typeface="Aptos"/>
                <a:ea typeface="Aptos"/>
                <a:cs typeface="Aptos"/>
              </a:rPr>
              <a:t>Why: live calls reveal failures a prompt cannot. We made each one a repeatable test.</a:t>
            </a:r>
          </a:p>
        </p:txBody>
      </p:sp>
      <p:sp>
        <p:nvSpPr>
          <p:cNvPr id="23" name="">
            <a:extLst xmlns:a="http://schemas.openxmlformats.org/drawingml/2006/main">
              <a:ext uri="{FF2B5EF4-FFF2-40B4-BE49-F238E27FC236}">
                <a16:creationId xmlns:a16="http://schemas.microsoft.com/office/drawing/2014/main" id="{7A859F89-C4F1-46F0-9116-62A41F0E2236}"/>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CI and eval harnesses</a:t>
            </a:r>
          </a:p>
        </p:txBody>
      </p:sp>
    </p:spTree>
    <p:extLst>
      <p:ext uri="{BB962C8B-B14F-4D97-AF65-F5344CB8AC3E}">
        <p14:creationId xmlns:p14="http://schemas.microsoft.com/office/powerpoint/2010/main" val="85587342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a1b63d8242f4de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A36DCC-C5F9-4467-9768-AF49899360A1}"/>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F530513B-53F4-4737-A7AF-860F020B0CCF}"/>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19</a:t>
            </a:r>
          </a:p>
        </p:txBody>
      </p:sp>
      <p:sp>
        <p:nvSpPr>
          <p:cNvPr id="4" name="">
            <a:extLst xmlns:a="http://schemas.openxmlformats.org/drawingml/2006/main">
              <a:ext uri="{FF2B5EF4-FFF2-40B4-BE49-F238E27FC236}">
                <a16:creationId xmlns:a16="http://schemas.microsoft.com/office/drawing/2014/main" id="{74ED9D60-0C23-4A2F-8E58-3501CC51CEE3}"/>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0B712857-749B-4221-851E-5E886B81E61A}"/>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The model does not own trust</a:t>
            </a:r>
          </a:p>
        </p:txBody>
      </p:sp>
      <p:sp>
        <p:nvSpPr>
          <p:cNvPr id="6" name="">
            <a:extLst xmlns:a="http://schemas.openxmlformats.org/drawingml/2006/main">
              <a:ext uri="{FF2B5EF4-FFF2-40B4-BE49-F238E27FC236}">
                <a16:creationId xmlns:a16="http://schemas.microsoft.com/office/drawing/2014/main" id="{9BEC99CC-FFD0-4868-9D62-BD238B115E9B}"/>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3122514F-12C8-4935-B3FB-C290C0A9D053}"/>
              </a:ext>
            </a:extLst>
          </p:cNvPr>
          <p:cNvSpPr>
            <a:spLocks xmlns:a="http://schemas.openxmlformats.org/drawingml/2006/main" noGrp="1"/>
          </p:cNvSpPr>
          <p:nvPr/>
        </p:nvSpPr>
        <p:spPr>
          <a:xfrm xmlns:a="http://schemas.openxmlformats.org/drawingml/2006/main">
            <a:off x="4191000" y="2343150"/>
            <a:ext cx="3810000" cy="2667000"/>
          </a:xfrm>
          <a:prstGeom xmlns:a="http://schemas.openxmlformats.org/drawingml/2006/main" prst="ellipse">
            <a:avLst/>
          </a:prstGeom>
          <a:solidFill xmlns:a="http://schemas.openxmlformats.org/drawingml/2006/main">
            <a:srgbClr val="FFF8EA"/>
          </a:solidFill>
          <a:ln xmlns:a="http://schemas.openxmlformats.org/drawingml/2006/main" w="57150">
            <a:solidFill>
              <a:srgbClr val="D96C5F"/>
            </a:solidFill>
            <a:prstDash val="solid"/>
          </a:ln>
        </p:spPr>
      </p:sp>
      <p:sp>
        <p:nvSpPr>
          <p:cNvPr id="8" name="">
            <a:extLst xmlns:a="http://schemas.openxmlformats.org/drawingml/2006/main">
              <a:ext uri="{FF2B5EF4-FFF2-40B4-BE49-F238E27FC236}">
                <a16:creationId xmlns:a16="http://schemas.microsoft.com/office/drawing/2014/main" id="{A578300E-1891-45BC-9421-91EEEC33AC68}"/>
              </a:ext>
            </a:extLst>
          </p:cNvPr>
          <p:cNvSpPr>
            <a:spLocks xmlns:a="http://schemas.openxmlformats.org/drawingml/2006/main" noGrp="1"/>
          </p:cNvSpPr>
          <p:nvPr/>
        </p:nvSpPr>
        <p:spPr>
          <a:xfrm xmlns:a="http://schemas.openxmlformats.org/drawingml/2006/main">
            <a:off x="5095875" y="3000375"/>
            <a:ext cx="2000250" cy="1333500"/>
          </a:xfrm>
          <a:prstGeom xmlns:a="http://schemas.openxmlformats.org/drawingml/2006/main" prst="ellipse">
            <a:avLst/>
          </a:prstGeom>
          <a:solidFill xmlns:a="http://schemas.openxmlformats.org/drawingml/2006/main">
            <a:srgbClr val="E8F3F6"/>
          </a:solidFill>
          <a:ln xmlns:a="http://schemas.openxmlformats.org/drawingml/2006/main" w="28575">
            <a:solidFill>
              <a:srgbClr val="288DC1"/>
            </a:solidFill>
            <a:prstDash val="solid"/>
          </a:ln>
        </p:spPr>
      </p:sp>
      <p:sp>
        <p:nvSpPr>
          <p:cNvPr id="9" name="">
            <a:extLst xmlns:a="http://schemas.openxmlformats.org/drawingml/2006/main">
              <a:ext uri="{FF2B5EF4-FFF2-40B4-BE49-F238E27FC236}">
                <a16:creationId xmlns:a16="http://schemas.microsoft.com/office/drawing/2014/main" id="{6F1FB4DA-14F6-471F-B896-7A5E1CD3BC2F}"/>
              </a:ext>
            </a:extLst>
          </p:cNvPr>
          <p:cNvSpPr>
            <a:spLocks xmlns:a="http://schemas.openxmlformats.org/drawingml/2006/main" noGrp="1"/>
          </p:cNvSpPr>
          <p:nvPr/>
        </p:nvSpPr>
        <p:spPr>
          <a:xfrm xmlns:a="http://schemas.openxmlformats.org/drawingml/2006/main">
            <a:off x="5286375" y="3276600"/>
            <a:ext cx="1619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102A43"/>
                </a:solidFill>
                <a:latin typeface="Aptos"/>
                <a:ea typeface="Aptos"/>
                <a:cs typeface="Aptos"/>
              </a:defRPr>
            </a:pPr>
            <a:r>
              <a:rPr sz="2250" b="1">
                <a:solidFill>
                  <a:srgbClr val="102A43"/>
                </a:solidFill>
                <a:latin typeface="Aptos"/>
                <a:ea typeface="Aptos"/>
                <a:cs typeface="Aptos"/>
              </a:rPr>
              <a:t>LLM</a:t>
            </a:r>
          </a:p>
        </p:txBody>
      </p:sp>
      <p:sp>
        <p:nvSpPr>
          <p:cNvPr id="10" name="">
            <a:extLst xmlns:a="http://schemas.openxmlformats.org/drawingml/2006/main">
              <a:ext uri="{FF2B5EF4-FFF2-40B4-BE49-F238E27FC236}">
                <a16:creationId xmlns:a16="http://schemas.microsoft.com/office/drawing/2014/main" id="{B51261DD-E297-432E-938E-B04008C886CD}"/>
              </a:ext>
            </a:extLst>
          </p:cNvPr>
          <p:cNvSpPr>
            <a:spLocks xmlns:a="http://schemas.openxmlformats.org/drawingml/2006/main" noGrp="1"/>
          </p:cNvSpPr>
          <p:nvPr/>
        </p:nvSpPr>
        <p:spPr>
          <a:xfrm xmlns:a="http://schemas.openxmlformats.org/drawingml/2006/main">
            <a:off x="1143000" y="2247900"/>
            <a:ext cx="1809750" cy="323850"/>
          </a:xfrm>
          <a:prstGeom xmlns:a="http://schemas.openxmlformats.org/drawingml/2006/main" prst="roundRect">
            <a:avLst>
              <a:gd name="adj" fmla="val 500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consent</a:t>
            </a:r>
          </a:p>
        </p:txBody>
      </p:sp>
      <p:sp>
        <p:nvSpPr>
          <p:cNvPr id="11" name="">
            <a:extLst xmlns:a="http://schemas.openxmlformats.org/drawingml/2006/main">
              <a:ext uri="{FF2B5EF4-FFF2-40B4-BE49-F238E27FC236}">
                <a16:creationId xmlns:a16="http://schemas.microsoft.com/office/drawing/2014/main" id="{31F57799-C534-4CF9-8353-EA1DA5848C9E}"/>
              </a:ext>
            </a:extLst>
          </p:cNvPr>
          <p:cNvSpPr>
            <a:spLocks xmlns:a="http://schemas.openxmlformats.org/drawingml/2006/main" noGrp="1"/>
          </p:cNvSpPr>
          <p:nvPr/>
        </p:nvSpPr>
        <p:spPr>
          <a:xfrm xmlns:a="http://schemas.openxmlformats.org/drawingml/2006/main">
            <a:off x="1238250" y="4514850"/>
            <a:ext cx="1809750" cy="323850"/>
          </a:xfrm>
          <a:prstGeom xmlns:a="http://schemas.openxmlformats.org/drawingml/2006/main" prst="roundRect">
            <a:avLst>
              <a:gd name="adj" fmla="val 50000"/>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opt-out</a:t>
            </a:r>
          </a:p>
        </p:txBody>
      </p:sp>
      <p:sp>
        <p:nvSpPr>
          <p:cNvPr id="12" name="">
            <a:extLst xmlns:a="http://schemas.openxmlformats.org/drawingml/2006/main">
              <a:ext uri="{FF2B5EF4-FFF2-40B4-BE49-F238E27FC236}">
                <a16:creationId xmlns:a16="http://schemas.microsoft.com/office/drawing/2014/main" id="{7299DEBA-0FC2-407C-A4AA-CC93E9602163}"/>
              </a:ext>
            </a:extLst>
          </p:cNvPr>
          <p:cNvSpPr>
            <a:spLocks xmlns:a="http://schemas.openxmlformats.org/drawingml/2006/main" noGrp="1"/>
          </p:cNvSpPr>
          <p:nvPr/>
        </p:nvSpPr>
        <p:spPr>
          <a:xfrm xmlns:a="http://schemas.openxmlformats.org/drawingml/2006/main">
            <a:off x="4953000" y="5314950"/>
            <a:ext cx="1809750" cy="323850"/>
          </a:xfrm>
          <a:prstGeom xmlns:a="http://schemas.openxmlformats.org/drawingml/2006/main" prst="roundRect">
            <a:avLst>
              <a:gd name="adj" fmla="val 500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claims</a:t>
            </a:r>
          </a:p>
        </p:txBody>
      </p:sp>
      <p:sp>
        <p:nvSpPr>
          <p:cNvPr id="13" name="">
            <a:extLst xmlns:a="http://schemas.openxmlformats.org/drawingml/2006/main">
              <a:ext uri="{FF2B5EF4-FFF2-40B4-BE49-F238E27FC236}">
                <a16:creationId xmlns:a16="http://schemas.microsoft.com/office/drawing/2014/main" id="{DAF9BD06-C55B-44AD-AA68-8D1F0308CCA8}"/>
              </a:ext>
            </a:extLst>
          </p:cNvPr>
          <p:cNvSpPr>
            <a:spLocks xmlns:a="http://schemas.openxmlformats.org/drawingml/2006/main" noGrp="1"/>
          </p:cNvSpPr>
          <p:nvPr/>
        </p:nvSpPr>
        <p:spPr>
          <a:xfrm xmlns:a="http://schemas.openxmlformats.org/drawingml/2006/main">
            <a:off x="8858250" y="4476750"/>
            <a:ext cx="1809750" cy="323850"/>
          </a:xfrm>
          <a:prstGeom xmlns:a="http://schemas.openxmlformats.org/drawingml/2006/main" prst="roundRect">
            <a:avLst>
              <a:gd name="adj" fmla="val 500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staleness</a:t>
            </a:r>
          </a:p>
        </p:txBody>
      </p:sp>
      <p:sp>
        <p:nvSpPr>
          <p:cNvPr id="14" name="">
            <a:extLst xmlns:a="http://schemas.openxmlformats.org/drawingml/2006/main">
              <a:ext uri="{FF2B5EF4-FFF2-40B4-BE49-F238E27FC236}">
                <a16:creationId xmlns:a16="http://schemas.microsoft.com/office/drawing/2014/main" id="{1200B023-9AA4-46E9-986C-6FD30612DB9E}"/>
              </a:ext>
            </a:extLst>
          </p:cNvPr>
          <p:cNvSpPr>
            <a:spLocks xmlns:a="http://schemas.openxmlformats.org/drawingml/2006/main" noGrp="1"/>
          </p:cNvSpPr>
          <p:nvPr/>
        </p:nvSpPr>
        <p:spPr>
          <a:xfrm xmlns:a="http://schemas.openxmlformats.org/drawingml/2006/main">
            <a:off x="8858250" y="2247900"/>
            <a:ext cx="1809750" cy="323850"/>
          </a:xfrm>
          <a:prstGeom xmlns:a="http://schemas.openxmlformats.org/drawingml/2006/main" prst="roundRect">
            <a:avLst>
              <a:gd name="adj" fmla="val 50000"/>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8EA"/>
                </a:solidFill>
                <a:latin typeface="Aptos"/>
                <a:ea typeface="Aptos"/>
                <a:cs typeface="Aptos"/>
              </a:defRPr>
            </a:pPr>
            <a:r>
              <a:rPr sz="1050" b="1">
                <a:solidFill>
                  <a:srgbClr val="FFF8EA"/>
                </a:solidFill>
                <a:latin typeface="Aptos"/>
                <a:ea typeface="Aptos"/>
                <a:cs typeface="Aptos"/>
              </a:rPr>
              <a:t>capabilities</a:t>
            </a:r>
          </a:p>
        </p:txBody>
      </p:sp>
      <p:sp>
        <p:nvSpPr>
          <p:cNvPr id="15" name="">
            <a:extLst xmlns:a="http://schemas.openxmlformats.org/drawingml/2006/main">
              <a:ext uri="{FF2B5EF4-FFF2-40B4-BE49-F238E27FC236}">
                <a16:creationId xmlns:a16="http://schemas.microsoft.com/office/drawing/2014/main" id="{0F7EB30A-B8FE-4CA7-B0D9-21886ECB523D}"/>
              </a:ext>
            </a:extLst>
          </p:cNvPr>
          <p:cNvSpPr>
            <a:spLocks xmlns:a="http://schemas.openxmlformats.org/drawingml/2006/main" noGrp="1"/>
          </p:cNvSpPr>
          <p:nvPr/>
        </p:nvSpPr>
        <p:spPr>
          <a:xfrm xmlns:a="http://schemas.openxmlformats.org/drawingml/2006/main">
            <a:off x="4638675" y="2324100"/>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D96C5F"/>
                </a:solidFill>
                <a:latin typeface="Aptos"/>
                <a:ea typeface="Aptos"/>
                <a:cs typeface="Aptos"/>
              </a:defRPr>
            </a:pPr>
            <a:r>
              <a:rPr sz="1125" b="1">
                <a:solidFill>
                  <a:srgbClr val="D96C5F"/>
                </a:solidFill>
                <a:latin typeface="Aptos"/>
                <a:ea typeface="Aptos"/>
                <a:cs typeface="Aptos"/>
              </a:rPr>
              <a:t>Deterministic code</a:t>
            </a:r>
          </a:p>
        </p:txBody>
      </p:sp>
      <p:sp>
        <p:nvSpPr>
          <p:cNvPr id="16" name="">
            <a:extLst xmlns:a="http://schemas.openxmlformats.org/drawingml/2006/main">
              <a:ext uri="{FF2B5EF4-FFF2-40B4-BE49-F238E27FC236}">
                <a16:creationId xmlns:a16="http://schemas.microsoft.com/office/drawing/2014/main" id="{542668F7-074D-4540-9088-FD34528DA0F5}"/>
              </a:ext>
            </a:extLst>
          </p:cNvPr>
          <p:cNvSpPr>
            <a:spLocks xmlns:a="http://schemas.openxmlformats.org/drawingml/2006/main" noGrp="1"/>
          </p:cNvSpPr>
          <p:nvPr/>
        </p:nvSpPr>
        <p:spPr>
          <a:xfrm xmlns:a="http://schemas.openxmlformats.org/drawingml/2006/main">
            <a:off x="1428750" y="5848350"/>
            <a:ext cx="9334500" cy="304800"/>
          </a:xfrm>
          <a:prstGeom xmlns:a="http://schemas.openxmlformats.org/drawingml/2006/main" prst="roundRect">
            <a:avLst>
              <a:gd name="adj" fmla="val 50000"/>
            </a:avLst>
          </a:prstGeom>
          <a:solidFill xmlns:a="http://schemas.openxmlformats.org/drawingml/2006/main">
            <a:srgbClr val="E8F3F6"/>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102A43"/>
                </a:solidFill>
                <a:latin typeface="Aptos"/>
                <a:ea typeface="Aptos"/>
                <a:cs typeface="Aptos"/>
              </a:defRPr>
            </a:pPr>
            <a:r>
              <a:rPr sz="1200" b="1">
                <a:solidFill>
                  <a:srgbClr val="102A43"/>
                </a:solidFill>
                <a:latin typeface="Aptos"/>
                <a:ea typeface="Aptos"/>
                <a:cs typeface="Aptos"/>
              </a:rPr>
              <a:t>Why: models can be wrong. They propose; deterministic code verifies consent, facts and permissions before speech or action.</a:t>
            </a:r>
          </a:p>
        </p:txBody>
      </p:sp>
      <p:sp>
        <p:nvSpPr>
          <p:cNvPr id="17" name="">
            <a:extLst xmlns:a="http://schemas.openxmlformats.org/drawingml/2006/main">
              <a:ext uri="{FF2B5EF4-FFF2-40B4-BE49-F238E27FC236}">
                <a16:creationId xmlns:a16="http://schemas.microsoft.com/office/drawing/2014/main" id="{6AC59670-592F-4A9B-A53C-D2046C0742AB}"/>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policy and action adapters</a:t>
            </a:r>
          </a:p>
        </p:txBody>
      </p:sp>
    </p:spTree>
    <p:extLst>
      <p:ext uri="{BB962C8B-B14F-4D97-AF65-F5344CB8AC3E}">
        <p14:creationId xmlns:p14="http://schemas.microsoft.com/office/powerpoint/2010/main" val="47615243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21332ccfe54492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7CA576-13E7-4A02-B60E-1CFF33E90111}"/>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BA67ADE9-FAC9-4278-989C-77232107E5AA}"/>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20</a:t>
            </a:r>
          </a:p>
        </p:txBody>
      </p:sp>
      <p:sp>
        <p:nvSpPr>
          <p:cNvPr id="4" name="">
            <a:extLst xmlns:a="http://schemas.openxmlformats.org/drawingml/2006/main">
              <a:ext uri="{FF2B5EF4-FFF2-40B4-BE49-F238E27FC236}">
                <a16:creationId xmlns:a16="http://schemas.microsoft.com/office/drawing/2014/main" id="{32A6BE9B-52C4-4868-8CAD-436ED3A2AC4D}"/>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B33B2064-1661-4383-98B5-F5E173DF35BB}"/>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If you cannot replay it, you cannot improve it</a:t>
            </a:r>
          </a:p>
        </p:txBody>
      </p:sp>
      <p:sp>
        <p:nvSpPr>
          <p:cNvPr id="6" name="">
            <a:extLst xmlns:a="http://schemas.openxmlformats.org/drawingml/2006/main">
              <a:ext uri="{FF2B5EF4-FFF2-40B4-BE49-F238E27FC236}">
                <a16:creationId xmlns:a16="http://schemas.microsoft.com/office/drawing/2014/main" id="{DF055FBB-A32E-4CB5-AB1C-68F0AF49E05E}"/>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BEA504A6-75D0-4F17-B073-5F3D90215600}"/>
              </a:ext>
            </a:extLst>
          </p:cNvPr>
          <p:cNvSpPr>
            <a:spLocks xmlns:a="http://schemas.openxmlformats.org/drawingml/2006/main" noGrp="1"/>
          </p:cNvSpPr>
          <p:nvPr/>
        </p:nvSpPr>
        <p:spPr>
          <a:xfrm xmlns:a="http://schemas.openxmlformats.org/drawingml/2006/main">
            <a:off x="5048250" y="2686050"/>
            <a:ext cx="2095500" cy="1428750"/>
          </a:xfrm>
          <a:prstGeom xmlns:a="http://schemas.openxmlformats.org/drawingml/2006/main" prst="ellipse">
            <a:avLst/>
          </a:prstGeom>
          <a:solidFill xmlns:a="http://schemas.openxmlformats.org/drawingml/2006/main">
            <a:srgbClr val="D96C5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92C549-3E84-4E89-9C72-A868B4E6C59A}"/>
              </a:ext>
            </a:extLst>
          </p:cNvPr>
          <p:cNvSpPr>
            <a:spLocks xmlns:a="http://schemas.openxmlformats.org/drawingml/2006/main" noGrp="1"/>
          </p:cNvSpPr>
          <p:nvPr/>
        </p:nvSpPr>
        <p:spPr>
          <a:xfrm xmlns:a="http://schemas.openxmlformats.org/drawingml/2006/main">
            <a:off x="5314950" y="3000375"/>
            <a:ext cx="1562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FFF8EA"/>
                </a:solidFill>
                <a:latin typeface="Aptos Mono"/>
                <a:ea typeface="Aptos Mono"/>
                <a:cs typeface="Aptos Mono"/>
              </a:defRPr>
            </a:pPr>
            <a:r>
              <a:rPr sz="1875" b="1">
                <a:solidFill>
                  <a:srgbClr val="FFF8EA"/>
                </a:solidFill>
                <a:latin typeface="Aptos Mono"/>
                <a:ea typeface="Aptos Mono"/>
                <a:cs typeface="Aptos Mono"/>
              </a:rPr>
              <a:t>TRACE ID</a:t>
            </a:r>
          </a:p>
        </p:txBody>
      </p:sp>
      <p:sp>
        <p:nvSpPr>
          <p:cNvPr id="9" name="">
            <a:extLst xmlns:a="http://schemas.openxmlformats.org/drawingml/2006/main">
              <a:ext uri="{FF2B5EF4-FFF2-40B4-BE49-F238E27FC236}">
                <a16:creationId xmlns:a16="http://schemas.microsoft.com/office/drawing/2014/main" id="{39FFD7A9-794A-496B-AF18-DB17D5AED571}"/>
              </a:ext>
            </a:extLst>
          </p:cNvPr>
          <p:cNvSpPr>
            <a:spLocks xmlns:a="http://schemas.openxmlformats.org/drawingml/2006/main" noGrp="1"/>
          </p:cNvSpPr>
          <p:nvPr/>
        </p:nvSpPr>
        <p:spPr>
          <a:xfrm xmlns:a="http://schemas.openxmlformats.org/drawingml/2006/main">
            <a:off x="876300" y="2095500"/>
            <a:ext cx="2857500" cy="1123950"/>
          </a:xfrm>
          <a:prstGeom xmlns:a="http://schemas.openxmlformats.org/drawingml/2006/main" prst="roundRect">
            <a:avLst>
              <a:gd name="adj" fmla="val 15254"/>
            </a:avLst>
          </a:prstGeom>
          <a:solidFill xmlns:a="http://schemas.openxmlformats.org/drawingml/2006/main">
            <a:srgbClr val="FFF8EA"/>
          </a:solidFill>
          <a:ln xmlns:a="http://schemas.openxmlformats.org/drawingml/2006/main" w="9525">
            <a:solidFill>
              <a:srgbClr val="8EBBD0"/>
            </a:solidFill>
            <a:prstDash val="solid"/>
          </a:ln>
        </p:spPr>
      </p:sp>
      <p:sp>
        <p:nvSpPr>
          <p:cNvPr id="10" name="">
            <a:extLst xmlns:a="http://schemas.openxmlformats.org/drawingml/2006/main">
              <a:ext uri="{FF2B5EF4-FFF2-40B4-BE49-F238E27FC236}">
                <a16:creationId xmlns:a16="http://schemas.microsoft.com/office/drawing/2014/main" id="{2FD9D95B-B197-41B7-88DB-BBC556C39187}"/>
              </a:ext>
            </a:extLst>
          </p:cNvPr>
          <p:cNvSpPr>
            <a:spLocks xmlns:a="http://schemas.openxmlformats.org/drawingml/2006/main" noGrp="1"/>
          </p:cNvSpPr>
          <p:nvPr/>
        </p:nvSpPr>
        <p:spPr>
          <a:xfrm xmlns:a="http://schemas.openxmlformats.org/drawingml/2006/main">
            <a:off x="876300" y="2095500"/>
            <a:ext cx="66675" cy="1123950"/>
          </a:xfrm>
          <a:prstGeom xmlns:a="http://schemas.openxmlformats.org/drawingml/2006/main" prst="roundRect">
            <a:avLst>
              <a:gd name="adj" fmla="val 42857"/>
            </a:avLst>
          </a:prstGeom>
          <a:solidFill xmlns:a="http://schemas.openxmlformats.org/drawingml/2006/main">
            <a:srgbClr val="268C82"/>
          </a:solidFill>
          <a:ln xmlns:a="http://schemas.openxmlformats.org/drawingml/2006/main" w="0">
            <a:solidFill>
              <a:srgbClr val="268C82"/>
            </a:solidFill>
            <a:prstDash val="solid"/>
          </a:ln>
        </p:spPr>
      </p:sp>
      <p:sp>
        <p:nvSpPr>
          <p:cNvPr id="11" name="">
            <a:extLst xmlns:a="http://schemas.openxmlformats.org/drawingml/2006/main">
              <a:ext uri="{FF2B5EF4-FFF2-40B4-BE49-F238E27FC236}">
                <a16:creationId xmlns:a16="http://schemas.microsoft.com/office/drawing/2014/main" id="{DA1D00A2-3FCF-48BD-AE3A-889A1E4D58B1}"/>
              </a:ext>
            </a:extLst>
          </p:cNvPr>
          <p:cNvSpPr>
            <a:spLocks xmlns:a="http://schemas.openxmlformats.org/drawingml/2006/main" noGrp="1"/>
          </p:cNvSpPr>
          <p:nvPr/>
        </p:nvSpPr>
        <p:spPr>
          <a:xfrm xmlns:a="http://schemas.openxmlformats.org/drawingml/2006/main">
            <a:off x="1104900" y="223837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68C82"/>
                </a:solidFill>
                <a:latin typeface="Aptos"/>
                <a:ea typeface="Aptos"/>
                <a:cs typeface="Aptos"/>
              </a:defRPr>
            </a:pPr>
            <a:r>
              <a:rPr sz="1050" b="1">
                <a:solidFill>
                  <a:srgbClr val="268C82"/>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094E051F-B834-471A-87ED-99DDD765BA29}"/>
              </a:ext>
            </a:extLst>
          </p:cNvPr>
          <p:cNvSpPr>
            <a:spLocks xmlns:a="http://schemas.openxmlformats.org/drawingml/2006/main" noGrp="1"/>
          </p:cNvSpPr>
          <p:nvPr/>
        </p:nvSpPr>
        <p:spPr>
          <a:xfrm xmlns:a="http://schemas.openxmlformats.org/drawingml/2006/main">
            <a:off x="1104900" y="2552700"/>
            <a:ext cx="2457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Langfuse</a:t>
            </a:r>
          </a:p>
        </p:txBody>
      </p:sp>
      <p:sp>
        <p:nvSpPr>
          <p:cNvPr id="13" name="">
            <a:extLst xmlns:a="http://schemas.openxmlformats.org/drawingml/2006/main">
              <a:ext uri="{FF2B5EF4-FFF2-40B4-BE49-F238E27FC236}">
                <a16:creationId xmlns:a16="http://schemas.microsoft.com/office/drawing/2014/main" id="{2F3C1EE4-E975-4E7C-B7B4-432B0FFBE4DC}"/>
              </a:ext>
            </a:extLst>
          </p:cNvPr>
          <p:cNvSpPr>
            <a:spLocks xmlns:a="http://schemas.openxmlformats.org/drawingml/2006/main" noGrp="1"/>
          </p:cNvSpPr>
          <p:nvPr/>
        </p:nvSpPr>
        <p:spPr>
          <a:xfrm xmlns:a="http://schemas.openxmlformats.org/drawingml/2006/main">
            <a:off x="7715250" y="2095500"/>
            <a:ext cx="2857500" cy="1123950"/>
          </a:xfrm>
          <a:prstGeom xmlns:a="http://schemas.openxmlformats.org/drawingml/2006/main" prst="roundRect">
            <a:avLst>
              <a:gd name="adj" fmla="val 15254"/>
            </a:avLst>
          </a:prstGeom>
          <a:solidFill xmlns:a="http://schemas.openxmlformats.org/drawingml/2006/main">
            <a:srgbClr val="FFF8EA"/>
          </a:solidFill>
          <a:ln xmlns:a="http://schemas.openxmlformats.org/drawingml/2006/main" w="9525">
            <a:solidFill>
              <a:srgbClr val="8EBBD0"/>
            </a:solidFill>
            <a:prstDash val="solid"/>
          </a:ln>
        </p:spPr>
      </p:sp>
      <p:sp>
        <p:nvSpPr>
          <p:cNvPr id="14" name="">
            <a:extLst xmlns:a="http://schemas.openxmlformats.org/drawingml/2006/main">
              <a:ext uri="{FF2B5EF4-FFF2-40B4-BE49-F238E27FC236}">
                <a16:creationId xmlns:a16="http://schemas.microsoft.com/office/drawing/2014/main" id="{35450F8D-9764-4565-A39B-AA11D8FBD036}"/>
              </a:ext>
            </a:extLst>
          </p:cNvPr>
          <p:cNvSpPr>
            <a:spLocks xmlns:a="http://schemas.openxmlformats.org/drawingml/2006/main" noGrp="1"/>
          </p:cNvSpPr>
          <p:nvPr/>
        </p:nvSpPr>
        <p:spPr>
          <a:xfrm xmlns:a="http://schemas.openxmlformats.org/drawingml/2006/main">
            <a:off x="7715250" y="2095500"/>
            <a:ext cx="66675" cy="11239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15" name="">
            <a:extLst xmlns:a="http://schemas.openxmlformats.org/drawingml/2006/main">
              <a:ext uri="{FF2B5EF4-FFF2-40B4-BE49-F238E27FC236}">
                <a16:creationId xmlns:a16="http://schemas.microsoft.com/office/drawing/2014/main" id="{0D0A566E-B426-4BA0-8F7F-A8D3540B9A01}"/>
              </a:ext>
            </a:extLst>
          </p:cNvPr>
          <p:cNvSpPr>
            <a:spLocks xmlns:a="http://schemas.openxmlformats.org/drawingml/2006/main" noGrp="1"/>
          </p:cNvSpPr>
          <p:nvPr/>
        </p:nvSpPr>
        <p:spPr>
          <a:xfrm xmlns:a="http://schemas.openxmlformats.org/drawingml/2006/main">
            <a:off x="7943850" y="223837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02</a:t>
            </a:r>
          </a:p>
        </p:txBody>
      </p:sp>
      <p:sp>
        <p:nvSpPr>
          <p:cNvPr id="16" name="">
            <a:extLst xmlns:a="http://schemas.openxmlformats.org/drawingml/2006/main">
              <a:ext uri="{FF2B5EF4-FFF2-40B4-BE49-F238E27FC236}">
                <a16:creationId xmlns:a16="http://schemas.microsoft.com/office/drawing/2014/main" id="{5BE2AD15-7C3D-4D9E-ACC2-CACCF20B3290}"/>
              </a:ext>
            </a:extLst>
          </p:cNvPr>
          <p:cNvSpPr>
            <a:spLocks xmlns:a="http://schemas.openxmlformats.org/drawingml/2006/main" noGrp="1"/>
          </p:cNvSpPr>
          <p:nvPr/>
        </p:nvSpPr>
        <p:spPr>
          <a:xfrm xmlns:a="http://schemas.openxmlformats.org/drawingml/2006/main">
            <a:off x="7943850" y="2552700"/>
            <a:ext cx="2457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Prometheus + Grafana</a:t>
            </a:r>
          </a:p>
        </p:txBody>
      </p:sp>
      <p:sp>
        <p:nvSpPr>
          <p:cNvPr id="17" name="">
            <a:extLst xmlns:a="http://schemas.openxmlformats.org/drawingml/2006/main">
              <a:ext uri="{FF2B5EF4-FFF2-40B4-BE49-F238E27FC236}">
                <a16:creationId xmlns:a16="http://schemas.microsoft.com/office/drawing/2014/main" id="{F66060AF-7AB7-4A0C-9FF6-EEE6070819B9}"/>
              </a:ext>
            </a:extLst>
          </p:cNvPr>
          <p:cNvSpPr>
            <a:spLocks xmlns:a="http://schemas.openxmlformats.org/drawingml/2006/main" noGrp="1"/>
          </p:cNvSpPr>
          <p:nvPr/>
        </p:nvSpPr>
        <p:spPr>
          <a:xfrm xmlns:a="http://schemas.openxmlformats.org/drawingml/2006/main">
            <a:off x="876300" y="4476750"/>
            <a:ext cx="2857500" cy="1123950"/>
          </a:xfrm>
          <a:prstGeom xmlns:a="http://schemas.openxmlformats.org/drawingml/2006/main" prst="roundRect">
            <a:avLst>
              <a:gd name="adj" fmla="val 15254"/>
            </a:avLst>
          </a:prstGeom>
          <a:solidFill xmlns:a="http://schemas.openxmlformats.org/drawingml/2006/main">
            <a:srgbClr val="FFF8EA"/>
          </a:solidFill>
          <a:ln xmlns:a="http://schemas.openxmlformats.org/drawingml/2006/main" w="9525">
            <a:solidFill>
              <a:srgbClr val="8EBBD0"/>
            </a:solidFill>
            <a:prstDash val="solid"/>
          </a:ln>
        </p:spPr>
      </p:sp>
      <p:sp>
        <p:nvSpPr>
          <p:cNvPr id="18" name="">
            <a:extLst xmlns:a="http://schemas.openxmlformats.org/drawingml/2006/main">
              <a:ext uri="{FF2B5EF4-FFF2-40B4-BE49-F238E27FC236}">
                <a16:creationId xmlns:a16="http://schemas.microsoft.com/office/drawing/2014/main" id="{9629FA2C-5736-49D5-BAD3-4CF2B85936BE}"/>
              </a:ext>
            </a:extLst>
          </p:cNvPr>
          <p:cNvSpPr>
            <a:spLocks xmlns:a="http://schemas.openxmlformats.org/drawingml/2006/main" noGrp="1"/>
          </p:cNvSpPr>
          <p:nvPr/>
        </p:nvSpPr>
        <p:spPr>
          <a:xfrm xmlns:a="http://schemas.openxmlformats.org/drawingml/2006/main">
            <a:off x="876300" y="4476750"/>
            <a:ext cx="66675" cy="11239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19" name="">
            <a:extLst xmlns:a="http://schemas.openxmlformats.org/drawingml/2006/main">
              <a:ext uri="{FF2B5EF4-FFF2-40B4-BE49-F238E27FC236}">
                <a16:creationId xmlns:a16="http://schemas.microsoft.com/office/drawing/2014/main" id="{221E1A9B-CF7D-41BF-9FD1-E87EEE63F1DB}"/>
              </a:ext>
            </a:extLst>
          </p:cNvPr>
          <p:cNvSpPr>
            <a:spLocks xmlns:a="http://schemas.openxmlformats.org/drawingml/2006/main" noGrp="1"/>
          </p:cNvSpPr>
          <p:nvPr/>
        </p:nvSpPr>
        <p:spPr>
          <a:xfrm xmlns:a="http://schemas.openxmlformats.org/drawingml/2006/main">
            <a:off x="1104900" y="46196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C8401842-83EE-42C2-BCC8-D03ECEA992F9}"/>
              </a:ext>
            </a:extLst>
          </p:cNvPr>
          <p:cNvSpPr>
            <a:spLocks xmlns:a="http://schemas.openxmlformats.org/drawingml/2006/main" noGrp="1"/>
          </p:cNvSpPr>
          <p:nvPr/>
        </p:nvSpPr>
        <p:spPr>
          <a:xfrm xmlns:a="http://schemas.openxmlformats.org/drawingml/2006/main">
            <a:off x="1104900" y="4933950"/>
            <a:ext cx="2457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Postgres</a:t>
            </a:r>
          </a:p>
        </p:txBody>
      </p:sp>
      <p:sp>
        <p:nvSpPr>
          <p:cNvPr id="21" name="">
            <a:extLst xmlns:a="http://schemas.openxmlformats.org/drawingml/2006/main">
              <a:ext uri="{FF2B5EF4-FFF2-40B4-BE49-F238E27FC236}">
                <a16:creationId xmlns:a16="http://schemas.microsoft.com/office/drawing/2014/main" id="{DCFD876E-758F-4D76-ADD2-5620EE5647FA}"/>
              </a:ext>
            </a:extLst>
          </p:cNvPr>
          <p:cNvSpPr>
            <a:spLocks xmlns:a="http://schemas.openxmlformats.org/drawingml/2006/main" noGrp="1"/>
          </p:cNvSpPr>
          <p:nvPr/>
        </p:nvSpPr>
        <p:spPr>
          <a:xfrm xmlns:a="http://schemas.openxmlformats.org/drawingml/2006/main">
            <a:off x="7715250" y="4476750"/>
            <a:ext cx="2857500" cy="1123950"/>
          </a:xfrm>
          <a:prstGeom xmlns:a="http://schemas.openxmlformats.org/drawingml/2006/main" prst="roundRect">
            <a:avLst>
              <a:gd name="adj" fmla="val 15254"/>
            </a:avLst>
          </a:prstGeom>
          <a:solidFill xmlns:a="http://schemas.openxmlformats.org/drawingml/2006/main">
            <a:srgbClr val="FFF8EA"/>
          </a:solidFill>
          <a:ln xmlns:a="http://schemas.openxmlformats.org/drawingml/2006/main" w="9525">
            <a:solidFill>
              <a:srgbClr val="8EBBD0"/>
            </a:solidFill>
            <a:prstDash val="solid"/>
          </a:ln>
        </p:spPr>
      </p:sp>
      <p:sp>
        <p:nvSpPr>
          <p:cNvPr id="22" name="">
            <a:extLst xmlns:a="http://schemas.openxmlformats.org/drawingml/2006/main">
              <a:ext uri="{FF2B5EF4-FFF2-40B4-BE49-F238E27FC236}">
                <a16:creationId xmlns:a16="http://schemas.microsoft.com/office/drawing/2014/main" id="{4A95FFF6-D923-4C27-ABED-D5B0C1C4AD1B}"/>
              </a:ext>
            </a:extLst>
          </p:cNvPr>
          <p:cNvSpPr>
            <a:spLocks xmlns:a="http://schemas.openxmlformats.org/drawingml/2006/main" noGrp="1"/>
          </p:cNvSpPr>
          <p:nvPr/>
        </p:nvSpPr>
        <p:spPr>
          <a:xfrm xmlns:a="http://schemas.openxmlformats.org/drawingml/2006/main">
            <a:off x="7715250" y="4476750"/>
            <a:ext cx="66675" cy="11239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23" name="">
            <a:extLst xmlns:a="http://schemas.openxmlformats.org/drawingml/2006/main">
              <a:ext uri="{FF2B5EF4-FFF2-40B4-BE49-F238E27FC236}">
                <a16:creationId xmlns:a16="http://schemas.microsoft.com/office/drawing/2014/main" id="{6AF97F58-3BEC-445B-9B80-1E3C056C05ED}"/>
              </a:ext>
            </a:extLst>
          </p:cNvPr>
          <p:cNvSpPr>
            <a:spLocks xmlns:a="http://schemas.openxmlformats.org/drawingml/2006/main" noGrp="1"/>
          </p:cNvSpPr>
          <p:nvPr/>
        </p:nvSpPr>
        <p:spPr>
          <a:xfrm xmlns:a="http://schemas.openxmlformats.org/drawingml/2006/main">
            <a:off x="7943850" y="46196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44592DEE-E519-4F47-AA32-26B058F48924}"/>
              </a:ext>
            </a:extLst>
          </p:cNvPr>
          <p:cNvSpPr>
            <a:spLocks xmlns:a="http://schemas.openxmlformats.org/drawingml/2006/main" noGrp="1"/>
          </p:cNvSpPr>
          <p:nvPr/>
        </p:nvSpPr>
        <p:spPr>
          <a:xfrm xmlns:a="http://schemas.openxmlformats.org/drawingml/2006/main">
            <a:off x="7943850" y="4933950"/>
            <a:ext cx="2457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JSONL / Loki</a:t>
            </a:r>
          </a:p>
        </p:txBody>
      </p:sp>
      <p:sp>
        <p:nvSpPr>
          <p:cNvPr id="25" name="">
            <a:extLst xmlns:a="http://schemas.openxmlformats.org/drawingml/2006/main">
              <a:ext uri="{FF2B5EF4-FFF2-40B4-BE49-F238E27FC236}">
                <a16:creationId xmlns:a16="http://schemas.microsoft.com/office/drawing/2014/main" id="{0850C16A-203C-49B8-B742-2D3840140049}"/>
              </a:ext>
            </a:extLst>
          </p:cNvPr>
          <p:cNvSpPr>
            <a:spLocks xmlns:a="http://schemas.openxmlformats.org/drawingml/2006/main" noGrp="1"/>
          </p:cNvSpPr>
          <p:nvPr/>
        </p:nvSpPr>
        <p:spPr>
          <a:xfrm xmlns:a="http://schemas.openxmlformats.org/drawingml/2006/main">
            <a:off x="3733800" y="2657475"/>
            <a:ext cx="88582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26" name="">
            <a:extLst xmlns:a="http://schemas.openxmlformats.org/drawingml/2006/main">
              <a:ext uri="{FF2B5EF4-FFF2-40B4-BE49-F238E27FC236}">
                <a16:creationId xmlns:a16="http://schemas.microsoft.com/office/drawing/2014/main" id="{450877FB-DF32-48D7-BE79-AD2825B80437}"/>
              </a:ext>
            </a:extLst>
          </p:cNvPr>
          <p:cNvSpPr>
            <a:spLocks xmlns:a="http://schemas.openxmlformats.org/drawingml/2006/main" noGrp="1"/>
          </p:cNvSpPr>
          <p:nvPr/>
        </p:nvSpPr>
        <p:spPr>
          <a:xfrm xmlns:a="http://schemas.openxmlformats.org/drawingml/2006/main">
            <a:off x="4619625" y="2657475"/>
            <a:ext cx="0" cy="74295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27" name="">
            <a:extLst xmlns:a="http://schemas.openxmlformats.org/drawingml/2006/main">
              <a:ext uri="{FF2B5EF4-FFF2-40B4-BE49-F238E27FC236}">
                <a16:creationId xmlns:a16="http://schemas.microsoft.com/office/drawing/2014/main" id="{631A445A-B299-4A20-BBE6-ED953281D3ED}"/>
              </a:ext>
            </a:extLst>
          </p:cNvPr>
          <p:cNvSpPr>
            <a:spLocks xmlns:a="http://schemas.openxmlformats.org/drawingml/2006/main" noGrp="1"/>
          </p:cNvSpPr>
          <p:nvPr/>
        </p:nvSpPr>
        <p:spPr>
          <a:xfrm xmlns:a="http://schemas.openxmlformats.org/drawingml/2006/main">
            <a:off x="4619625" y="3400425"/>
            <a:ext cx="42862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28" name="">
            <a:extLst xmlns:a="http://schemas.openxmlformats.org/drawingml/2006/main">
              <a:ext uri="{FF2B5EF4-FFF2-40B4-BE49-F238E27FC236}">
                <a16:creationId xmlns:a16="http://schemas.microsoft.com/office/drawing/2014/main" id="{129A9496-29D2-421E-B290-7DB48BBE890F}"/>
              </a:ext>
            </a:extLst>
          </p:cNvPr>
          <p:cNvSpPr>
            <a:spLocks xmlns:a="http://schemas.openxmlformats.org/drawingml/2006/main" noGrp="1"/>
          </p:cNvSpPr>
          <p:nvPr/>
        </p:nvSpPr>
        <p:spPr>
          <a:xfrm xmlns:a="http://schemas.openxmlformats.org/drawingml/2006/main">
            <a:off x="7572375" y="2657475"/>
            <a:ext cx="14287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29" name="">
            <a:extLst xmlns:a="http://schemas.openxmlformats.org/drawingml/2006/main">
              <a:ext uri="{FF2B5EF4-FFF2-40B4-BE49-F238E27FC236}">
                <a16:creationId xmlns:a16="http://schemas.microsoft.com/office/drawing/2014/main" id="{0CB6055C-6DC9-4527-AD4C-C5DDE958625C}"/>
              </a:ext>
            </a:extLst>
          </p:cNvPr>
          <p:cNvSpPr>
            <a:spLocks xmlns:a="http://schemas.openxmlformats.org/drawingml/2006/main" noGrp="1"/>
          </p:cNvSpPr>
          <p:nvPr/>
        </p:nvSpPr>
        <p:spPr>
          <a:xfrm xmlns:a="http://schemas.openxmlformats.org/drawingml/2006/main">
            <a:off x="7572375" y="2657475"/>
            <a:ext cx="0" cy="74295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0" name="">
            <a:extLst xmlns:a="http://schemas.openxmlformats.org/drawingml/2006/main">
              <a:ext uri="{FF2B5EF4-FFF2-40B4-BE49-F238E27FC236}">
                <a16:creationId xmlns:a16="http://schemas.microsoft.com/office/drawing/2014/main" id="{811444D2-37AC-49A8-BA6B-4C61FD10C01A}"/>
              </a:ext>
            </a:extLst>
          </p:cNvPr>
          <p:cNvSpPr>
            <a:spLocks xmlns:a="http://schemas.openxmlformats.org/drawingml/2006/main" noGrp="1"/>
          </p:cNvSpPr>
          <p:nvPr/>
        </p:nvSpPr>
        <p:spPr>
          <a:xfrm xmlns:a="http://schemas.openxmlformats.org/drawingml/2006/main">
            <a:off x="7143750" y="3400425"/>
            <a:ext cx="42862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1" name="">
            <a:extLst xmlns:a="http://schemas.openxmlformats.org/drawingml/2006/main">
              <a:ext uri="{FF2B5EF4-FFF2-40B4-BE49-F238E27FC236}">
                <a16:creationId xmlns:a16="http://schemas.microsoft.com/office/drawing/2014/main" id="{96E20B6B-729E-4EAA-9D09-DA9DBD754158}"/>
              </a:ext>
            </a:extLst>
          </p:cNvPr>
          <p:cNvSpPr>
            <a:spLocks xmlns:a="http://schemas.openxmlformats.org/drawingml/2006/main" noGrp="1"/>
          </p:cNvSpPr>
          <p:nvPr/>
        </p:nvSpPr>
        <p:spPr>
          <a:xfrm xmlns:a="http://schemas.openxmlformats.org/drawingml/2006/main">
            <a:off x="3733800" y="5038725"/>
            <a:ext cx="88582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2" name="">
            <a:extLst xmlns:a="http://schemas.openxmlformats.org/drawingml/2006/main">
              <a:ext uri="{FF2B5EF4-FFF2-40B4-BE49-F238E27FC236}">
                <a16:creationId xmlns:a16="http://schemas.microsoft.com/office/drawing/2014/main" id="{E3395BF6-AAF8-47FE-AAB6-C809CCA50901}"/>
              </a:ext>
            </a:extLst>
          </p:cNvPr>
          <p:cNvSpPr>
            <a:spLocks xmlns:a="http://schemas.openxmlformats.org/drawingml/2006/main" noGrp="1"/>
          </p:cNvSpPr>
          <p:nvPr/>
        </p:nvSpPr>
        <p:spPr>
          <a:xfrm xmlns:a="http://schemas.openxmlformats.org/drawingml/2006/main">
            <a:off x="4619625" y="3400425"/>
            <a:ext cx="0" cy="16383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3" name="">
            <a:extLst xmlns:a="http://schemas.openxmlformats.org/drawingml/2006/main">
              <a:ext uri="{FF2B5EF4-FFF2-40B4-BE49-F238E27FC236}">
                <a16:creationId xmlns:a16="http://schemas.microsoft.com/office/drawing/2014/main" id="{7ACC8B82-BC2E-4C78-B3D0-47EEA2DCEF7D}"/>
              </a:ext>
            </a:extLst>
          </p:cNvPr>
          <p:cNvSpPr>
            <a:spLocks xmlns:a="http://schemas.openxmlformats.org/drawingml/2006/main" noGrp="1"/>
          </p:cNvSpPr>
          <p:nvPr/>
        </p:nvSpPr>
        <p:spPr>
          <a:xfrm xmlns:a="http://schemas.openxmlformats.org/drawingml/2006/main">
            <a:off x="7572375" y="5038725"/>
            <a:ext cx="14287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4" name="">
            <a:extLst xmlns:a="http://schemas.openxmlformats.org/drawingml/2006/main">
              <a:ext uri="{FF2B5EF4-FFF2-40B4-BE49-F238E27FC236}">
                <a16:creationId xmlns:a16="http://schemas.microsoft.com/office/drawing/2014/main" id="{B1E41DAC-F2AE-4505-BA4F-A7196C038B1A}"/>
              </a:ext>
            </a:extLst>
          </p:cNvPr>
          <p:cNvSpPr>
            <a:spLocks xmlns:a="http://schemas.openxmlformats.org/drawingml/2006/main" noGrp="1"/>
          </p:cNvSpPr>
          <p:nvPr/>
        </p:nvSpPr>
        <p:spPr>
          <a:xfrm xmlns:a="http://schemas.openxmlformats.org/drawingml/2006/main">
            <a:off x="7572375" y="3400425"/>
            <a:ext cx="0" cy="16383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5" name="">
            <a:extLst xmlns:a="http://schemas.openxmlformats.org/drawingml/2006/main">
              <a:ext uri="{FF2B5EF4-FFF2-40B4-BE49-F238E27FC236}">
                <a16:creationId xmlns:a16="http://schemas.microsoft.com/office/drawing/2014/main" id="{025E9FF7-E4B5-438F-A614-579B20C1746A}"/>
              </a:ext>
            </a:extLst>
          </p:cNvPr>
          <p:cNvSpPr>
            <a:spLocks xmlns:a="http://schemas.openxmlformats.org/drawingml/2006/main" noGrp="1"/>
          </p:cNvSpPr>
          <p:nvPr/>
        </p:nvSpPr>
        <p:spPr>
          <a:xfrm xmlns:a="http://schemas.openxmlformats.org/drawingml/2006/main">
            <a:off x="3333750" y="56197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Telemetry never blocks the audio path.</a:t>
            </a:r>
          </a:p>
        </p:txBody>
      </p:sp>
      <p:sp>
        <p:nvSpPr>
          <p:cNvPr id="36" name="">
            <a:extLst xmlns:a="http://schemas.openxmlformats.org/drawingml/2006/main">
              <a:ext uri="{FF2B5EF4-FFF2-40B4-BE49-F238E27FC236}">
                <a16:creationId xmlns:a16="http://schemas.microsoft.com/office/drawing/2014/main" id="{27015CF3-5E6E-4C4D-90D7-2FA1D2D07DCF}"/>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observability stack</a:t>
            </a:r>
          </a:p>
        </p:txBody>
      </p:sp>
    </p:spTree>
    <p:extLst>
      <p:ext uri="{BB962C8B-B14F-4D97-AF65-F5344CB8AC3E}">
        <p14:creationId xmlns:p14="http://schemas.microsoft.com/office/powerpoint/2010/main" val="26593081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2b45a9dd01e42b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16B727-6F9B-4059-B3E8-04F8249C40F6}"/>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4B9A9300-EB20-4A41-8ABE-95F5C88CB05D}"/>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21</a:t>
            </a:r>
          </a:p>
        </p:txBody>
      </p:sp>
      <p:sp>
        <p:nvSpPr>
          <p:cNvPr id="4" name="">
            <a:extLst xmlns:a="http://schemas.openxmlformats.org/drawingml/2006/main">
              <a:ext uri="{FF2B5EF4-FFF2-40B4-BE49-F238E27FC236}">
                <a16:creationId xmlns:a16="http://schemas.microsoft.com/office/drawing/2014/main" id="{63FE2263-FC1D-4C61-8CE0-390032DE46AA}"/>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550870EE-F17B-46ED-AA26-07470424BEA4}"/>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Latest Aira run: fast, with one measurement bug</a:t>
            </a:r>
          </a:p>
        </p:txBody>
      </p:sp>
      <p:sp>
        <p:nvSpPr>
          <p:cNvPr id="6" name="">
            <a:extLst xmlns:a="http://schemas.openxmlformats.org/drawingml/2006/main">
              <a:ext uri="{FF2B5EF4-FFF2-40B4-BE49-F238E27FC236}">
                <a16:creationId xmlns:a16="http://schemas.microsoft.com/office/drawing/2014/main" id="{80EA5E55-5EC3-487B-A622-55B219DFE4F2}"/>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C4FF2417-666C-4A15-9E8E-5E9466303498}"/>
              </a:ext>
            </a:extLst>
          </p:cNvPr>
          <p:cNvSpPr>
            <a:spLocks xmlns:a="http://schemas.openxmlformats.org/drawingml/2006/main" noGrp="1"/>
          </p:cNvSpPr>
          <p:nvPr/>
        </p:nvSpPr>
        <p:spPr>
          <a:xfrm xmlns:a="http://schemas.openxmlformats.org/drawingml/2006/main">
            <a:off x="800100" y="2305050"/>
            <a:ext cx="2343150" cy="1466850"/>
          </a:xfrm>
          <a:prstGeom xmlns:a="http://schemas.openxmlformats.org/drawingml/2006/main" prst="roundRect">
            <a:avLst>
              <a:gd name="adj" fmla="val 11688"/>
            </a:avLst>
          </a:prstGeom>
          <a:solidFill xmlns:a="http://schemas.openxmlformats.org/drawingml/2006/main">
            <a:srgbClr val="FFF8EA"/>
          </a:solidFill>
          <a:ln xmlns:a="http://schemas.openxmlformats.org/drawingml/2006/main" w="9525">
            <a:solidFill>
              <a:srgbClr val="8EBBD0"/>
            </a:solidFill>
            <a:prstDash val="solid"/>
          </a:ln>
        </p:spPr>
      </p:sp>
      <p:sp>
        <p:nvSpPr>
          <p:cNvPr id="8" name="">
            <a:extLst xmlns:a="http://schemas.openxmlformats.org/drawingml/2006/main">
              <a:ext uri="{FF2B5EF4-FFF2-40B4-BE49-F238E27FC236}">
                <a16:creationId xmlns:a16="http://schemas.microsoft.com/office/drawing/2014/main" id="{5749AB8F-77D5-41D0-9202-25F834651940}"/>
              </a:ext>
            </a:extLst>
          </p:cNvPr>
          <p:cNvSpPr>
            <a:spLocks xmlns:a="http://schemas.openxmlformats.org/drawingml/2006/main" noGrp="1"/>
          </p:cNvSpPr>
          <p:nvPr/>
        </p:nvSpPr>
        <p:spPr>
          <a:xfrm xmlns:a="http://schemas.openxmlformats.org/drawingml/2006/main">
            <a:off x="800100" y="2305050"/>
            <a:ext cx="66675" cy="1466850"/>
          </a:xfrm>
          <a:prstGeom xmlns:a="http://schemas.openxmlformats.org/drawingml/2006/main" prst="roundRect">
            <a:avLst>
              <a:gd name="adj" fmla="val 42857"/>
            </a:avLst>
          </a:prstGeom>
          <a:solidFill xmlns:a="http://schemas.openxmlformats.org/drawingml/2006/main">
            <a:srgbClr val="268C82"/>
          </a:solidFill>
          <a:ln xmlns:a="http://schemas.openxmlformats.org/drawingml/2006/main" w="0">
            <a:solidFill>
              <a:srgbClr val="268C82"/>
            </a:solidFill>
            <a:prstDash val="solid"/>
          </a:ln>
        </p:spPr>
      </p:sp>
      <p:sp>
        <p:nvSpPr>
          <p:cNvPr id="9" name="">
            <a:extLst xmlns:a="http://schemas.openxmlformats.org/drawingml/2006/main">
              <a:ext uri="{FF2B5EF4-FFF2-40B4-BE49-F238E27FC236}">
                <a16:creationId xmlns:a16="http://schemas.microsoft.com/office/drawing/2014/main" id="{0D7EF3E4-EDD5-4B7A-9E44-D1A22DAC1B22}"/>
              </a:ext>
            </a:extLst>
          </p:cNvPr>
          <p:cNvSpPr>
            <a:spLocks xmlns:a="http://schemas.openxmlformats.org/drawingml/2006/main" noGrp="1"/>
          </p:cNvSpPr>
          <p:nvPr/>
        </p:nvSpPr>
        <p:spPr>
          <a:xfrm xmlns:a="http://schemas.openxmlformats.org/drawingml/2006/main">
            <a:off x="1028700" y="2447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68C82"/>
                </a:solidFill>
                <a:latin typeface="Aptos"/>
                <a:ea typeface="Aptos"/>
                <a:cs typeface="Aptos"/>
              </a:defRPr>
            </a:pPr>
            <a:r>
              <a:rPr sz="1050" b="1">
                <a:solidFill>
                  <a:srgbClr val="268C82"/>
                </a:solidFill>
                <a:latin typeface="Aptos"/>
                <a:ea typeface="Aptos"/>
                <a:cs typeface="Aptos"/>
              </a:rPr>
              <a:t>median response start</a:t>
            </a:r>
          </a:p>
        </p:txBody>
      </p:sp>
      <p:sp>
        <p:nvSpPr>
          <p:cNvPr id="10" name="">
            <a:extLst xmlns:a="http://schemas.openxmlformats.org/drawingml/2006/main">
              <a:ext uri="{FF2B5EF4-FFF2-40B4-BE49-F238E27FC236}">
                <a16:creationId xmlns:a16="http://schemas.microsoft.com/office/drawing/2014/main" id="{2A7880D5-820B-4258-9CC8-00396AA71B72}"/>
              </a:ext>
            </a:extLst>
          </p:cNvPr>
          <p:cNvSpPr>
            <a:spLocks xmlns:a="http://schemas.openxmlformats.org/drawingml/2006/main" noGrp="1"/>
          </p:cNvSpPr>
          <p:nvPr/>
        </p:nvSpPr>
        <p:spPr>
          <a:xfrm xmlns:a="http://schemas.openxmlformats.org/drawingml/2006/main">
            <a:off x="1028700" y="2762250"/>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443 ms</a:t>
            </a:r>
          </a:p>
        </p:txBody>
      </p:sp>
      <p:sp>
        <p:nvSpPr>
          <p:cNvPr id="11" name="">
            <a:extLst xmlns:a="http://schemas.openxmlformats.org/drawingml/2006/main">
              <a:ext uri="{FF2B5EF4-FFF2-40B4-BE49-F238E27FC236}">
                <a16:creationId xmlns:a16="http://schemas.microsoft.com/office/drawing/2014/main" id="{850261DA-41D4-4EAD-93A8-1F695030E35A}"/>
              </a:ext>
            </a:extLst>
          </p:cNvPr>
          <p:cNvSpPr>
            <a:spLocks xmlns:a="http://schemas.openxmlformats.org/drawingml/2006/main" noGrp="1"/>
          </p:cNvSpPr>
          <p:nvPr/>
        </p:nvSpPr>
        <p:spPr>
          <a:xfrm xmlns:a="http://schemas.openxmlformats.org/drawingml/2006/main">
            <a:off x="3467100" y="2305050"/>
            <a:ext cx="2343150" cy="1466850"/>
          </a:xfrm>
          <a:prstGeom xmlns:a="http://schemas.openxmlformats.org/drawingml/2006/main" prst="roundRect">
            <a:avLst>
              <a:gd name="adj" fmla="val 11688"/>
            </a:avLst>
          </a:prstGeom>
          <a:solidFill xmlns:a="http://schemas.openxmlformats.org/drawingml/2006/main">
            <a:srgbClr val="FFF8EA"/>
          </a:solidFill>
          <a:ln xmlns:a="http://schemas.openxmlformats.org/drawingml/2006/main" w="9525">
            <a:solidFill>
              <a:srgbClr val="8EBBD0"/>
            </a:solidFill>
            <a:prstDash val="solid"/>
          </a:ln>
        </p:spPr>
      </p:sp>
      <p:sp>
        <p:nvSpPr>
          <p:cNvPr id="12" name="">
            <a:extLst xmlns:a="http://schemas.openxmlformats.org/drawingml/2006/main">
              <a:ext uri="{FF2B5EF4-FFF2-40B4-BE49-F238E27FC236}">
                <a16:creationId xmlns:a16="http://schemas.microsoft.com/office/drawing/2014/main" id="{48FE190A-53EC-4E02-9CA8-D867243C225A}"/>
              </a:ext>
            </a:extLst>
          </p:cNvPr>
          <p:cNvSpPr>
            <a:spLocks xmlns:a="http://schemas.openxmlformats.org/drawingml/2006/main" noGrp="1"/>
          </p:cNvSpPr>
          <p:nvPr/>
        </p:nvSpPr>
        <p:spPr>
          <a:xfrm xmlns:a="http://schemas.openxmlformats.org/drawingml/2006/main">
            <a:off x="3467100" y="2305050"/>
            <a:ext cx="66675" cy="14668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13" name="">
            <a:extLst xmlns:a="http://schemas.openxmlformats.org/drawingml/2006/main">
              <a:ext uri="{FF2B5EF4-FFF2-40B4-BE49-F238E27FC236}">
                <a16:creationId xmlns:a16="http://schemas.microsoft.com/office/drawing/2014/main" id="{4C6605A2-8A52-48B7-A99C-D255CA55A140}"/>
              </a:ext>
            </a:extLst>
          </p:cNvPr>
          <p:cNvSpPr>
            <a:spLocks xmlns:a="http://schemas.openxmlformats.org/drawingml/2006/main" noGrp="1"/>
          </p:cNvSpPr>
          <p:nvPr/>
        </p:nvSpPr>
        <p:spPr>
          <a:xfrm xmlns:a="http://schemas.openxmlformats.org/drawingml/2006/main">
            <a:off x="3695700" y="2447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interruptions</a:t>
            </a:r>
          </a:p>
        </p:txBody>
      </p:sp>
      <p:sp>
        <p:nvSpPr>
          <p:cNvPr id="14" name="">
            <a:extLst xmlns:a="http://schemas.openxmlformats.org/drawingml/2006/main">
              <a:ext uri="{FF2B5EF4-FFF2-40B4-BE49-F238E27FC236}">
                <a16:creationId xmlns:a16="http://schemas.microsoft.com/office/drawing/2014/main" id="{9543744E-AC93-49DF-A6ED-ED346728C5B6}"/>
              </a:ext>
            </a:extLst>
          </p:cNvPr>
          <p:cNvSpPr>
            <a:spLocks xmlns:a="http://schemas.openxmlformats.org/drawingml/2006/main" noGrp="1"/>
          </p:cNvSpPr>
          <p:nvPr/>
        </p:nvSpPr>
        <p:spPr>
          <a:xfrm xmlns:a="http://schemas.openxmlformats.org/drawingml/2006/main">
            <a:off x="3695700" y="2762250"/>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8E6DC126-2CAC-46E7-BC60-467D17E4F786}"/>
              </a:ext>
            </a:extLst>
          </p:cNvPr>
          <p:cNvSpPr>
            <a:spLocks xmlns:a="http://schemas.openxmlformats.org/drawingml/2006/main" noGrp="1"/>
          </p:cNvSpPr>
          <p:nvPr/>
        </p:nvSpPr>
        <p:spPr>
          <a:xfrm xmlns:a="http://schemas.openxmlformats.org/drawingml/2006/main">
            <a:off x="6134100" y="2305050"/>
            <a:ext cx="2343150" cy="1466850"/>
          </a:xfrm>
          <a:prstGeom xmlns:a="http://schemas.openxmlformats.org/drawingml/2006/main" prst="roundRect">
            <a:avLst>
              <a:gd name="adj" fmla="val 11688"/>
            </a:avLst>
          </a:prstGeom>
          <a:solidFill xmlns:a="http://schemas.openxmlformats.org/drawingml/2006/main">
            <a:srgbClr val="FFF8EA"/>
          </a:solidFill>
          <a:ln xmlns:a="http://schemas.openxmlformats.org/drawingml/2006/main" w="9525">
            <a:solidFill>
              <a:srgbClr val="8EBBD0"/>
            </a:solidFill>
            <a:prstDash val="solid"/>
          </a:ln>
        </p:spPr>
      </p:sp>
      <p:sp>
        <p:nvSpPr>
          <p:cNvPr id="16" name="">
            <a:extLst xmlns:a="http://schemas.openxmlformats.org/drawingml/2006/main">
              <a:ext uri="{FF2B5EF4-FFF2-40B4-BE49-F238E27FC236}">
                <a16:creationId xmlns:a16="http://schemas.microsoft.com/office/drawing/2014/main" id="{5C06FE34-0E5D-47C2-95DE-F855E42B71DB}"/>
              </a:ext>
            </a:extLst>
          </p:cNvPr>
          <p:cNvSpPr>
            <a:spLocks xmlns:a="http://schemas.openxmlformats.org/drawingml/2006/main" noGrp="1"/>
          </p:cNvSpPr>
          <p:nvPr/>
        </p:nvSpPr>
        <p:spPr>
          <a:xfrm xmlns:a="http://schemas.openxmlformats.org/drawingml/2006/main">
            <a:off x="6134100" y="2305050"/>
            <a:ext cx="66675" cy="14668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17" name="">
            <a:extLst xmlns:a="http://schemas.openxmlformats.org/drawingml/2006/main">
              <a:ext uri="{FF2B5EF4-FFF2-40B4-BE49-F238E27FC236}">
                <a16:creationId xmlns:a16="http://schemas.microsoft.com/office/drawing/2014/main" id="{3D64809C-868B-4CAA-BFC4-D60A7E907C55}"/>
              </a:ext>
            </a:extLst>
          </p:cNvPr>
          <p:cNvSpPr>
            <a:spLocks xmlns:a="http://schemas.openxmlformats.org/drawingml/2006/main" noGrp="1"/>
          </p:cNvSpPr>
          <p:nvPr/>
        </p:nvSpPr>
        <p:spPr>
          <a:xfrm xmlns:a="http://schemas.openxmlformats.org/drawingml/2006/main">
            <a:off x="6362700" y="2447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actions</a:t>
            </a:r>
          </a:p>
        </p:txBody>
      </p:sp>
      <p:sp>
        <p:nvSpPr>
          <p:cNvPr id="18" name="">
            <a:extLst xmlns:a="http://schemas.openxmlformats.org/drawingml/2006/main">
              <a:ext uri="{FF2B5EF4-FFF2-40B4-BE49-F238E27FC236}">
                <a16:creationId xmlns:a16="http://schemas.microsoft.com/office/drawing/2014/main" id="{D6448E94-EBB7-44FD-8132-618240F1D62F}"/>
              </a:ext>
            </a:extLst>
          </p:cNvPr>
          <p:cNvSpPr>
            <a:spLocks xmlns:a="http://schemas.openxmlformats.org/drawingml/2006/main" noGrp="1"/>
          </p:cNvSpPr>
          <p:nvPr/>
        </p:nvSpPr>
        <p:spPr>
          <a:xfrm xmlns:a="http://schemas.openxmlformats.org/drawingml/2006/main">
            <a:off x="6362700" y="2762250"/>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2</a:t>
            </a:r>
          </a:p>
        </p:txBody>
      </p:sp>
      <p:sp>
        <p:nvSpPr>
          <p:cNvPr id="19" name="">
            <a:extLst xmlns:a="http://schemas.openxmlformats.org/drawingml/2006/main">
              <a:ext uri="{FF2B5EF4-FFF2-40B4-BE49-F238E27FC236}">
                <a16:creationId xmlns:a16="http://schemas.microsoft.com/office/drawing/2014/main" id="{3ADA59D1-91A5-445C-932D-C99AB5936D1E}"/>
              </a:ext>
            </a:extLst>
          </p:cNvPr>
          <p:cNvSpPr>
            <a:spLocks xmlns:a="http://schemas.openxmlformats.org/drawingml/2006/main" noGrp="1"/>
          </p:cNvSpPr>
          <p:nvPr/>
        </p:nvSpPr>
        <p:spPr>
          <a:xfrm xmlns:a="http://schemas.openxmlformats.org/drawingml/2006/main">
            <a:off x="8801100" y="2305050"/>
            <a:ext cx="2343150" cy="1466850"/>
          </a:xfrm>
          <a:prstGeom xmlns:a="http://schemas.openxmlformats.org/drawingml/2006/main" prst="roundRect">
            <a:avLst>
              <a:gd name="adj" fmla="val 11688"/>
            </a:avLst>
          </a:prstGeom>
          <a:solidFill xmlns:a="http://schemas.openxmlformats.org/drawingml/2006/main">
            <a:srgbClr val="FFF8EA"/>
          </a:solidFill>
          <a:ln xmlns:a="http://schemas.openxmlformats.org/drawingml/2006/main" w="9525">
            <a:solidFill>
              <a:srgbClr val="8EBBD0"/>
            </a:solidFill>
            <a:prstDash val="solid"/>
          </a:ln>
        </p:spPr>
      </p:sp>
      <p:sp>
        <p:nvSpPr>
          <p:cNvPr id="20" name="">
            <a:extLst xmlns:a="http://schemas.openxmlformats.org/drawingml/2006/main">
              <a:ext uri="{FF2B5EF4-FFF2-40B4-BE49-F238E27FC236}">
                <a16:creationId xmlns:a16="http://schemas.microsoft.com/office/drawing/2014/main" id="{A1D89827-BA3B-4520-B32F-DCDF0578C096}"/>
              </a:ext>
            </a:extLst>
          </p:cNvPr>
          <p:cNvSpPr>
            <a:spLocks xmlns:a="http://schemas.openxmlformats.org/drawingml/2006/main" noGrp="1"/>
          </p:cNvSpPr>
          <p:nvPr/>
        </p:nvSpPr>
        <p:spPr>
          <a:xfrm xmlns:a="http://schemas.openxmlformats.org/drawingml/2006/main">
            <a:off x="8801100" y="2305050"/>
            <a:ext cx="66675" cy="146685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21" name="">
            <a:extLst xmlns:a="http://schemas.openxmlformats.org/drawingml/2006/main">
              <a:ext uri="{FF2B5EF4-FFF2-40B4-BE49-F238E27FC236}">
                <a16:creationId xmlns:a16="http://schemas.microsoft.com/office/drawing/2014/main" id="{C252095D-1588-4A47-947F-9BE31E75935F}"/>
              </a:ext>
            </a:extLst>
          </p:cNvPr>
          <p:cNvSpPr>
            <a:spLocks xmlns:a="http://schemas.openxmlformats.org/drawingml/2006/main" noGrp="1"/>
          </p:cNvSpPr>
          <p:nvPr/>
        </p:nvSpPr>
        <p:spPr>
          <a:xfrm xmlns:a="http://schemas.openxmlformats.org/drawingml/2006/main">
            <a:off x="9029700" y="2447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user turns</a:t>
            </a:r>
          </a:p>
        </p:txBody>
      </p:sp>
      <p:sp>
        <p:nvSpPr>
          <p:cNvPr id="22" name="">
            <a:extLst xmlns:a="http://schemas.openxmlformats.org/drawingml/2006/main">
              <a:ext uri="{FF2B5EF4-FFF2-40B4-BE49-F238E27FC236}">
                <a16:creationId xmlns:a16="http://schemas.microsoft.com/office/drawing/2014/main" id="{3A009D6E-2746-463E-9E2F-377FD5A4E18D}"/>
              </a:ext>
            </a:extLst>
          </p:cNvPr>
          <p:cNvSpPr>
            <a:spLocks xmlns:a="http://schemas.openxmlformats.org/drawingml/2006/main" noGrp="1"/>
          </p:cNvSpPr>
          <p:nvPr/>
        </p:nvSpPr>
        <p:spPr>
          <a:xfrm xmlns:a="http://schemas.openxmlformats.org/drawingml/2006/main">
            <a:off x="9029700" y="2762250"/>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11</a:t>
            </a:r>
          </a:p>
        </p:txBody>
      </p:sp>
      <p:sp>
        <p:nvSpPr>
          <p:cNvPr id="23" name="">
            <a:extLst xmlns:a="http://schemas.openxmlformats.org/drawingml/2006/main">
              <a:ext uri="{FF2B5EF4-FFF2-40B4-BE49-F238E27FC236}">
                <a16:creationId xmlns:a16="http://schemas.microsoft.com/office/drawing/2014/main" id="{F693360A-6494-4156-B5EA-E3EFC1012695}"/>
              </a:ext>
            </a:extLst>
          </p:cNvPr>
          <p:cNvSpPr>
            <a:spLocks xmlns:a="http://schemas.openxmlformats.org/drawingml/2006/main" noGrp="1"/>
          </p:cNvSpPr>
          <p:nvPr/>
        </p:nvSpPr>
        <p:spPr>
          <a:xfrm xmlns:a="http://schemas.openxmlformats.org/drawingml/2006/main">
            <a:off x="1066800" y="4572000"/>
            <a:ext cx="9601200" cy="0"/>
          </a:xfrm>
          <a:prstGeom xmlns:a="http://schemas.openxmlformats.org/drawingml/2006/main" prst="line">
            <a:avLst/>
          </a:prstGeom>
          <a:noFill xmlns:a="http://schemas.openxmlformats.org/drawingml/2006/main"/>
          <a:ln xmlns:a="http://schemas.openxmlformats.org/drawingml/2006/main" w="28575">
            <a:solidFill>
              <a:srgbClr val="8EBBD0"/>
            </a:solidFill>
            <a:prstDash val="solid"/>
          </a:ln>
        </p:spPr>
      </p:sp>
      <p:sp>
        <p:nvSpPr>
          <p:cNvPr id="24" name="">
            <a:extLst xmlns:a="http://schemas.openxmlformats.org/drawingml/2006/main">
              <a:ext uri="{FF2B5EF4-FFF2-40B4-BE49-F238E27FC236}">
                <a16:creationId xmlns:a16="http://schemas.microsoft.com/office/drawing/2014/main" id="{80150C27-53D2-43B6-AB0B-A2A401173AAE}"/>
              </a:ext>
            </a:extLst>
          </p:cNvPr>
          <p:cNvSpPr>
            <a:spLocks xmlns:a="http://schemas.openxmlformats.org/drawingml/2006/main" noGrp="1"/>
          </p:cNvSpPr>
          <p:nvPr/>
        </p:nvSpPr>
        <p:spPr>
          <a:xfrm xmlns:a="http://schemas.openxmlformats.org/drawingml/2006/main">
            <a:off x="2190750" y="4438650"/>
            <a:ext cx="266700" cy="266700"/>
          </a:xfrm>
          <a:prstGeom xmlns:a="http://schemas.openxmlformats.org/drawingml/2006/main" prst="ellipse">
            <a:avLst/>
          </a:prstGeom>
          <a:solidFill xmlns:a="http://schemas.openxmlformats.org/drawingml/2006/main">
            <a:srgbClr val="D96C5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D012A18-E390-4738-BF30-8EE3845FA944}"/>
              </a:ext>
            </a:extLst>
          </p:cNvPr>
          <p:cNvSpPr>
            <a:spLocks xmlns:a="http://schemas.openxmlformats.org/drawingml/2006/main" noGrp="1"/>
          </p:cNvSpPr>
          <p:nvPr/>
        </p:nvSpPr>
        <p:spPr>
          <a:xfrm xmlns:a="http://schemas.openxmlformats.org/drawingml/2006/main">
            <a:off x="1857375" y="48577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D96C5F"/>
                </a:solidFill>
                <a:latin typeface="Aptos Mono"/>
                <a:ea typeface="Aptos Mono"/>
                <a:cs typeface="Aptos Mono"/>
              </a:defRPr>
            </a:pPr>
            <a:r>
              <a:rPr sz="825" b="0">
                <a:solidFill>
                  <a:srgbClr val="D96C5F"/>
                </a:solidFill>
                <a:latin typeface="Aptos Mono"/>
                <a:ea typeface="Aptos Mono"/>
                <a:cs typeface="Aptos Mono"/>
              </a:rPr>
              <a:t>cancel</a:t>
            </a:r>
          </a:p>
        </p:txBody>
      </p:sp>
      <p:sp>
        <p:nvSpPr>
          <p:cNvPr id="26" name="">
            <a:extLst xmlns:a="http://schemas.openxmlformats.org/drawingml/2006/main">
              <a:ext uri="{FF2B5EF4-FFF2-40B4-BE49-F238E27FC236}">
                <a16:creationId xmlns:a16="http://schemas.microsoft.com/office/drawing/2014/main" id="{466EADBF-62DE-4C3F-9BBB-1FC8D066705E}"/>
              </a:ext>
            </a:extLst>
          </p:cNvPr>
          <p:cNvSpPr>
            <a:spLocks xmlns:a="http://schemas.openxmlformats.org/drawingml/2006/main" noGrp="1"/>
          </p:cNvSpPr>
          <p:nvPr/>
        </p:nvSpPr>
        <p:spPr>
          <a:xfrm xmlns:a="http://schemas.openxmlformats.org/drawingml/2006/main">
            <a:off x="4953000" y="4438650"/>
            <a:ext cx="266700" cy="266700"/>
          </a:xfrm>
          <a:prstGeom xmlns:a="http://schemas.openxmlformats.org/drawingml/2006/main" prst="ellipse">
            <a:avLst/>
          </a:prstGeom>
          <a:solidFill xmlns:a="http://schemas.openxmlformats.org/drawingml/2006/main">
            <a:srgbClr val="D96C5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2008D9F-D7B6-44C2-85AB-F6425DE5DA73}"/>
              </a:ext>
            </a:extLst>
          </p:cNvPr>
          <p:cNvSpPr>
            <a:spLocks xmlns:a="http://schemas.openxmlformats.org/drawingml/2006/main" noGrp="1"/>
          </p:cNvSpPr>
          <p:nvPr/>
        </p:nvSpPr>
        <p:spPr>
          <a:xfrm xmlns:a="http://schemas.openxmlformats.org/drawingml/2006/main">
            <a:off x="4619625" y="48577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D96C5F"/>
                </a:solidFill>
                <a:latin typeface="Aptos Mono"/>
                <a:ea typeface="Aptos Mono"/>
                <a:cs typeface="Aptos Mono"/>
              </a:defRPr>
            </a:pPr>
            <a:r>
              <a:rPr sz="825" b="0">
                <a:solidFill>
                  <a:srgbClr val="D96C5F"/>
                </a:solidFill>
                <a:latin typeface="Aptos Mono"/>
                <a:ea typeface="Aptos Mono"/>
                <a:cs typeface="Aptos Mono"/>
              </a:rPr>
              <a:t>cancel</a:t>
            </a:r>
          </a:p>
        </p:txBody>
      </p:sp>
      <p:sp>
        <p:nvSpPr>
          <p:cNvPr id="28" name="">
            <a:extLst xmlns:a="http://schemas.openxmlformats.org/drawingml/2006/main">
              <a:ext uri="{FF2B5EF4-FFF2-40B4-BE49-F238E27FC236}">
                <a16:creationId xmlns:a16="http://schemas.microsoft.com/office/drawing/2014/main" id="{703D8E24-02D2-46F2-9EB3-825D911A7532}"/>
              </a:ext>
            </a:extLst>
          </p:cNvPr>
          <p:cNvSpPr>
            <a:spLocks xmlns:a="http://schemas.openxmlformats.org/drawingml/2006/main" noGrp="1"/>
          </p:cNvSpPr>
          <p:nvPr/>
        </p:nvSpPr>
        <p:spPr>
          <a:xfrm xmlns:a="http://schemas.openxmlformats.org/drawingml/2006/main">
            <a:off x="7572375" y="4438650"/>
            <a:ext cx="266700" cy="266700"/>
          </a:xfrm>
          <a:prstGeom xmlns:a="http://schemas.openxmlformats.org/drawingml/2006/main" prst="ellipse">
            <a:avLst/>
          </a:prstGeom>
          <a:solidFill xmlns:a="http://schemas.openxmlformats.org/drawingml/2006/main">
            <a:srgbClr val="D96C5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CB28A88-A007-42D5-94D3-62BFE221D30F}"/>
              </a:ext>
            </a:extLst>
          </p:cNvPr>
          <p:cNvSpPr>
            <a:spLocks xmlns:a="http://schemas.openxmlformats.org/drawingml/2006/main" noGrp="1"/>
          </p:cNvSpPr>
          <p:nvPr/>
        </p:nvSpPr>
        <p:spPr>
          <a:xfrm xmlns:a="http://schemas.openxmlformats.org/drawingml/2006/main">
            <a:off x="7239000" y="48577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D96C5F"/>
                </a:solidFill>
                <a:latin typeface="Aptos Mono"/>
                <a:ea typeface="Aptos Mono"/>
                <a:cs typeface="Aptos Mono"/>
              </a:defRPr>
            </a:pPr>
            <a:r>
              <a:rPr sz="825" b="0">
                <a:solidFill>
                  <a:srgbClr val="D96C5F"/>
                </a:solidFill>
                <a:latin typeface="Aptos Mono"/>
                <a:ea typeface="Aptos Mono"/>
                <a:cs typeface="Aptos Mono"/>
              </a:rPr>
              <a:t>cancel</a:t>
            </a:r>
          </a:p>
        </p:txBody>
      </p:sp>
      <p:sp>
        <p:nvSpPr>
          <p:cNvPr id="30" name="">
            <a:extLst xmlns:a="http://schemas.openxmlformats.org/drawingml/2006/main">
              <a:ext uri="{FF2B5EF4-FFF2-40B4-BE49-F238E27FC236}">
                <a16:creationId xmlns:a16="http://schemas.microsoft.com/office/drawing/2014/main" id="{A2EC0F7A-E5BC-4C7D-96E7-9FD793F2B409}"/>
              </a:ext>
            </a:extLst>
          </p:cNvPr>
          <p:cNvSpPr>
            <a:spLocks xmlns:a="http://schemas.openxmlformats.org/drawingml/2006/main" noGrp="1"/>
          </p:cNvSpPr>
          <p:nvPr/>
        </p:nvSpPr>
        <p:spPr>
          <a:xfrm xmlns:a="http://schemas.openxmlformats.org/drawingml/2006/main">
            <a:off x="3619500" y="4400550"/>
            <a:ext cx="361950" cy="361950"/>
          </a:xfrm>
          <a:prstGeom xmlns:a="http://schemas.openxmlformats.org/drawingml/2006/main" prst="diamond">
            <a:avLst/>
          </a:prstGeom>
          <a:solidFill xmlns:a="http://schemas.openxmlformats.org/drawingml/2006/main">
            <a:srgbClr val="268C8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F2EA6FD-B22F-4314-9335-4388B2C5EC07}"/>
              </a:ext>
            </a:extLst>
          </p:cNvPr>
          <p:cNvSpPr>
            <a:spLocks xmlns:a="http://schemas.openxmlformats.org/drawingml/2006/main" noGrp="1"/>
          </p:cNvSpPr>
          <p:nvPr/>
        </p:nvSpPr>
        <p:spPr>
          <a:xfrm xmlns:a="http://schemas.openxmlformats.org/drawingml/2006/main">
            <a:off x="3333750" y="48577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268C82"/>
                </a:solidFill>
                <a:latin typeface="Aptos Mono"/>
                <a:ea typeface="Aptos Mono"/>
                <a:cs typeface="Aptos Mono"/>
              </a:defRPr>
            </a:pPr>
            <a:r>
              <a:rPr sz="825" b="0">
                <a:solidFill>
                  <a:srgbClr val="268C82"/>
                </a:solidFill>
                <a:latin typeface="Aptos Mono"/>
                <a:ea typeface="Aptos Mono"/>
                <a:cs typeface="Aptos Mono"/>
              </a:rPr>
              <a:t>action</a:t>
            </a:r>
          </a:p>
        </p:txBody>
      </p:sp>
      <p:sp>
        <p:nvSpPr>
          <p:cNvPr id="32" name="">
            <a:extLst xmlns:a="http://schemas.openxmlformats.org/drawingml/2006/main">
              <a:ext uri="{FF2B5EF4-FFF2-40B4-BE49-F238E27FC236}">
                <a16:creationId xmlns:a16="http://schemas.microsoft.com/office/drawing/2014/main" id="{30FF774C-E737-494B-9C9C-D3F07B4AB6D1}"/>
              </a:ext>
            </a:extLst>
          </p:cNvPr>
          <p:cNvSpPr>
            <a:spLocks xmlns:a="http://schemas.openxmlformats.org/drawingml/2006/main" noGrp="1"/>
          </p:cNvSpPr>
          <p:nvPr/>
        </p:nvSpPr>
        <p:spPr>
          <a:xfrm xmlns:a="http://schemas.openxmlformats.org/drawingml/2006/main">
            <a:off x="8905875" y="4400550"/>
            <a:ext cx="361950" cy="361950"/>
          </a:xfrm>
          <a:prstGeom xmlns:a="http://schemas.openxmlformats.org/drawingml/2006/main" prst="diamond">
            <a:avLst/>
          </a:prstGeom>
          <a:solidFill xmlns:a="http://schemas.openxmlformats.org/drawingml/2006/main">
            <a:srgbClr val="268C8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269594F-727A-40D9-B719-1B295163015C}"/>
              </a:ext>
            </a:extLst>
          </p:cNvPr>
          <p:cNvSpPr>
            <a:spLocks xmlns:a="http://schemas.openxmlformats.org/drawingml/2006/main" noGrp="1"/>
          </p:cNvSpPr>
          <p:nvPr/>
        </p:nvSpPr>
        <p:spPr>
          <a:xfrm xmlns:a="http://schemas.openxmlformats.org/drawingml/2006/main">
            <a:off x="8620125" y="48577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a:solidFill>
                  <a:srgbClr val="268C82"/>
                </a:solidFill>
                <a:latin typeface="Aptos Mono"/>
                <a:ea typeface="Aptos Mono"/>
                <a:cs typeface="Aptos Mono"/>
              </a:defRPr>
            </a:pPr>
            <a:r>
              <a:rPr sz="825" b="0">
                <a:solidFill>
                  <a:srgbClr val="268C82"/>
                </a:solidFill>
                <a:latin typeface="Aptos Mono"/>
                <a:ea typeface="Aptos Mono"/>
                <a:cs typeface="Aptos Mono"/>
              </a:rPr>
              <a:t>action</a:t>
            </a:r>
          </a:p>
        </p:txBody>
      </p:sp>
      <p:sp>
        <p:nvSpPr>
          <p:cNvPr id="34" name="">
            <a:extLst xmlns:a="http://schemas.openxmlformats.org/drawingml/2006/main">
              <a:ext uri="{FF2B5EF4-FFF2-40B4-BE49-F238E27FC236}">
                <a16:creationId xmlns:a16="http://schemas.microsoft.com/office/drawing/2014/main" id="{FB7B2111-AF03-4581-8981-6309C8F14DBD}"/>
              </a:ext>
            </a:extLst>
          </p:cNvPr>
          <p:cNvSpPr>
            <a:spLocks xmlns:a="http://schemas.openxmlformats.org/drawingml/2006/main" noGrp="1"/>
          </p:cNvSpPr>
          <p:nvPr/>
        </p:nvSpPr>
        <p:spPr>
          <a:xfrm xmlns:a="http://schemas.openxmlformats.org/drawingml/2006/main">
            <a:off x="1714500" y="5600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D96C5F"/>
                </a:solidFill>
                <a:latin typeface="Aptos"/>
                <a:ea typeface="Aptos"/>
                <a:cs typeface="Aptos"/>
              </a:defRPr>
            </a:pPr>
            <a:r>
              <a:rPr sz="1425" b="1">
                <a:solidFill>
                  <a:srgbClr val="D96C5F"/>
                </a:solidFill>
                <a:latin typeface="Aptos"/>
                <a:ea typeface="Aptos"/>
                <a:cs typeface="Aptos"/>
              </a:rPr>
              <a:t>p95 invalid — unmatched turn at session cutoff</a:t>
            </a:r>
          </a:p>
        </p:txBody>
      </p:sp>
      <p:sp>
        <p:nvSpPr>
          <p:cNvPr id="35" name="">
            <a:extLst xmlns:a="http://schemas.openxmlformats.org/drawingml/2006/main">
              <a:ext uri="{FF2B5EF4-FFF2-40B4-BE49-F238E27FC236}">
                <a16:creationId xmlns:a16="http://schemas.microsoft.com/office/drawing/2014/main" id="{BF33C16E-4B08-4C6B-8924-B01C6C545899}"/>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Session 1787592808-61dd64 · trace 9722afa5…</a:t>
            </a:r>
          </a:p>
        </p:txBody>
      </p:sp>
    </p:spTree>
    <p:extLst>
      <p:ext uri="{BB962C8B-B14F-4D97-AF65-F5344CB8AC3E}">
        <p14:creationId xmlns:p14="http://schemas.microsoft.com/office/powerpoint/2010/main" val="123687646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212854d305e407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E6AE79-8B4E-42BA-988E-5A19FB602661}"/>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A922EF7A-4E88-4110-8DE1-AADFAC15141A}"/>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22</a:t>
            </a:r>
          </a:p>
        </p:txBody>
      </p:sp>
      <p:sp>
        <p:nvSpPr>
          <p:cNvPr id="4" name="">
            <a:extLst xmlns:a="http://schemas.openxmlformats.org/drawingml/2006/main">
              <a:ext uri="{FF2B5EF4-FFF2-40B4-BE49-F238E27FC236}">
                <a16:creationId xmlns:a16="http://schemas.microsoft.com/office/drawing/2014/main" id="{64ECCA69-3281-4F08-981F-F94722BB65F1}"/>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2D1330BB-E04E-4C45-9F6D-88298FDC99A4}"/>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Aira vs Sarvam Voice Agents: honest comparison</a:t>
            </a:r>
          </a:p>
        </p:txBody>
      </p:sp>
      <p:sp>
        <p:nvSpPr>
          <p:cNvPr id="6" name="">
            <a:extLst xmlns:a="http://schemas.openxmlformats.org/drawingml/2006/main">
              <a:ext uri="{FF2B5EF4-FFF2-40B4-BE49-F238E27FC236}">
                <a16:creationId xmlns:a16="http://schemas.microsoft.com/office/drawing/2014/main" id="{F502E6ED-5571-4FE5-BA39-1F11A3953707}"/>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53FE5BD9-55DD-408C-8BE9-0DDEC7B069F7}"/>
              </a:ext>
            </a:extLst>
          </p:cNvPr>
          <p:cNvSpPr>
            <a:spLocks xmlns:a="http://schemas.openxmlformats.org/drawingml/2006/main" noGrp="1"/>
          </p:cNvSpPr>
          <p:nvPr/>
        </p:nvSpPr>
        <p:spPr>
          <a:xfrm xmlns:a="http://schemas.openxmlformats.org/drawingml/2006/main">
            <a:off x="819150" y="233362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latin typeface="Aptos"/>
                <a:ea typeface="Aptos"/>
                <a:cs typeface="Aptos"/>
              </a:defRPr>
            </a:pPr>
            <a:r>
              <a:rPr sz="1275" b="1">
                <a:solidFill>
                  <a:srgbClr val="102A43"/>
                </a:solidFill>
                <a:latin typeface="Aptos"/>
                <a:ea typeface="Aptos"/>
                <a:cs typeface="Aptos"/>
              </a:rPr>
              <a:t>Aira local-plan</a:t>
            </a:r>
          </a:p>
        </p:txBody>
      </p:sp>
      <p:sp>
        <p:nvSpPr>
          <p:cNvPr id="8" name="">
            <a:extLst xmlns:a="http://schemas.openxmlformats.org/drawingml/2006/main">
              <a:ext uri="{FF2B5EF4-FFF2-40B4-BE49-F238E27FC236}">
                <a16:creationId xmlns:a16="http://schemas.microsoft.com/office/drawing/2014/main" id="{58DC60F0-DCB8-418F-95FA-90FDBCB1313F}"/>
              </a:ext>
            </a:extLst>
          </p:cNvPr>
          <p:cNvSpPr>
            <a:spLocks xmlns:a="http://schemas.openxmlformats.org/drawingml/2006/main" noGrp="1"/>
          </p:cNvSpPr>
          <p:nvPr/>
        </p:nvSpPr>
        <p:spPr>
          <a:xfrm xmlns:a="http://schemas.openxmlformats.org/drawingml/2006/main">
            <a:off x="2914650" y="2390775"/>
            <a:ext cx="1336199" cy="304800"/>
          </a:xfrm>
          <a:prstGeom xmlns:a="http://schemas.openxmlformats.org/drawingml/2006/main" prst="roundRect">
            <a:avLst>
              <a:gd name="adj" fmla="val 37500"/>
            </a:avLst>
          </a:prstGeom>
          <a:solidFill xmlns:a="http://schemas.openxmlformats.org/drawingml/2006/main">
            <a:srgbClr val="268C8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BF4954A-D824-4E0E-AA8F-4921BAD882D8}"/>
              </a:ext>
            </a:extLst>
          </p:cNvPr>
          <p:cNvSpPr>
            <a:spLocks xmlns:a="http://schemas.openxmlformats.org/drawingml/2006/main" noGrp="1"/>
          </p:cNvSpPr>
          <p:nvPr/>
        </p:nvSpPr>
        <p:spPr>
          <a:xfrm xmlns:a="http://schemas.openxmlformats.org/drawingml/2006/main">
            <a:off x="10287000" y="23336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75" b="1">
                <a:solidFill>
                  <a:srgbClr val="102A43"/>
                </a:solidFill>
                <a:latin typeface="Aptos Mono"/>
                <a:ea typeface="Aptos Mono"/>
                <a:cs typeface="Aptos Mono"/>
              </a:defRPr>
            </a:pPr>
            <a:r>
              <a:rPr sz="1275" b="1">
                <a:solidFill>
                  <a:srgbClr val="102A43"/>
                </a:solidFill>
                <a:latin typeface="Aptos Mono"/>
                <a:ea typeface="Aptos Mono"/>
                <a:cs typeface="Aptos Mono"/>
              </a:rPr>
              <a:t>443 ms</a:t>
            </a:r>
          </a:p>
        </p:txBody>
      </p:sp>
      <p:sp>
        <p:nvSpPr>
          <p:cNvPr id="10" name="">
            <a:extLst xmlns:a="http://schemas.openxmlformats.org/drawingml/2006/main">
              <a:ext uri="{FF2B5EF4-FFF2-40B4-BE49-F238E27FC236}">
                <a16:creationId xmlns:a16="http://schemas.microsoft.com/office/drawing/2014/main" id="{86993DA3-21F9-4D2D-B8C4-ECD6EE57CBCD}"/>
              </a:ext>
            </a:extLst>
          </p:cNvPr>
          <p:cNvSpPr>
            <a:spLocks xmlns:a="http://schemas.openxmlformats.org/drawingml/2006/main" noGrp="1"/>
          </p:cNvSpPr>
          <p:nvPr/>
        </p:nvSpPr>
        <p:spPr>
          <a:xfrm xmlns:a="http://schemas.openxmlformats.org/drawingml/2006/main">
            <a:off x="2914650" y="28098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Mono"/>
                <a:ea typeface="Aptos Mono"/>
                <a:cs typeface="Aptos Mono"/>
              </a:defRPr>
            </a:pPr>
            <a:r>
              <a:rPr sz="900" b="0">
                <a:solidFill>
                  <a:srgbClr val="4B687A"/>
                </a:solidFill>
                <a:latin typeface="Aptos Mono"/>
                <a:ea typeface="Aptos Mono"/>
                <a:cs typeface="Aptos Mono"/>
              </a:rPr>
              <a:t>measured · one session</a:t>
            </a:r>
          </a:p>
        </p:txBody>
      </p:sp>
      <p:sp>
        <p:nvSpPr>
          <p:cNvPr id="11" name="">
            <a:extLst xmlns:a="http://schemas.openxmlformats.org/drawingml/2006/main">
              <a:ext uri="{FF2B5EF4-FFF2-40B4-BE49-F238E27FC236}">
                <a16:creationId xmlns:a16="http://schemas.microsoft.com/office/drawing/2014/main" id="{2E0340DF-D286-4790-8E8C-9C3D1158BF16}"/>
              </a:ext>
            </a:extLst>
          </p:cNvPr>
          <p:cNvSpPr>
            <a:spLocks xmlns:a="http://schemas.openxmlformats.org/drawingml/2006/main" noGrp="1"/>
          </p:cNvSpPr>
          <p:nvPr/>
        </p:nvSpPr>
        <p:spPr>
          <a:xfrm xmlns:a="http://schemas.openxmlformats.org/drawingml/2006/main">
            <a:off x="819150" y="340042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latin typeface="Aptos"/>
                <a:ea typeface="Aptos"/>
                <a:cs typeface="Aptos"/>
              </a:defRPr>
            </a:pPr>
            <a:r>
              <a:rPr sz="1275" b="1">
                <a:solidFill>
                  <a:srgbClr val="102A43"/>
                </a:solidFill>
                <a:latin typeface="Aptos"/>
                <a:ea typeface="Aptos"/>
                <a:cs typeface="Aptos"/>
              </a:rPr>
              <a:t>Aira Gemini</a:t>
            </a:r>
          </a:p>
        </p:txBody>
      </p:sp>
      <p:sp>
        <p:nvSpPr>
          <p:cNvPr id="12" name="">
            <a:extLst xmlns:a="http://schemas.openxmlformats.org/drawingml/2006/main">
              <a:ext uri="{FF2B5EF4-FFF2-40B4-BE49-F238E27FC236}">
                <a16:creationId xmlns:a16="http://schemas.microsoft.com/office/drawing/2014/main" id="{5965BE89-51B7-4C3B-A59E-E1387383CB38}"/>
              </a:ext>
            </a:extLst>
          </p:cNvPr>
          <p:cNvSpPr>
            <a:spLocks xmlns:a="http://schemas.openxmlformats.org/drawingml/2006/main" noGrp="1"/>
          </p:cNvSpPr>
          <p:nvPr/>
        </p:nvSpPr>
        <p:spPr>
          <a:xfrm xmlns:a="http://schemas.openxmlformats.org/drawingml/2006/main">
            <a:off x="2914650" y="3457575"/>
            <a:ext cx="6816725" cy="304800"/>
          </a:xfrm>
          <a:prstGeom xmlns:a="http://schemas.openxmlformats.org/drawingml/2006/main" prst="roundRect">
            <a:avLst>
              <a:gd name="adj" fmla="val 37500"/>
            </a:avLst>
          </a:prstGeom>
          <a:solidFill xmlns:a="http://schemas.openxmlformats.org/drawingml/2006/main">
            <a:srgbClr val="D96C5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F315CF5-3DC1-4192-A5A0-C6940C46A66A}"/>
              </a:ext>
            </a:extLst>
          </p:cNvPr>
          <p:cNvSpPr>
            <a:spLocks xmlns:a="http://schemas.openxmlformats.org/drawingml/2006/main" noGrp="1"/>
          </p:cNvSpPr>
          <p:nvPr/>
        </p:nvSpPr>
        <p:spPr>
          <a:xfrm xmlns:a="http://schemas.openxmlformats.org/drawingml/2006/main">
            <a:off x="10287000" y="34004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75" b="1">
                <a:solidFill>
                  <a:srgbClr val="102A43"/>
                </a:solidFill>
                <a:latin typeface="Aptos Mono"/>
                <a:ea typeface="Aptos Mono"/>
                <a:cs typeface="Aptos Mono"/>
              </a:defRPr>
            </a:pPr>
            <a:r>
              <a:rPr sz="1275" b="1">
                <a:solidFill>
                  <a:srgbClr val="102A43"/>
                </a:solidFill>
                <a:latin typeface="Aptos Mono"/>
                <a:ea typeface="Aptos Mono"/>
                <a:cs typeface="Aptos Mono"/>
              </a:rPr>
              <a:t>1.62–2.90 s</a:t>
            </a:r>
          </a:p>
        </p:txBody>
      </p:sp>
      <p:sp>
        <p:nvSpPr>
          <p:cNvPr id="14" name="">
            <a:extLst xmlns:a="http://schemas.openxmlformats.org/drawingml/2006/main">
              <a:ext uri="{FF2B5EF4-FFF2-40B4-BE49-F238E27FC236}">
                <a16:creationId xmlns:a16="http://schemas.microsoft.com/office/drawing/2014/main" id="{E506CD2F-8B10-4E40-A752-046314F9D775}"/>
              </a:ext>
            </a:extLst>
          </p:cNvPr>
          <p:cNvSpPr>
            <a:spLocks xmlns:a="http://schemas.openxmlformats.org/drawingml/2006/main" noGrp="1"/>
          </p:cNvSpPr>
          <p:nvPr/>
        </p:nvSpPr>
        <p:spPr>
          <a:xfrm xmlns:a="http://schemas.openxmlformats.org/drawingml/2006/main">
            <a:off x="2914650" y="38766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Mono"/>
                <a:ea typeface="Aptos Mono"/>
                <a:cs typeface="Aptos Mono"/>
              </a:defRPr>
            </a:pPr>
            <a:r>
              <a:rPr sz="900" b="0">
                <a:solidFill>
                  <a:srgbClr val="4B687A"/>
                </a:solidFill>
                <a:latin typeface="Aptos Mono"/>
                <a:ea typeface="Aptos Mono"/>
                <a:cs typeface="Aptos Mono"/>
              </a:rPr>
              <a:t>measured · rich response</a:t>
            </a:r>
          </a:p>
        </p:txBody>
      </p:sp>
      <p:sp>
        <p:nvSpPr>
          <p:cNvPr id="15" name="">
            <a:extLst xmlns:a="http://schemas.openxmlformats.org/drawingml/2006/main">
              <a:ext uri="{FF2B5EF4-FFF2-40B4-BE49-F238E27FC236}">
                <a16:creationId xmlns:a16="http://schemas.microsoft.com/office/drawing/2014/main" id="{F6103FCF-62BF-46A3-9401-1D4C5B3E7DBA}"/>
              </a:ext>
            </a:extLst>
          </p:cNvPr>
          <p:cNvSpPr>
            <a:spLocks xmlns:a="http://schemas.openxmlformats.org/drawingml/2006/main" noGrp="1"/>
          </p:cNvSpPr>
          <p:nvPr/>
        </p:nvSpPr>
        <p:spPr>
          <a:xfrm xmlns:a="http://schemas.openxmlformats.org/drawingml/2006/main">
            <a:off x="819150" y="446722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latin typeface="Aptos"/>
                <a:ea typeface="Aptos"/>
                <a:cs typeface="Aptos"/>
              </a:defRPr>
            </a:pPr>
            <a:r>
              <a:rPr sz="1275" b="1">
                <a:solidFill>
                  <a:srgbClr val="102A43"/>
                </a:solidFill>
                <a:latin typeface="Aptos"/>
                <a:ea typeface="Aptos"/>
                <a:cs typeface="Aptos"/>
              </a:rPr>
              <a:t>Sarvam</a:t>
            </a:r>
          </a:p>
        </p:txBody>
      </p:sp>
      <p:sp>
        <p:nvSpPr>
          <p:cNvPr id="16" name="">
            <a:extLst xmlns:a="http://schemas.openxmlformats.org/drawingml/2006/main">
              <a:ext uri="{FF2B5EF4-FFF2-40B4-BE49-F238E27FC236}">
                <a16:creationId xmlns:a16="http://schemas.microsoft.com/office/drawing/2014/main" id="{1D87F48F-581F-48CB-89AF-AACF2033B2D5}"/>
              </a:ext>
            </a:extLst>
          </p:cNvPr>
          <p:cNvSpPr>
            <a:spLocks xmlns:a="http://schemas.openxmlformats.org/drawingml/2006/main" noGrp="1"/>
          </p:cNvSpPr>
          <p:nvPr/>
        </p:nvSpPr>
        <p:spPr>
          <a:xfrm xmlns:a="http://schemas.openxmlformats.org/drawingml/2006/main">
            <a:off x="2914650" y="4524375"/>
            <a:ext cx="1508125" cy="304800"/>
          </a:xfrm>
          <a:prstGeom xmlns:a="http://schemas.openxmlformats.org/drawingml/2006/main" prst="roundRect">
            <a:avLst>
              <a:gd name="adj" fmla="val 37500"/>
            </a:avLst>
          </a:prstGeom>
          <a:solidFill xmlns:a="http://schemas.openxmlformats.org/drawingml/2006/main">
            <a:srgbClr val="288DC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6E47A9-FAC3-42E7-A86A-7DFF86EBFE8D}"/>
              </a:ext>
            </a:extLst>
          </p:cNvPr>
          <p:cNvSpPr>
            <a:spLocks xmlns:a="http://schemas.openxmlformats.org/drawingml/2006/main" noGrp="1"/>
          </p:cNvSpPr>
          <p:nvPr/>
        </p:nvSpPr>
        <p:spPr>
          <a:xfrm xmlns:a="http://schemas.openxmlformats.org/drawingml/2006/main">
            <a:off x="10287000" y="44672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75" b="1">
                <a:solidFill>
                  <a:srgbClr val="102A43"/>
                </a:solidFill>
                <a:latin typeface="Aptos Mono"/>
                <a:ea typeface="Aptos Mono"/>
                <a:cs typeface="Aptos Mono"/>
              </a:defRPr>
            </a:pPr>
            <a:r>
              <a:rPr sz="1275" b="1">
                <a:solidFill>
                  <a:srgbClr val="102A43"/>
                </a:solidFill>
                <a:latin typeface="Aptos Mono"/>
                <a:ea typeface="Aptos Mono"/>
                <a:cs typeface="Aptos Mono"/>
              </a:rPr>
              <a:t>500 ms</a:t>
            </a:r>
          </a:p>
        </p:txBody>
      </p:sp>
      <p:sp>
        <p:nvSpPr>
          <p:cNvPr id="18" name="">
            <a:extLst xmlns:a="http://schemas.openxmlformats.org/drawingml/2006/main">
              <a:ext uri="{FF2B5EF4-FFF2-40B4-BE49-F238E27FC236}">
                <a16:creationId xmlns:a16="http://schemas.microsoft.com/office/drawing/2014/main" id="{FDF387B6-EB7B-4DE4-8213-C7E05D738CE7}"/>
              </a:ext>
            </a:extLst>
          </p:cNvPr>
          <p:cNvSpPr>
            <a:spLocks xmlns:a="http://schemas.openxmlformats.org/drawingml/2006/main" noGrp="1"/>
          </p:cNvSpPr>
          <p:nvPr/>
        </p:nvSpPr>
        <p:spPr>
          <a:xfrm xmlns:a="http://schemas.openxmlformats.org/drawingml/2006/main">
            <a:off x="2914650" y="49434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4B687A"/>
                </a:solidFill>
                <a:latin typeface="Aptos Mono"/>
                <a:ea typeface="Aptos Mono"/>
                <a:cs typeface="Aptos Mono"/>
              </a:defRPr>
            </a:pPr>
            <a:r>
              <a:rPr sz="900" b="0">
                <a:solidFill>
                  <a:srgbClr val="4B687A"/>
                </a:solidFill>
                <a:latin typeface="Aptos Mono"/>
                <a:ea typeface="Aptos Mono"/>
                <a:cs typeface="Aptos Mono"/>
              </a:rPr>
              <a:t>vendor claim · definition unpublished</a:t>
            </a:r>
          </a:p>
        </p:txBody>
      </p:sp>
      <p:sp>
        <p:nvSpPr>
          <p:cNvPr id="19" name="">
            <a:extLst xmlns:a="http://schemas.openxmlformats.org/drawingml/2006/main">
              <a:ext uri="{FF2B5EF4-FFF2-40B4-BE49-F238E27FC236}">
                <a16:creationId xmlns:a16="http://schemas.microsoft.com/office/drawing/2014/main" id="{033CB941-52A8-4033-B032-ED73E183CB68}"/>
              </a:ext>
            </a:extLst>
          </p:cNvPr>
          <p:cNvSpPr>
            <a:spLocks xmlns:a="http://schemas.openxmlformats.org/drawingml/2006/main" noGrp="1"/>
          </p:cNvSpPr>
          <p:nvPr/>
        </p:nvSpPr>
        <p:spPr>
          <a:xfrm xmlns:a="http://schemas.openxmlformats.org/drawingml/2006/main">
            <a:off x="3429000" y="563880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D96C5F"/>
                </a:solidFill>
                <a:latin typeface="Aptos"/>
                <a:ea typeface="Aptos"/>
                <a:cs typeface="Aptos"/>
              </a:defRPr>
            </a:pPr>
            <a:r>
              <a:rPr sz="1650" b="1">
                <a:solidFill>
                  <a:srgbClr val="D96C5F"/>
                </a:solidFill>
                <a:latin typeface="Aptos"/>
                <a:ea typeface="Aptos"/>
                <a:cs typeface="Aptos"/>
              </a:rPr>
              <a:t>NOT YET APPLES-TO-APPLES</a:t>
            </a:r>
          </a:p>
        </p:txBody>
      </p:sp>
      <p:sp>
        <p:nvSpPr>
          <p:cNvPr id="20" name="">
            <a:extLst xmlns:a="http://schemas.openxmlformats.org/drawingml/2006/main">
              <a:ext uri="{FF2B5EF4-FFF2-40B4-BE49-F238E27FC236}">
                <a16:creationId xmlns:a16="http://schemas.microsoft.com/office/drawing/2014/main" id="{9FA05026-323C-458D-8DDC-73E36E809F43}"/>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traces · Sarvam Voice Agents product page</a:t>
            </a:r>
          </a:p>
        </p:txBody>
      </p:sp>
    </p:spTree>
    <p:extLst>
      <p:ext uri="{BB962C8B-B14F-4D97-AF65-F5344CB8AC3E}">
        <p14:creationId xmlns:p14="http://schemas.microsoft.com/office/powerpoint/2010/main" val="80182088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e8789e188df47b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5E9824-1888-410E-8D8C-01221295A462}"/>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4DA062A6-C9C4-4764-B366-29A73A9C84CD}"/>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23</a:t>
            </a:r>
          </a:p>
        </p:txBody>
      </p:sp>
      <p:sp>
        <p:nvSpPr>
          <p:cNvPr id="4" name="">
            <a:extLst xmlns:a="http://schemas.openxmlformats.org/drawingml/2006/main">
              <a:ext uri="{FF2B5EF4-FFF2-40B4-BE49-F238E27FC236}">
                <a16:creationId xmlns:a16="http://schemas.microsoft.com/office/drawing/2014/main" id="{488C364E-73E7-409B-B5EC-CA3239406FCE}"/>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0EF1E77B-7E33-430A-AF50-1C7C3EE4E9A2}"/>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Why India is a voice market</a:t>
            </a:r>
          </a:p>
        </p:txBody>
      </p:sp>
      <p:sp>
        <p:nvSpPr>
          <p:cNvPr id="6" name="">
            <a:extLst xmlns:a="http://schemas.openxmlformats.org/drawingml/2006/main">
              <a:ext uri="{FF2B5EF4-FFF2-40B4-BE49-F238E27FC236}">
                <a16:creationId xmlns:a16="http://schemas.microsoft.com/office/drawing/2014/main" id="{A3D3F3DA-0498-47F6-89A0-3A1DE90ABBE8}"/>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B2B8F72B-8124-4F4F-8182-E24B4E5EC757}"/>
              </a:ext>
            </a:extLst>
          </p:cNvPr>
          <p:cNvSpPr>
            <a:spLocks xmlns:a="http://schemas.openxmlformats.org/drawingml/2006/main" noGrp="1"/>
          </p:cNvSpPr>
          <p:nvPr/>
        </p:nvSpPr>
        <p:spPr>
          <a:xfrm xmlns:a="http://schemas.openxmlformats.org/drawingml/2006/main">
            <a:off x="819150" y="2095500"/>
            <a:ext cx="228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288DC1"/>
                </a:solidFill>
                <a:latin typeface="Aptos Mono"/>
                <a:ea typeface="Aptos Mono"/>
                <a:cs typeface="Aptos Mono"/>
              </a:defRPr>
            </a:pPr>
            <a:r>
              <a:rPr sz="3300" b="1">
                <a:solidFill>
                  <a:srgbClr val="288DC1"/>
                </a:solidFill>
                <a:latin typeface="Aptos Mono"/>
                <a:ea typeface="Aptos Mono"/>
                <a:cs typeface="Aptos Mono"/>
              </a:rPr>
              <a:t>22</a:t>
            </a:r>
          </a:p>
        </p:txBody>
      </p:sp>
      <p:sp>
        <p:nvSpPr>
          <p:cNvPr id="8" name="">
            <a:extLst xmlns:a="http://schemas.openxmlformats.org/drawingml/2006/main">
              <a:ext uri="{FF2B5EF4-FFF2-40B4-BE49-F238E27FC236}">
                <a16:creationId xmlns:a16="http://schemas.microsoft.com/office/drawing/2014/main" id="{6720DE0B-D94C-4217-95EB-B57C3AAE5BBD}"/>
              </a:ext>
            </a:extLst>
          </p:cNvPr>
          <p:cNvSpPr>
            <a:spLocks xmlns:a="http://schemas.openxmlformats.org/drawingml/2006/main" noGrp="1"/>
          </p:cNvSpPr>
          <p:nvPr/>
        </p:nvSpPr>
        <p:spPr>
          <a:xfrm xmlns:a="http://schemas.openxmlformats.org/drawingml/2006/main">
            <a:off x="2914650" y="215265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02A43"/>
                </a:solidFill>
                <a:latin typeface="Aptos"/>
                <a:ea typeface="Aptos"/>
                <a:cs typeface="Aptos"/>
              </a:defRPr>
            </a:pPr>
            <a:r>
              <a:rPr sz="1500" b="1">
                <a:solidFill>
                  <a:srgbClr val="102A43"/>
                </a:solidFill>
                <a:latin typeface="Aptos"/>
                <a:ea typeface="Aptos"/>
                <a:cs typeface="Aptos"/>
              </a:rPr>
              <a:t>official languages</a:t>
            </a:r>
          </a:p>
        </p:txBody>
      </p:sp>
      <p:sp>
        <p:nvSpPr>
          <p:cNvPr id="9" name="">
            <a:extLst xmlns:a="http://schemas.openxmlformats.org/drawingml/2006/main">
              <a:ext uri="{FF2B5EF4-FFF2-40B4-BE49-F238E27FC236}">
                <a16:creationId xmlns:a16="http://schemas.microsoft.com/office/drawing/2014/main" id="{32E45607-4D3D-4CD0-9C58-747E2E6CEA66}"/>
              </a:ext>
            </a:extLst>
          </p:cNvPr>
          <p:cNvSpPr>
            <a:spLocks xmlns:a="http://schemas.openxmlformats.org/drawingml/2006/main" noGrp="1"/>
          </p:cNvSpPr>
          <p:nvPr/>
        </p:nvSpPr>
        <p:spPr>
          <a:xfrm xmlns:a="http://schemas.openxmlformats.org/drawingml/2006/main">
            <a:off x="819150" y="3162300"/>
            <a:ext cx="47625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0" name="">
            <a:extLst xmlns:a="http://schemas.openxmlformats.org/drawingml/2006/main">
              <a:ext uri="{FF2B5EF4-FFF2-40B4-BE49-F238E27FC236}">
                <a16:creationId xmlns:a16="http://schemas.microsoft.com/office/drawing/2014/main" id="{31D4E924-0C61-4C7F-86DA-C29EF1451D6A}"/>
              </a:ext>
            </a:extLst>
          </p:cNvPr>
          <p:cNvSpPr>
            <a:spLocks xmlns:a="http://schemas.openxmlformats.org/drawingml/2006/main" noGrp="1"/>
          </p:cNvSpPr>
          <p:nvPr/>
        </p:nvSpPr>
        <p:spPr>
          <a:xfrm xmlns:a="http://schemas.openxmlformats.org/drawingml/2006/main">
            <a:off x="6105525" y="2095500"/>
            <a:ext cx="228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268C82"/>
                </a:solidFill>
                <a:latin typeface="Aptos Mono"/>
                <a:ea typeface="Aptos Mono"/>
                <a:cs typeface="Aptos Mono"/>
              </a:defRPr>
            </a:pPr>
            <a:r>
              <a:rPr sz="3300" b="1">
                <a:solidFill>
                  <a:srgbClr val="268C82"/>
                </a:solidFill>
                <a:latin typeface="Aptos Mono"/>
                <a:ea typeface="Aptos Mono"/>
                <a:cs typeface="Aptos Mono"/>
              </a:rPr>
              <a:t>2M+</a:t>
            </a:r>
          </a:p>
        </p:txBody>
      </p:sp>
      <p:sp>
        <p:nvSpPr>
          <p:cNvPr id="11" name="">
            <a:extLst xmlns:a="http://schemas.openxmlformats.org/drawingml/2006/main">
              <a:ext uri="{FF2B5EF4-FFF2-40B4-BE49-F238E27FC236}">
                <a16:creationId xmlns:a16="http://schemas.microsoft.com/office/drawing/2014/main" id="{3A66D44D-A66F-4893-8AFC-D7C70D4A7A1C}"/>
              </a:ext>
            </a:extLst>
          </p:cNvPr>
          <p:cNvSpPr>
            <a:spLocks xmlns:a="http://schemas.openxmlformats.org/drawingml/2006/main" noGrp="1"/>
          </p:cNvSpPr>
          <p:nvPr/>
        </p:nvSpPr>
        <p:spPr>
          <a:xfrm xmlns:a="http://schemas.openxmlformats.org/drawingml/2006/main">
            <a:off x="8201025" y="215265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02A43"/>
                </a:solidFill>
                <a:latin typeface="Aptos"/>
                <a:ea typeface="Aptos"/>
                <a:cs typeface="Aptos"/>
              </a:defRPr>
            </a:pPr>
            <a:r>
              <a:rPr sz="1500" b="1">
                <a:solidFill>
                  <a:srgbClr val="102A43"/>
                </a:solidFill>
                <a:latin typeface="Aptos"/>
                <a:ea typeface="Aptos"/>
                <a:cs typeface="Aptos"/>
              </a:rPr>
              <a:t>voice conversations/day¹</a:t>
            </a:r>
          </a:p>
        </p:txBody>
      </p:sp>
      <p:sp>
        <p:nvSpPr>
          <p:cNvPr id="12" name="">
            <a:extLst xmlns:a="http://schemas.openxmlformats.org/drawingml/2006/main">
              <a:ext uri="{FF2B5EF4-FFF2-40B4-BE49-F238E27FC236}">
                <a16:creationId xmlns:a16="http://schemas.microsoft.com/office/drawing/2014/main" id="{B158F6A5-620F-4EB7-9778-B75188E590C1}"/>
              </a:ext>
            </a:extLst>
          </p:cNvPr>
          <p:cNvSpPr>
            <a:spLocks xmlns:a="http://schemas.openxmlformats.org/drawingml/2006/main" noGrp="1"/>
          </p:cNvSpPr>
          <p:nvPr/>
        </p:nvSpPr>
        <p:spPr>
          <a:xfrm xmlns:a="http://schemas.openxmlformats.org/drawingml/2006/main">
            <a:off x="6105525" y="3162300"/>
            <a:ext cx="47625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3" name="">
            <a:extLst xmlns:a="http://schemas.openxmlformats.org/drawingml/2006/main">
              <a:ext uri="{FF2B5EF4-FFF2-40B4-BE49-F238E27FC236}">
                <a16:creationId xmlns:a16="http://schemas.microsoft.com/office/drawing/2014/main" id="{AAF95376-2546-4583-A86C-1A1E646FD3D9}"/>
              </a:ext>
            </a:extLst>
          </p:cNvPr>
          <p:cNvSpPr>
            <a:spLocks xmlns:a="http://schemas.openxmlformats.org/drawingml/2006/main" noGrp="1"/>
          </p:cNvSpPr>
          <p:nvPr/>
        </p:nvSpPr>
        <p:spPr>
          <a:xfrm xmlns:a="http://schemas.openxmlformats.org/drawingml/2006/main">
            <a:off x="819150" y="3905250"/>
            <a:ext cx="228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288DC1"/>
                </a:solidFill>
                <a:latin typeface="Aptos Mono"/>
                <a:ea typeface="Aptos Mono"/>
                <a:cs typeface="Aptos Mono"/>
              </a:defRPr>
            </a:pPr>
            <a:r>
              <a:rPr sz="3300" b="1">
                <a:solidFill>
                  <a:srgbClr val="288DC1"/>
                </a:solidFill>
                <a:latin typeface="Aptos Mono"/>
                <a:ea typeface="Aptos Mono"/>
                <a:cs typeface="Aptos Mono"/>
              </a:rPr>
              <a:t>₹3.50</a:t>
            </a:r>
          </a:p>
        </p:txBody>
      </p:sp>
      <p:sp>
        <p:nvSpPr>
          <p:cNvPr id="14" name="">
            <a:extLst xmlns:a="http://schemas.openxmlformats.org/drawingml/2006/main">
              <a:ext uri="{FF2B5EF4-FFF2-40B4-BE49-F238E27FC236}">
                <a16:creationId xmlns:a16="http://schemas.microsoft.com/office/drawing/2014/main" id="{C74E9FD6-2200-4473-A70D-CE46B9A8CAF8}"/>
              </a:ext>
            </a:extLst>
          </p:cNvPr>
          <p:cNvSpPr>
            <a:spLocks xmlns:a="http://schemas.openxmlformats.org/drawingml/2006/main" noGrp="1"/>
          </p:cNvSpPr>
          <p:nvPr/>
        </p:nvSpPr>
        <p:spPr>
          <a:xfrm xmlns:a="http://schemas.openxmlformats.org/drawingml/2006/main">
            <a:off x="2914650" y="396240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02A43"/>
                </a:solidFill>
                <a:latin typeface="Aptos"/>
                <a:ea typeface="Aptos"/>
                <a:cs typeface="Aptos"/>
              </a:defRPr>
            </a:pPr>
            <a:r>
              <a:rPr sz="1500" b="1">
                <a:solidFill>
                  <a:srgbClr val="102A43"/>
                </a:solidFill>
                <a:latin typeface="Aptos"/>
                <a:ea typeface="Aptos"/>
                <a:cs typeface="Aptos"/>
              </a:rPr>
              <a:t>per minute¹</a:t>
            </a:r>
          </a:p>
        </p:txBody>
      </p:sp>
      <p:sp>
        <p:nvSpPr>
          <p:cNvPr id="15" name="">
            <a:extLst xmlns:a="http://schemas.openxmlformats.org/drawingml/2006/main">
              <a:ext uri="{FF2B5EF4-FFF2-40B4-BE49-F238E27FC236}">
                <a16:creationId xmlns:a16="http://schemas.microsoft.com/office/drawing/2014/main" id="{F67134D7-6B2F-4F0F-8B5B-BD668487161B}"/>
              </a:ext>
            </a:extLst>
          </p:cNvPr>
          <p:cNvSpPr>
            <a:spLocks xmlns:a="http://schemas.openxmlformats.org/drawingml/2006/main" noGrp="1"/>
          </p:cNvSpPr>
          <p:nvPr/>
        </p:nvSpPr>
        <p:spPr>
          <a:xfrm xmlns:a="http://schemas.openxmlformats.org/drawingml/2006/main">
            <a:off x="819150" y="4972050"/>
            <a:ext cx="47625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6" name="">
            <a:extLst xmlns:a="http://schemas.openxmlformats.org/drawingml/2006/main">
              <a:ext uri="{FF2B5EF4-FFF2-40B4-BE49-F238E27FC236}">
                <a16:creationId xmlns:a16="http://schemas.microsoft.com/office/drawing/2014/main" id="{238D6E0A-B29E-4435-AFB7-50107B79826A}"/>
              </a:ext>
            </a:extLst>
          </p:cNvPr>
          <p:cNvSpPr>
            <a:spLocks xmlns:a="http://schemas.openxmlformats.org/drawingml/2006/main" noGrp="1"/>
          </p:cNvSpPr>
          <p:nvPr/>
        </p:nvSpPr>
        <p:spPr>
          <a:xfrm xmlns:a="http://schemas.openxmlformats.org/drawingml/2006/main">
            <a:off x="6105525" y="3905250"/>
            <a:ext cx="228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288DC1"/>
                </a:solidFill>
                <a:latin typeface="Aptos Mono"/>
                <a:ea typeface="Aptos Mono"/>
                <a:cs typeface="Aptos Mono"/>
              </a:defRPr>
            </a:pPr>
            <a:r>
              <a:rPr sz="3300" b="1">
                <a:solidFill>
                  <a:srgbClr val="288DC1"/>
                </a:solidFill>
                <a:latin typeface="Aptos Mono"/>
                <a:ea typeface="Aptos Mono"/>
                <a:cs typeface="Aptos Mono"/>
              </a:rPr>
              <a:t>$6.3M</a:t>
            </a:r>
          </a:p>
        </p:txBody>
      </p:sp>
      <p:sp>
        <p:nvSpPr>
          <p:cNvPr id="17" name="">
            <a:extLst xmlns:a="http://schemas.openxmlformats.org/drawingml/2006/main">
              <a:ext uri="{FF2B5EF4-FFF2-40B4-BE49-F238E27FC236}">
                <a16:creationId xmlns:a16="http://schemas.microsoft.com/office/drawing/2014/main" id="{017C1DD0-96BC-4086-86C0-53686462ED5A}"/>
              </a:ext>
            </a:extLst>
          </p:cNvPr>
          <p:cNvSpPr>
            <a:spLocks xmlns:a="http://schemas.openxmlformats.org/drawingml/2006/main" noGrp="1"/>
          </p:cNvSpPr>
          <p:nvPr/>
        </p:nvSpPr>
        <p:spPr>
          <a:xfrm xmlns:a="http://schemas.openxmlformats.org/drawingml/2006/main">
            <a:off x="8201025" y="396240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02A43"/>
                </a:solidFill>
                <a:latin typeface="Aptos"/>
                <a:ea typeface="Aptos"/>
                <a:cs typeface="Aptos"/>
              </a:defRPr>
            </a:pPr>
            <a:r>
              <a:rPr sz="1500" b="1">
                <a:solidFill>
                  <a:srgbClr val="102A43"/>
                </a:solidFill>
                <a:latin typeface="Aptos"/>
                <a:ea typeface="Aptos"/>
                <a:cs typeface="Aptos"/>
              </a:rPr>
              <a:t>Bolna seed · 2026</a:t>
            </a:r>
          </a:p>
        </p:txBody>
      </p:sp>
      <p:sp>
        <p:nvSpPr>
          <p:cNvPr id="18" name="">
            <a:extLst xmlns:a="http://schemas.openxmlformats.org/drawingml/2006/main">
              <a:ext uri="{FF2B5EF4-FFF2-40B4-BE49-F238E27FC236}">
                <a16:creationId xmlns:a16="http://schemas.microsoft.com/office/drawing/2014/main" id="{AEF7F8E6-3634-40F4-BB3E-8BB41267591A}"/>
              </a:ext>
            </a:extLst>
          </p:cNvPr>
          <p:cNvSpPr>
            <a:spLocks xmlns:a="http://schemas.openxmlformats.org/drawingml/2006/main" noGrp="1"/>
          </p:cNvSpPr>
          <p:nvPr/>
        </p:nvSpPr>
        <p:spPr>
          <a:xfrm xmlns:a="http://schemas.openxmlformats.org/drawingml/2006/main">
            <a:off x="6105525" y="4972050"/>
            <a:ext cx="47625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19" name="">
            <a:extLst xmlns:a="http://schemas.openxmlformats.org/drawingml/2006/main">
              <a:ext uri="{FF2B5EF4-FFF2-40B4-BE49-F238E27FC236}">
                <a16:creationId xmlns:a16="http://schemas.microsoft.com/office/drawing/2014/main" id="{3FE5E315-3141-476D-A451-42F0D402F165}"/>
              </a:ext>
            </a:extLst>
          </p:cNvPr>
          <p:cNvSpPr>
            <a:spLocks xmlns:a="http://schemas.openxmlformats.org/drawingml/2006/main" noGrp="1"/>
          </p:cNvSpPr>
          <p:nvPr/>
        </p:nvSpPr>
        <p:spPr>
          <a:xfrm xmlns:a="http://schemas.openxmlformats.org/drawingml/2006/main">
            <a:off x="3143250" y="581025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D96C5F"/>
                </a:solidFill>
                <a:latin typeface="Aptos"/>
                <a:ea typeface="Aptos"/>
                <a:cs typeface="Aptos"/>
              </a:defRPr>
            </a:pPr>
            <a:r>
              <a:rPr sz="1350" b="1">
                <a:solidFill>
                  <a:srgbClr val="D96C5F"/>
                </a:solidFill>
                <a:latin typeface="Aptos"/>
                <a:ea typeface="Aptos"/>
                <a:cs typeface="Aptos"/>
              </a:rPr>
              <a:t>Signals—not a top-down TAM proof.</a:t>
            </a:r>
          </a:p>
        </p:txBody>
      </p:sp>
      <p:sp>
        <p:nvSpPr>
          <p:cNvPr id="20" name="">
            <a:extLst xmlns:a="http://schemas.openxmlformats.org/drawingml/2006/main">
              <a:ext uri="{FF2B5EF4-FFF2-40B4-BE49-F238E27FC236}">
                <a16:creationId xmlns:a16="http://schemas.microsoft.com/office/drawing/2014/main" id="{36D88BA6-34EC-4A83-9B5C-8E16F00F21F8}"/>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¹Sarvam claims · Bolna funding announcement</a:t>
            </a:r>
          </a:p>
        </p:txBody>
      </p:sp>
    </p:spTree>
    <p:extLst>
      <p:ext uri="{BB962C8B-B14F-4D97-AF65-F5344CB8AC3E}">
        <p14:creationId xmlns:p14="http://schemas.microsoft.com/office/powerpoint/2010/main" val="119573920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ab3cb9878c84c1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079FF5-D4B4-4CA6-981E-E9FC4DA67B6F}"/>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C84363CD-CA42-4204-86D4-7813FE1E13BE}"/>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24</a:t>
            </a:r>
          </a:p>
        </p:txBody>
      </p:sp>
      <p:sp>
        <p:nvSpPr>
          <p:cNvPr id="4" name="">
            <a:extLst xmlns:a="http://schemas.openxmlformats.org/drawingml/2006/main">
              <a:ext uri="{FF2B5EF4-FFF2-40B4-BE49-F238E27FC236}">
                <a16:creationId xmlns:a16="http://schemas.microsoft.com/office/drawing/2014/main" id="{64931756-8E6A-4F76-BC3A-CB693AD2ADCD}"/>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3ED680ED-383A-40C4-9AFC-42FD06BDD40E}"/>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The wedge: remove junk work, not humans</a:t>
            </a:r>
          </a:p>
        </p:txBody>
      </p:sp>
      <p:sp>
        <p:nvSpPr>
          <p:cNvPr id="6" name="">
            <a:extLst xmlns:a="http://schemas.openxmlformats.org/drawingml/2006/main">
              <a:ext uri="{FF2B5EF4-FFF2-40B4-BE49-F238E27FC236}">
                <a16:creationId xmlns:a16="http://schemas.microsoft.com/office/drawing/2014/main" id="{35099627-3A52-445A-918C-FCE28C5283E5}"/>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D5CDF520-42ED-462F-A5CF-A4F5400366A3}"/>
              </a:ext>
            </a:extLst>
          </p:cNvPr>
          <p:cNvSpPr>
            <a:spLocks xmlns:a="http://schemas.openxmlformats.org/drawingml/2006/main" noGrp="1"/>
          </p:cNvSpPr>
          <p:nvPr/>
        </p:nvSpPr>
        <p:spPr>
          <a:xfrm xmlns:a="http://schemas.openxmlformats.org/drawingml/2006/main">
            <a:off x="1809750" y="2076450"/>
            <a:ext cx="8572500" cy="571500"/>
          </a:xfrm>
          <a:prstGeom xmlns:a="http://schemas.openxmlformats.org/drawingml/2006/main" prst="roundRect">
            <a:avLst>
              <a:gd name="adj" fmla="val 26667"/>
            </a:avLst>
          </a:prstGeom>
          <a:solidFill xmlns:a="http://schemas.openxmlformats.org/drawingml/2006/main">
            <a:srgbClr val="DDEFF3"/>
          </a:solidFill>
          <a:ln xmlns:a="http://schemas.openxmlformats.org/drawingml/2006/main" w="9525">
            <a:solidFill>
              <a:srgbClr val="288DC1"/>
            </a:solidFill>
            <a:prstDash val="solid"/>
          </a:ln>
        </p:spPr>
      </p:sp>
      <p:sp>
        <p:nvSpPr>
          <p:cNvPr id="8" name="">
            <a:extLst xmlns:a="http://schemas.openxmlformats.org/drawingml/2006/main">
              <a:ext uri="{FF2B5EF4-FFF2-40B4-BE49-F238E27FC236}">
                <a16:creationId xmlns:a16="http://schemas.microsoft.com/office/drawing/2014/main" id="{8E79813A-2C9C-495D-AE33-A3B020A0E05A}"/>
              </a:ext>
            </a:extLst>
          </p:cNvPr>
          <p:cNvSpPr>
            <a:spLocks xmlns:a="http://schemas.openxmlformats.org/drawingml/2006/main" noGrp="1"/>
          </p:cNvSpPr>
          <p:nvPr/>
        </p:nvSpPr>
        <p:spPr>
          <a:xfrm xmlns:a="http://schemas.openxmlformats.org/drawingml/2006/main">
            <a:off x="2857500" y="2857500"/>
            <a:ext cx="6477000" cy="571500"/>
          </a:xfrm>
          <a:prstGeom xmlns:a="http://schemas.openxmlformats.org/drawingml/2006/main" prst="roundRect">
            <a:avLst>
              <a:gd name="adj" fmla="val 26667"/>
            </a:avLst>
          </a:prstGeom>
          <a:solidFill xmlns:a="http://schemas.openxmlformats.org/drawingml/2006/main">
            <a:srgbClr val="DDEFF3"/>
          </a:solidFill>
          <a:ln xmlns:a="http://schemas.openxmlformats.org/drawingml/2006/main" w="9525">
            <a:solidFill>
              <a:srgbClr val="288DC1"/>
            </a:solidFill>
            <a:prstDash val="solid"/>
          </a:ln>
        </p:spPr>
      </p:sp>
      <p:sp>
        <p:nvSpPr>
          <p:cNvPr id="9" name="">
            <a:extLst xmlns:a="http://schemas.openxmlformats.org/drawingml/2006/main">
              <a:ext uri="{FF2B5EF4-FFF2-40B4-BE49-F238E27FC236}">
                <a16:creationId xmlns:a16="http://schemas.microsoft.com/office/drawing/2014/main" id="{7027BF26-9DE8-452C-BE1A-30FEBCCF8A3B}"/>
              </a:ext>
            </a:extLst>
          </p:cNvPr>
          <p:cNvSpPr>
            <a:spLocks xmlns:a="http://schemas.openxmlformats.org/drawingml/2006/main" noGrp="1"/>
          </p:cNvSpPr>
          <p:nvPr/>
        </p:nvSpPr>
        <p:spPr>
          <a:xfrm xmlns:a="http://schemas.openxmlformats.org/drawingml/2006/main">
            <a:off x="3905250" y="3638550"/>
            <a:ext cx="4381500" cy="571500"/>
          </a:xfrm>
          <a:prstGeom xmlns:a="http://schemas.openxmlformats.org/drawingml/2006/main" prst="roundRect">
            <a:avLst>
              <a:gd name="adj" fmla="val 26667"/>
            </a:avLst>
          </a:prstGeom>
          <a:solidFill xmlns:a="http://schemas.openxmlformats.org/drawingml/2006/main">
            <a:srgbClr val="DDEFF3"/>
          </a:solidFill>
          <a:ln xmlns:a="http://schemas.openxmlformats.org/drawingml/2006/main" w="9525">
            <a:solidFill>
              <a:srgbClr val="288DC1"/>
            </a:solidFill>
            <a:prstDash val="solid"/>
          </a:ln>
        </p:spPr>
      </p:sp>
      <p:sp>
        <p:nvSpPr>
          <p:cNvPr id="10" name="">
            <a:extLst xmlns:a="http://schemas.openxmlformats.org/drawingml/2006/main">
              <a:ext uri="{FF2B5EF4-FFF2-40B4-BE49-F238E27FC236}">
                <a16:creationId xmlns:a16="http://schemas.microsoft.com/office/drawing/2014/main" id="{BA01530D-1948-4C0C-944E-5274B984C69E}"/>
              </a:ext>
            </a:extLst>
          </p:cNvPr>
          <p:cNvSpPr>
            <a:spLocks xmlns:a="http://schemas.openxmlformats.org/drawingml/2006/main" noGrp="1"/>
          </p:cNvSpPr>
          <p:nvPr/>
        </p:nvSpPr>
        <p:spPr>
          <a:xfrm xmlns:a="http://schemas.openxmlformats.org/drawingml/2006/main">
            <a:off x="4905375" y="4419600"/>
            <a:ext cx="2381250" cy="571500"/>
          </a:xfrm>
          <a:prstGeom xmlns:a="http://schemas.openxmlformats.org/drawingml/2006/main" prst="roundRect">
            <a:avLst>
              <a:gd name="adj" fmla="val 26667"/>
            </a:avLst>
          </a:prstGeom>
          <a:solidFill xmlns:a="http://schemas.openxmlformats.org/drawingml/2006/main">
            <a:srgbClr val="268C82"/>
          </a:solidFill>
          <a:ln xmlns:a="http://schemas.openxmlformats.org/drawingml/2006/main" w="9525">
            <a:solidFill>
              <a:srgbClr val="268C82"/>
            </a:solidFill>
            <a:prstDash val="solid"/>
          </a:ln>
        </p:spPr>
      </p:sp>
      <p:sp>
        <p:nvSpPr>
          <p:cNvPr id="11" name="">
            <a:extLst xmlns:a="http://schemas.openxmlformats.org/drawingml/2006/main">
              <a:ext uri="{FF2B5EF4-FFF2-40B4-BE49-F238E27FC236}">
                <a16:creationId xmlns:a16="http://schemas.microsoft.com/office/drawing/2014/main" id="{C2981028-C944-4391-9C83-7690B4BF99DC}"/>
              </a:ext>
            </a:extLst>
          </p:cNvPr>
          <p:cNvSpPr>
            <a:spLocks xmlns:a="http://schemas.openxmlformats.org/drawingml/2006/main" noGrp="1"/>
          </p:cNvSpPr>
          <p:nvPr/>
        </p:nvSpPr>
        <p:spPr>
          <a:xfrm xmlns:a="http://schemas.openxmlformats.org/drawingml/2006/main">
            <a:off x="1676400" y="224790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88DC1"/>
                </a:solidFill>
                <a:latin typeface="Aptos"/>
                <a:ea typeface="Aptos"/>
                <a:cs typeface="Aptos"/>
              </a:defRPr>
            </a:pPr>
            <a:r>
              <a:rPr sz="1125" b="1">
                <a:solidFill>
                  <a:srgbClr val="288DC1"/>
                </a:solidFill>
                <a:latin typeface="Aptos"/>
                <a:ea typeface="Aptos"/>
                <a:cs typeface="Aptos"/>
              </a:rPr>
              <a:t>AI</a:t>
            </a:r>
          </a:p>
        </p:txBody>
      </p:sp>
      <p:sp>
        <p:nvSpPr>
          <p:cNvPr id="12" name="">
            <a:extLst xmlns:a="http://schemas.openxmlformats.org/drawingml/2006/main">
              <a:ext uri="{FF2B5EF4-FFF2-40B4-BE49-F238E27FC236}">
                <a16:creationId xmlns:a16="http://schemas.microsoft.com/office/drawing/2014/main" id="{70C00104-CD06-44E5-89FB-06B1E900853E}"/>
              </a:ext>
            </a:extLst>
          </p:cNvPr>
          <p:cNvSpPr>
            <a:spLocks xmlns:a="http://schemas.openxmlformats.org/drawingml/2006/main" noGrp="1"/>
          </p:cNvSpPr>
          <p:nvPr/>
        </p:nvSpPr>
        <p:spPr>
          <a:xfrm xmlns:a="http://schemas.openxmlformats.org/drawingml/2006/main">
            <a:off x="2952750" y="2152650"/>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2A43"/>
                </a:solidFill>
                <a:latin typeface="Aptos"/>
                <a:ea typeface="Aptos"/>
                <a:cs typeface="Aptos"/>
              </a:defRPr>
            </a:pPr>
            <a:r>
              <a:rPr sz="1350" b="1">
                <a:solidFill>
                  <a:srgbClr val="102A43"/>
                </a:solidFill>
                <a:latin typeface="Aptos"/>
                <a:ea typeface="Aptos"/>
                <a:cs typeface="Aptos"/>
              </a:rPr>
              <a:t>permission · intent · FAQs · qualification · follow-up</a:t>
            </a:r>
          </a:p>
        </p:txBody>
      </p:sp>
      <p:sp>
        <p:nvSpPr>
          <p:cNvPr id="13" name="">
            <a:extLst xmlns:a="http://schemas.openxmlformats.org/drawingml/2006/main">
              <a:ext uri="{FF2B5EF4-FFF2-40B4-BE49-F238E27FC236}">
                <a16:creationId xmlns:a16="http://schemas.microsoft.com/office/drawing/2014/main" id="{1192E54F-0E1D-4537-9374-C0D82822B0E2}"/>
              </a:ext>
            </a:extLst>
          </p:cNvPr>
          <p:cNvSpPr>
            <a:spLocks xmlns:a="http://schemas.openxmlformats.org/drawingml/2006/main" noGrp="1"/>
          </p:cNvSpPr>
          <p:nvPr/>
        </p:nvSpPr>
        <p:spPr>
          <a:xfrm xmlns:a="http://schemas.openxmlformats.org/drawingml/2006/main">
            <a:off x="4714875" y="45529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8EA"/>
                </a:solidFill>
                <a:latin typeface="Aptos"/>
                <a:ea typeface="Aptos"/>
                <a:cs typeface="Aptos"/>
              </a:defRPr>
            </a:pPr>
            <a:r>
              <a:rPr sz="1125" b="1">
                <a:solidFill>
                  <a:srgbClr val="FFF8EA"/>
                </a:solidFill>
                <a:latin typeface="Aptos"/>
                <a:ea typeface="Aptos"/>
                <a:cs typeface="Aptos"/>
              </a:rPr>
              <a:t>HUMAN ADVISOR</a:t>
            </a:r>
          </a:p>
        </p:txBody>
      </p:sp>
      <p:sp>
        <p:nvSpPr>
          <p:cNvPr id="14" name="">
            <a:extLst xmlns:a="http://schemas.openxmlformats.org/drawingml/2006/main">
              <a:ext uri="{FF2B5EF4-FFF2-40B4-BE49-F238E27FC236}">
                <a16:creationId xmlns:a16="http://schemas.microsoft.com/office/drawing/2014/main" id="{618C2CEB-E5F0-436F-A5F0-FB78D85E030D}"/>
              </a:ext>
            </a:extLst>
          </p:cNvPr>
          <p:cNvSpPr>
            <a:spLocks xmlns:a="http://schemas.openxmlformats.org/drawingml/2006/main" noGrp="1"/>
          </p:cNvSpPr>
          <p:nvPr/>
        </p:nvSpPr>
        <p:spPr>
          <a:xfrm xmlns:a="http://schemas.openxmlformats.org/drawingml/2006/main">
            <a:off x="3143250" y="528637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trust · nuance · negotiation · closure</a:t>
            </a:r>
          </a:p>
        </p:txBody>
      </p:sp>
      <p:sp>
        <p:nvSpPr>
          <p:cNvPr id="15" name="">
            <a:extLst xmlns:a="http://schemas.openxmlformats.org/drawingml/2006/main">
              <a:ext uri="{FF2B5EF4-FFF2-40B4-BE49-F238E27FC236}">
                <a16:creationId xmlns:a16="http://schemas.microsoft.com/office/drawing/2014/main" id="{A7D38705-1666-4E8F-81B8-1B21E1C38AB4}"/>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Proposed ASBL pilot workflow</a:t>
            </a:r>
          </a:p>
        </p:txBody>
      </p:sp>
    </p:spTree>
    <p:extLst>
      <p:ext uri="{BB962C8B-B14F-4D97-AF65-F5344CB8AC3E}">
        <p14:creationId xmlns:p14="http://schemas.microsoft.com/office/powerpoint/2010/main" val="183629313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095086694a34c8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69C0AC-EEA8-4BA7-8796-176EAFF12D5F}"/>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BF4614C0-63D7-43E8-84CB-D12092405015}"/>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25</a:t>
            </a:r>
          </a:p>
        </p:txBody>
      </p:sp>
      <p:sp>
        <p:nvSpPr>
          <p:cNvPr id="4" name="">
            <a:extLst xmlns:a="http://schemas.openxmlformats.org/drawingml/2006/main">
              <a:ext uri="{FF2B5EF4-FFF2-40B4-BE49-F238E27FC236}">
                <a16:creationId xmlns:a16="http://schemas.microsoft.com/office/drawing/2014/main" id="{FFA81925-9A0C-4FCD-9266-75F235692EF3}"/>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8127A02C-B1E3-4236-B163-FC19E72B1EF2}"/>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Prototype → production voice system</a:t>
            </a:r>
          </a:p>
        </p:txBody>
      </p:sp>
      <p:sp>
        <p:nvSpPr>
          <p:cNvPr id="6" name="">
            <a:extLst xmlns:a="http://schemas.openxmlformats.org/drawingml/2006/main">
              <a:ext uri="{FF2B5EF4-FFF2-40B4-BE49-F238E27FC236}">
                <a16:creationId xmlns:a16="http://schemas.microsoft.com/office/drawing/2014/main" id="{34EAE3AD-3E42-42B3-B676-39CDFE2649B1}"/>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6F866525-9554-4757-80C4-32D334812D61}"/>
              </a:ext>
            </a:extLst>
          </p:cNvPr>
          <p:cNvSpPr>
            <a:spLocks xmlns:a="http://schemas.openxmlformats.org/drawingml/2006/main" noGrp="1"/>
          </p:cNvSpPr>
          <p:nvPr/>
        </p:nvSpPr>
        <p:spPr>
          <a:xfrm xmlns:a="http://schemas.openxmlformats.org/drawingml/2006/main">
            <a:off x="838200" y="215265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C3D11A2-4441-4F94-A586-5E70EE3FE178}"/>
              </a:ext>
            </a:extLst>
          </p:cNvPr>
          <p:cNvSpPr>
            <a:spLocks xmlns:a="http://schemas.openxmlformats.org/drawingml/2006/main" noGrp="1"/>
          </p:cNvSpPr>
          <p:nvPr/>
        </p:nvSpPr>
        <p:spPr>
          <a:xfrm xmlns:a="http://schemas.openxmlformats.org/drawingml/2006/main">
            <a:off x="838200" y="21526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1</a:t>
            </a:r>
          </a:p>
        </p:txBody>
      </p:sp>
      <p:sp>
        <p:nvSpPr>
          <p:cNvPr id="9" name="">
            <a:extLst xmlns:a="http://schemas.openxmlformats.org/drawingml/2006/main">
              <a:ext uri="{FF2B5EF4-FFF2-40B4-BE49-F238E27FC236}">
                <a16:creationId xmlns:a16="http://schemas.microsoft.com/office/drawing/2014/main" id="{9F396E47-DC7D-4404-9D76-5E3333863E1D}"/>
              </a:ext>
            </a:extLst>
          </p:cNvPr>
          <p:cNvSpPr>
            <a:spLocks xmlns:a="http://schemas.openxmlformats.org/drawingml/2006/main" noGrp="1"/>
          </p:cNvSpPr>
          <p:nvPr/>
        </p:nvSpPr>
        <p:spPr>
          <a:xfrm xmlns:a="http://schemas.openxmlformats.org/drawingml/2006/main">
            <a:off x="571500" y="289560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session isolation</a:t>
            </a:r>
          </a:p>
        </p:txBody>
      </p:sp>
      <p:sp>
        <p:nvSpPr>
          <p:cNvPr id="10" name="">
            <a:extLst xmlns:a="http://schemas.openxmlformats.org/drawingml/2006/main">
              <a:ext uri="{FF2B5EF4-FFF2-40B4-BE49-F238E27FC236}">
                <a16:creationId xmlns:a16="http://schemas.microsoft.com/office/drawing/2014/main" id="{0B4F54A5-FEA0-483E-AE04-DD5B1E709277}"/>
              </a:ext>
            </a:extLst>
          </p:cNvPr>
          <p:cNvSpPr>
            <a:spLocks xmlns:a="http://schemas.openxmlformats.org/drawingml/2006/main" noGrp="1"/>
          </p:cNvSpPr>
          <p:nvPr/>
        </p:nvSpPr>
        <p:spPr>
          <a:xfrm xmlns:a="http://schemas.openxmlformats.org/drawingml/2006/main">
            <a:off x="2952750" y="215265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6693B59-4DDA-47B9-809D-199D0CFD5EB8}"/>
              </a:ext>
            </a:extLst>
          </p:cNvPr>
          <p:cNvSpPr>
            <a:spLocks xmlns:a="http://schemas.openxmlformats.org/drawingml/2006/main" noGrp="1"/>
          </p:cNvSpPr>
          <p:nvPr/>
        </p:nvSpPr>
        <p:spPr>
          <a:xfrm xmlns:a="http://schemas.openxmlformats.org/drawingml/2006/main">
            <a:off x="2952750" y="21526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2</a:t>
            </a:r>
          </a:p>
        </p:txBody>
      </p:sp>
      <p:sp>
        <p:nvSpPr>
          <p:cNvPr id="12" name="">
            <a:extLst xmlns:a="http://schemas.openxmlformats.org/drawingml/2006/main">
              <a:ext uri="{FF2B5EF4-FFF2-40B4-BE49-F238E27FC236}">
                <a16:creationId xmlns:a16="http://schemas.microsoft.com/office/drawing/2014/main" id="{C0218F27-FE1B-4C25-B1E3-369F01D1C599}"/>
              </a:ext>
            </a:extLst>
          </p:cNvPr>
          <p:cNvSpPr>
            <a:spLocks xmlns:a="http://schemas.openxmlformats.org/drawingml/2006/main" noGrp="1"/>
          </p:cNvSpPr>
          <p:nvPr/>
        </p:nvSpPr>
        <p:spPr>
          <a:xfrm xmlns:a="http://schemas.openxmlformats.org/drawingml/2006/main">
            <a:off x="2686050" y="289560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telephony</a:t>
            </a:r>
          </a:p>
        </p:txBody>
      </p:sp>
      <p:sp>
        <p:nvSpPr>
          <p:cNvPr id="13" name="">
            <a:extLst xmlns:a="http://schemas.openxmlformats.org/drawingml/2006/main">
              <a:ext uri="{FF2B5EF4-FFF2-40B4-BE49-F238E27FC236}">
                <a16:creationId xmlns:a16="http://schemas.microsoft.com/office/drawing/2014/main" id="{5571C6B8-8C93-4F44-ADC3-9EC60080654A}"/>
              </a:ext>
            </a:extLst>
          </p:cNvPr>
          <p:cNvSpPr>
            <a:spLocks xmlns:a="http://schemas.openxmlformats.org/drawingml/2006/main" noGrp="1"/>
          </p:cNvSpPr>
          <p:nvPr/>
        </p:nvSpPr>
        <p:spPr>
          <a:xfrm xmlns:a="http://schemas.openxmlformats.org/drawingml/2006/main">
            <a:off x="5067300" y="215265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1AE8E7-94A9-4E70-BCC8-2C3C047DEE15}"/>
              </a:ext>
            </a:extLst>
          </p:cNvPr>
          <p:cNvSpPr>
            <a:spLocks xmlns:a="http://schemas.openxmlformats.org/drawingml/2006/main" noGrp="1"/>
          </p:cNvSpPr>
          <p:nvPr/>
        </p:nvSpPr>
        <p:spPr>
          <a:xfrm xmlns:a="http://schemas.openxmlformats.org/drawingml/2006/main">
            <a:off x="5067300" y="21526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3</a:t>
            </a:r>
          </a:p>
        </p:txBody>
      </p:sp>
      <p:sp>
        <p:nvSpPr>
          <p:cNvPr id="15" name="">
            <a:extLst xmlns:a="http://schemas.openxmlformats.org/drawingml/2006/main">
              <a:ext uri="{FF2B5EF4-FFF2-40B4-BE49-F238E27FC236}">
                <a16:creationId xmlns:a16="http://schemas.microsoft.com/office/drawing/2014/main" id="{4E69BB05-6268-4C55-BF57-B259306C8840}"/>
              </a:ext>
            </a:extLst>
          </p:cNvPr>
          <p:cNvSpPr>
            <a:spLocks xmlns:a="http://schemas.openxmlformats.org/drawingml/2006/main" noGrp="1"/>
          </p:cNvSpPr>
          <p:nvPr/>
        </p:nvSpPr>
        <p:spPr>
          <a:xfrm xmlns:a="http://schemas.openxmlformats.org/drawingml/2006/main">
            <a:off x="4800600" y="289560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DNC</a:t>
            </a:r>
          </a:p>
        </p:txBody>
      </p:sp>
      <p:sp>
        <p:nvSpPr>
          <p:cNvPr id="16" name="">
            <a:extLst xmlns:a="http://schemas.openxmlformats.org/drawingml/2006/main">
              <a:ext uri="{FF2B5EF4-FFF2-40B4-BE49-F238E27FC236}">
                <a16:creationId xmlns:a16="http://schemas.microsoft.com/office/drawing/2014/main" id="{38F41756-C934-4F2B-81FA-567FE96D2E41}"/>
              </a:ext>
            </a:extLst>
          </p:cNvPr>
          <p:cNvSpPr>
            <a:spLocks xmlns:a="http://schemas.openxmlformats.org/drawingml/2006/main" noGrp="1"/>
          </p:cNvSpPr>
          <p:nvPr/>
        </p:nvSpPr>
        <p:spPr>
          <a:xfrm xmlns:a="http://schemas.openxmlformats.org/drawingml/2006/main">
            <a:off x="7181850" y="215265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7AD019-BF76-40C5-A76B-BB6858601068}"/>
              </a:ext>
            </a:extLst>
          </p:cNvPr>
          <p:cNvSpPr>
            <a:spLocks xmlns:a="http://schemas.openxmlformats.org/drawingml/2006/main" noGrp="1"/>
          </p:cNvSpPr>
          <p:nvPr/>
        </p:nvSpPr>
        <p:spPr>
          <a:xfrm xmlns:a="http://schemas.openxmlformats.org/drawingml/2006/main">
            <a:off x="7181850" y="21526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4</a:t>
            </a:r>
          </a:p>
        </p:txBody>
      </p:sp>
      <p:sp>
        <p:nvSpPr>
          <p:cNvPr id="18" name="">
            <a:extLst xmlns:a="http://schemas.openxmlformats.org/drawingml/2006/main">
              <a:ext uri="{FF2B5EF4-FFF2-40B4-BE49-F238E27FC236}">
                <a16:creationId xmlns:a16="http://schemas.microsoft.com/office/drawing/2014/main" id="{3ABA5743-8570-43BB-9755-B83444E6835B}"/>
              </a:ext>
            </a:extLst>
          </p:cNvPr>
          <p:cNvSpPr>
            <a:spLocks xmlns:a="http://schemas.openxmlformats.org/drawingml/2006/main" noGrp="1"/>
          </p:cNvSpPr>
          <p:nvPr/>
        </p:nvSpPr>
        <p:spPr>
          <a:xfrm xmlns:a="http://schemas.openxmlformats.org/drawingml/2006/main">
            <a:off x="6915150" y="289560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human transfer</a:t>
            </a:r>
          </a:p>
        </p:txBody>
      </p:sp>
      <p:sp>
        <p:nvSpPr>
          <p:cNvPr id="19" name="">
            <a:extLst xmlns:a="http://schemas.openxmlformats.org/drawingml/2006/main">
              <a:ext uri="{FF2B5EF4-FFF2-40B4-BE49-F238E27FC236}">
                <a16:creationId xmlns:a16="http://schemas.microsoft.com/office/drawing/2014/main" id="{04AD77A3-7EAC-478F-8F98-C7691DC470E9}"/>
              </a:ext>
            </a:extLst>
          </p:cNvPr>
          <p:cNvSpPr>
            <a:spLocks xmlns:a="http://schemas.openxmlformats.org/drawingml/2006/main" noGrp="1"/>
          </p:cNvSpPr>
          <p:nvPr/>
        </p:nvSpPr>
        <p:spPr>
          <a:xfrm xmlns:a="http://schemas.openxmlformats.org/drawingml/2006/main">
            <a:off x="9296400" y="215265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DB5C786-FB1A-444A-8040-2221653CBC9D}"/>
              </a:ext>
            </a:extLst>
          </p:cNvPr>
          <p:cNvSpPr>
            <a:spLocks xmlns:a="http://schemas.openxmlformats.org/drawingml/2006/main" noGrp="1"/>
          </p:cNvSpPr>
          <p:nvPr/>
        </p:nvSpPr>
        <p:spPr>
          <a:xfrm xmlns:a="http://schemas.openxmlformats.org/drawingml/2006/main">
            <a:off x="9296400" y="21526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5</a:t>
            </a:r>
          </a:p>
        </p:txBody>
      </p:sp>
      <p:sp>
        <p:nvSpPr>
          <p:cNvPr id="21" name="">
            <a:extLst xmlns:a="http://schemas.openxmlformats.org/drawingml/2006/main">
              <a:ext uri="{FF2B5EF4-FFF2-40B4-BE49-F238E27FC236}">
                <a16:creationId xmlns:a16="http://schemas.microsoft.com/office/drawing/2014/main" id="{8CA3816E-15A2-4ACF-B9B9-6AD823D171F0}"/>
              </a:ext>
            </a:extLst>
          </p:cNvPr>
          <p:cNvSpPr>
            <a:spLocks xmlns:a="http://schemas.openxmlformats.org/drawingml/2006/main" noGrp="1"/>
          </p:cNvSpPr>
          <p:nvPr/>
        </p:nvSpPr>
        <p:spPr>
          <a:xfrm xmlns:a="http://schemas.openxmlformats.org/drawingml/2006/main">
            <a:off x="9029700" y="289560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SLOs</a:t>
            </a:r>
          </a:p>
        </p:txBody>
      </p:sp>
      <p:sp>
        <p:nvSpPr>
          <p:cNvPr id="22" name="">
            <a:extLst xmlns:a="http://schemas.openxmlformats.org/drawingml/2006/main">
              <a:ext uri="{FF2B5EF4-FFF2-40B4-BE49-F238E27FC236}">
                <a16:creationId xmlns:a16="http://schemas.microsoft.com/office/drawing/2014/main" id="{8454D8BB-11CA-4CEE-AAE1-C1C63F2E5E32}"/>
              </a:ext>
            </a:extLst>
          </p:cNvPr>
          <p:cNvSpPr>
            <a:spLocks xmlns:a="http://schemas.openxmlformats.org/drawingml/2006/main" noGrp="1"/>
          </p:cNvSpPr>
          <p:nvPr/>
        </p:nvSpPr>
        <p:spPr>
          <a:xfrm xmlns:a="http://schemas.openxmlformats.org/drawingml/2006/main">
            <a:off x="838200" y="365760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8A20AC7-8F85-4E97-B82F-CBAA72C51B25}"/>
              </a:ext>
            </a:extLst>
          </p:cNvPr>
          <p:cNvSpPr>
            <a:spLocks xmlns:a="http://schemas.openxmlformats.org/drawingml/2006/main" noGrp="1"/>
          </p:cNvSpPr>
          <p:nvPr/>
        </p:nvSpPr>
        <p:spPr>
          <a:xfrm xmlns:a="http://schemas.openxmlformats.org/drawingml/2006/main">
            <a:off x="838200" y="36576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6</a:t>
            </a:r>
          </a:p>
        </p:txBody>
      </p:sp>
      <p:sp>
        <p:nvSpPr>
          <p:cNvPr id="24" name="">
            <a:extLst xmlns:a="http://schemas.openxmlformats.org/drawingml/2006/main">
              <a:ext uri="{FF2B5EF4-FFF2-40B4-BE49-F238E27FC236}">
                <a16:creationId xmlns:a16="http://schemas.microsoft.com/office/drawing/2014/main" id="{71DA98D0-E38E-41E7-A428-915EE560E295}"/>
              </a:ext>
            </a:extLst>
          </p:cNvPr>
          <p:cNvSpPr>
            <a:spLocks xmlns:a="http://schemas.openxmlformats.org/drawingml/2006/main" noGrp="1"/>
          </p:cNvSpPr>
          <p:nvPr/>
        </p:nvSpPr>
        <p:spPr>
          <a:xfrm xmlns:a="http://schemas.openxmlformats.org/drawingml/2006/main">
            <a:off x="571500" y="440055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load tests</a:t>
            </a:r>
          </a:p>
        </p:txBody>
      </p:sp>
      <p:sp>
        <p:nvSpPr>
          <p:cNvPr id="25" name="">
            <a:extLst xmlns:a="http://schemas.openxmlformats.org/drawingml/2006/main">
              <a:ext uri="{FF2B5EF4-FFF2-40B4-BE49-F238E27FC236}">
                <a16:creationId xmlns:a16="http://schemas.microsoft.com/office/drawing/2014/main" id="{A4790AD9-8786-42CC-8168-35DF3B8E179B}"/>
              </a:ext>
            </a:extLst>
          </p:cNvPr>
          <p:cNvSpPr>
            <a:spLocks xmlns:a="http://schemas.openxmlformats.org/drawingml/2006/main" noGrp="1"/>
          </p:cNvSpPr>
          <p:nvPr/>
        </p:nvSpPr>
        <p:spPr>
          <a:xfrm xmlns:a="http://schemas.openxmlformats.org/drawingml/2006/main">
            <a:off x="2952750" y="365760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0BCC1B4-74E7-4D06-9140-D0B82E462E16}"/>
              </a:ext>
            </a:extLst>
          </p:cNvPr>
          <p:cNvSpPr>
            <a:spLocks xmlns:a="http://schemas.openxmlformats.org/drawingml/2006/main" noGrp="1"/>
          </p:cNvSpPr>
          <p:nvPr/>
        </p:nvSpPr>
        <p:spPr>
          <a:xfrm xmlns:a="http://schemas.openxmlformats.org/drawingml/2006/main">
            <a:off x="2952750" y="36576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7</a:t>
            </a:r>
          </a:p>
        </p:txBody>
      </p:sp>
      <p:sp>
        <p:nvSpPr>
          <p:cNvPr id="27" name="">
            <a:extLst xmlns:a="http://schemas.openxmlformats.org/drawingml/2006/main">
              <a:ext uri="{FF2B5EF4-FFF2-40B4-BE49-F238E27FC236}">
                <a16:creationId xmlns:a16="http://schemas.microsoft.com/office/drawing/2014/main" id="{3756CD82-195E-4351-B7CB-610D446668CD}"/>
              </a:ext>
            </a:extLst>
          </p:cNvPr>
          <p:cNvSpPr>
            <a:spLocks xmlns:a="http://schemas.openxmlformats.org/drawingml/2006/main" noGrp="1"/>
          </p:cNvSpPr>
          <p:nvPr/>
        </p:nvSpPr>
        <p:spPr>
          <a:xfrm xmlns:a="http://schemas.openxmlformats.org/drawingml/2006/main">
            <a:off x="2686050" y="440055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replay</a:t>
            </a:r>
          </a:p>
        </p:txBody>
      </p:sp>
      <p:sp>
        <p:nvSpPr>
          <p:cNvPr id="28" name="">
            <a:extLst xmlns:a="http://schemas.openxmlformats.org/drawingml/2006/main">
              <a:ext uri="{FF2B5EF4-FFF2-40B4-BE49-F238E27FC236}">
                <a16:creationId xmlns:a16="http://schemas.microsoft.com/office/drawing/2014/main" id="{17C44D6E-03DC-4DD4-A31D-BF105B691D39}"/>
              </a:ext>
            </a:extLst>
          </p:cNvPr>
          <p:cNvSpPr>
            <a:spLocks xmlns:a="http://schemas.openxmlformats.org/drawingml/2006/main" noGrp="1"/>
          </p:cNvSpPr>
          <p:nvPr/>
        </p:nvSpPr>
        <p:spPr>
          <a:xfrm xmlns:a="http://schemas.openxmlformats.org/drawingml/2006/main">
            <a:off x="5067300" y="3657600"/>
            <a:ext cx="590550" cy="590550"/>
          </a:xfrm>
          <a:prstGeom xmlns:a="http://schemas.openxmlformats.org/drawingml/2006/main" prst="ellipse">
            <a:avLst/>
          </a:prstGeom>
          <a:solidFill xmlns:a="http://schemas.openxmlformats.org/drawingml/2006/main">
            <a:srgbClr val="288DC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F9E9E67-F255-4F73-B7D5-D807C4087B08}"/>
              </a:ext>
            </a:extLst>
          </p:cNvPr>
          <p:cNvSpPr>
            <a:spLocks xmlns:a="http://schemas.openxmlformats.org/drawingml/2006/main" noGrp="1"/>
          </p:cNvSpPr>
          <p:nvPr/>
        </p:nvSpPr>
        <p:spPr>
          <a:xfrm xmlns:a="http://schemas.openxmlformats.org/drawingml/2006/main">
            <a:off x="5067300" y="36576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8</a:t>
            </a:r>
          </a:p>
        </p:txBody>
      </p:sp>
      <p:sp>
        <p:nvSpPr>
          <p:cNvPr id="30" name="">
            <a:extLst xmlns:a="http://schemas.openxmlformats.org/drawingml/2006/main">
              <a:ext uri="{FF2B5EF4-FFF2-40B4-BE49-F238E27FC236}">
                <a16:creationId xmlns:a16="http://schemas.microsoft.com/office/drawing/2014/main" id="{7BAE0C8F-D4ED-49EB-8F81-AEAC8073B081}"/>
              </a:ext>
            </a:extLst>
          </p:cNvPr>
          <p:cNvSpPr>
            <a:spLocks xmlns:a="http://schemas.openxmlformats.org/drawingml/2006/main" noGrp="1"/>
          </p:cNvSpPr>
          <p:nvPr/>
        </p:nvSpPr>
        <p:spPr>
          <a:xfrm xmlns:a="http://schemas.openxmlformats.org/drawingml/2006/main">
            <a:off x="4800600" y="440055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retention</a:t>
            </a:r>
          </a:p>
        </p:txBody>
      </p:sp>
      <p:sp>
        <p:nvSpPr>
          <p:cNvPr id="31" name="">
            <a:extLst xmlns:a="http://schemas.openxmlformats.org/drawingml/2006/main">
              <a:ext uri="{FF2B5EF4-FFF2-40B4-BE49-F238E27FC236}">
                <a16:creationId xmlns:a16="http://schemas.microsoft.com/office/drawing/2014/main" id="{C42FD7BE-7504-4A59-BEFB-6A52F1789561}"/>
              </a:ext>
            </a:extLst>
          </p:cNvPr>
          <p:cNvSpPr>
            <a:spLocks xmlns:a="http://schemas.openxmlformats.org/drawingml/2006/main" noGrp="1"/>
          </p:cNvSpPr>
          <p:nvPr/>
        </p:nvSpPr>
        <p:spPr>
          <a:xfrm xmlns:a="http://schemas.openxmlformats.org/drawingml/2006/main">
            <a:off x="7181850" y="3657600"/>
            <a:ext cx="590550" cy="590550"/>
          </a:xfrm>
          <a:prstGeom xmlns:a="http://schemas.openxmlformats.org/drawingml/2006/main" prst="ellipse">
            <a:avLst/>
          </a:prstGeom>
          <a:solidFill xmlns:a="http://schemas.openxmlformats.org/drawingml/2006/main">
            <a:srgbClr val="D96C5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925AFFB-EB65-4DB2-8313-68EE57415B1F}"/>
              </a:ext>
            </a:extLst>
          </p:cNvPr>
          <p:cNvSpPr>
            <a:spLocks xmlns:a="http://schemas.openxmlformats.org/drawingml/2006/main" noGrp="1"/>
          </p:cNvSpPr>
          <p:nvPr/>
        </p:nvSpPr>
        <p:spPr>
          <a:xfrm xmlns:a="http://schemas.openxmlformats.org/drawingml/2006/main">
            <a:off x="7181850" y="36576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Mono"/>
                <a:ea typeface="Aptos Mono"/>
                <a:cs typeface="Aptos Mono"/>
              </a:defRPr>
            </a:pPr>
            <a:r>
              <a:rPr sz="1275" b="1">
                <a:solidFill>
                  <a:srgbClr val="FFF8EA"/>
                </a:solidFill>
                <a:latin typeface="Aptos Mono"/>
                <a:ea typeface="Aptos Mono"/>
                <a:cs typeface="Aptos Mono"/>
              </a:rPr>
              <a:t>9</a:t>
            </a:r>
          </a:p>
        </p:txBody>
      </p:sp>
      <p:sp>
        <p:nvSpPr>
          <p:cNvPr id="33" name="">
            <a:extLst xmlns:a="http://schemas.openxmlformats.org/drawingml/2006/main">
              <a:ext uri="{FF2B5EF4-FFF2-40B4-BE49-F238E27FC236}">
                <a16:creationId xmlns:a16="http://schemas.microsoft.com/office/drawing/2014/main" id="{60878999-2CE2-4F7A-9E22-06D2C1999559}"/>
              </a:ext>
            </a:extLst>
          </p:cNvPr>
          <p:cNvSpPr>
            <a:spLocks xmlns:a="http://schemas.openxmlformats.org/drawingml/2006/main" noGrp="1"/>
          </p:cNvSpPr>
          <p:nvPr/>
        </p:nvSpPr>
        <p:spPr>
          <a:xfrm xmlns:a="http://schemas.openxmlformats.org/drawingml/2006/main">
            <a:off x="6915150" y="440055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102A43"/>
                </a:solidFill>
                <a:latin typeface="Aptos"/>
                <a:ea typeface="Aptos"/>
                <a:cs typeface="Aptos"/>
              </a:defRPr>
            </a:pPr>
            <a:r>
              <a:rPr sz="1050" b="1">
                <a:solidFill>
                  <a:srgbClr val="102A43"/>
                </a:solidFill>
                <a:latin typeface="Aptos"/>
                <a:ea typeface="Aptos"/>
                <a:cs typeface="Aptos"/>
              </a:rPr>
              <a:t>incident response</a:t>
            </a:r>
          </a:p>
        </p:txBody>
      </p:sp>
      <p:sp>
        <p:nvSpPr>
          <p:cNvPr id="34" name="">
            <a:extLst xmlns:a="http://schemas.openxmlformats.org/drawingml/2006/main">
              <a:ext uri="{FF2B5EF4-FFF2-40B4-BE49-F238E27FC236}">
                <a16:creationId xmlns:a16="http://schemas.microsoft.com/office/drawing/2014/main" id="{A8D10583-2F75-4CDA-90A3-82D080DD7B2D}"/>
              </a:ext>
            </a:extLst>
          </p:cNvPr>
          <p:cNvSpPr>
            <a:spLocks xmlns:a="http://schemas.openxmlformats.org/drawingml/2006/main" noGrp="1"/>
          </p:cNvSpPr>
          <p:nvPr/>
        </p:nvSpPr>
        <p:spPr>
          <a:xfrm xmlns:a="http://schemas.openxmlformats.org/drawingml/2006/main">
            <a:off x="1133475" y="2447925"/>
            <a:ext cx="905827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5" name="">
            <a:extLst xmlns:a="http://schemas.openxmlformats.org/drawingml/2006/main">
              <a:ext uri="{FF2B5EF4-FFF2-40B4-BE49-F238E27FC236}">
                <a16:creationId xmlns:a16="http://schemas.microsoft.com/office/drawing/2014/main" id="{FDCF2DAD-5AA7-4054-B676-1C332FBB1F65}"/>
              </a:ext>
            </a:extLst>
          </p:cNvPr>
          <p:cNvSpPr>
            <a:spLocks xmlns:a="http://schemas.openxmlformats.org/drawingml/2006/main" noGrp="1"/>
          </p:cNvSpPr>
          <p:nvPr/>
        </p:nvSpPr>
        <p:spPr>
          <a:xfrm xmlns:a="http://schemas.openxmlformats.org/drawingml/2006/main">
            <a:off x="1133475" y="3952875"/>
            <a:ext cx="6962775" cy="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36" name="">
            <a:extLst xmlns:a="http://schemas.openxmlformats.org/drawingml/2006/main">
              <a:ext uri="{FF2B5EF4-FFF2-40B4-BE49-F238E27FC236}">
                <a16:creationId xmlns:a16="http://schemas.microsoft.com/office/drawing/2014/main" id="{DD2169DE-CE12-4D92-9FD0-5E8D3164477B}"/>
              </a:ext>
            </a:extLst>
          </p:cNvPr>
          <p:cNvSpPr>
            <a:spLocks xmlns:a="http://schemas.openxmlformats.org/drawingml/2006/main" noGrp="1"/>
          </p:cNvSpPr>
          <p:nvPr/>
        </p:nvSpPr>
        <p:spPr>
          <a:xfrm xmlns:a="http://schemas.openxmlformats.org/drawingml/2006/main">
            <a:off x="2095500" y="5667375"/>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D96C5F"/>
                </a:solidFill>
                <a:latin typeface="Aptos"/>
                <a:ea typeface="Aptos"/>
                <a:cs typeface="Aptos"/>
              </a:defRPr>
            </a:pPr>
            <a:r>
              <a:rPr sz="1575" b="1">
                <a:solidFill>
                  <a:srgbClr val="D96C5F"/>
                </a:solidFill>
                <a:latin typeface="Aptos"/>
                <a:ea typeface="Aptos"/>
                <a:cs typeface="Aptos"/>
              </a:rPr>
              <a:t>The prototype is an instrument—not yet an outbound dialer.</a:t>
            </a:r>
          </a:p>
        </p:txBody>
      </p:sp>
      <p:sp>
        <p:nvSpPr>
          <p:cNvPr id="37" name="">
            <a:extLst xmlns:a="http://schemas.openxmlformats.org/drawingml/2006/main">
              <a:ext uri="{FF2B5EF4-FFF2-40B4-BE49-F238E27FC236}">
                <a16:creationId xmlns:a16="http://schemas.microsoft.com/office/drawing/2014/main" id="{4ED54DE0-4832-4FA7-9160-15EC309ED3FC}"/>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production-readiness audit</a:t>
            </a:r>
          </a:p>
        </p:txBody>
      </p:sp>
    </p:spTree>
    <p:extLst>
      <p:ext uri="{BB962C8B-B14F-4D97-AF65-F5344CB8AC3E}">
        <p14:creationId xmlns:p14="http://schemas.microsoft.com/office/powerpoint/2010/main" val="44538454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a2715f1276849c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D3AE07-4B4E-4EB8-8CFB-0E3807B9BCF0}"/>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E4DEBCF7-BF02-4FA7-B9F1-976090753A3A}"/>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26</a:t>
            </a:r>
          </a:p>
        </p:txBody>
      </p:sp>
      <p:sp>
        <p:nvSpPr>
          <p:cNvPr id="4" name="">
            <a:extLst xmlns:a="http://schemas.openxmlformats.org/drawingml/2006/main">
              <a:ext uri="{FF2B5EF4-FFF2-40B4-BE49-F238E27FC236}">
                <a16:creationId xmlns:a16="http://schemas.microsoft.com/office/drawing/2014/main" id="{3326ADF3-1373-469D-B162-9651D7DD27DE}"/>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E270F879-50AE-474A-B010-650ED6350AE6}"/>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A 90-day proof, not a frontier-model lab</a:t>
            </a:r>
          </a:p>
        </p:txBody>
      </p:sp>
      <p:sp>
        <p:nvSpPr>
          <p:cNvPr id="6" name="">
            <a:extLst xmlns:a="http://schemas.openxmlformats.org/drawingml/2006/main">
              <a:ext uri="{FF2B5EF4-FFF2-40B4-BE49-F238E27FC236}">
                <a16:creationId xmlns:a16="http://schemas.microsoft.com/office/drawing/2014/main" id="{DA9374A8-7D06-40A4-A17A-380DE8414D4F}"/>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B9241B91-BA5B-4849-9CC2-C5D752F901AA}"/>
              </a:ext>
            </a:extLst>
          </p:cNvPr>
          <p:cNvSpPr>
            <a:spLocks xmlns:a="http://schemas.openxmlformats.org/drawingml/2006/main" noGrp="1"/>
          </p:cNvSpPr>
          <p:nvPr/>
        </p:nvSpPr>
        <p:spPr>
          <a:xfrm xmlns:a="http://schemas.openxmlformats.org/drawingml/2006/main">
            <a:off x="1143000" y="3905250"/>
            <a:ext cx="2857500" cy="1352550"/>
          </a:xfrm>
          <a:prstGeom xmlns:a="http://schemas.openxmlformats.org/drawingml/2006/main" prst="roundRect">
            <a:avLst>
              <a:gd name="adj" fmla="val 16901"/>
            </a:avLst>
          </a:prstGeom>
          <a:solidFill xmlns:a="http://schemas.openxmlformats.org/drawingml/2006/main">
            <a:srgbClr val="FFF8EA"/>
          </a:solidFill>
          <a:ln xmlns:a="http://schemas.openxmlformats.org/drawingml/2006/main" w="19050">
            <a:solidFill>
              <a:srgbClr val="288DC1"/>
            </a:solidFill>
            <a:prstDash val="solid"/>
          </a:ln>
        </p:spPr>
      </p:sp>
      <p:sp>
        <p:nvSpPr>
          <p:cNvPr id="8" name="">
            <a:extLst xmlns:a="http://schemas.openxmlformats.org/drawingml/2006/main">
              <a:ext uri="{FF2B5EF4-FFF2-40B4-BE49-F238E27FC236}">
                <a16:creationId xmlns:a16="http://schemas.microsoft.com/office/drawing/2014/main" id="{4573F135-9E7B-4396-B69C-E29098469CC0}"/>
              </a:ext>
            </a:extLst>
          </p:cNvPr>
          <p:cNvSpPr>
            <a:spLocks xmlns:a="http://schemas.openxmlformats.org/drawingml/2006/main" noGrp="1"/>
          </p:cNvSpPr>
          <p:nvPr/>
        </p:nvSpPr>
        <p:spPr>
          <a:xfrm xmlns:a="http://schemas.openxmlformats.org/drawingml/2006/main">
            <a:off x="1371600" y="407670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288DC1"/>
                </a:solidFill>
                <a:latin typeface="Aptos Mono"/>
                <a:ea typeface="Aptos Mono"/>
                <a:cs typeface="Aptos Mono"/>
              </a:defRPr>
            </a:pPr>
            <a:r>
              <a:rPr sz="1350" b="1">
                <a:solidFill>
                  <a:srgbClr val="288DC1"/>
                </a:solidFill>
                <a:latin typeface="Aptos Mono"/>
                <a:ea typeface="Aptos Mono"/>
                <a:cs typeface="Aptos Mono"/>
              </a:rPr>
              <a:t>01</a:t>
            </a:r>
          </a:p>
        </p:txBody>
      </p:sp>
      <p:sp>
        <p:nvSpPr>
          <p:cNvPr id="9" name="">
            <a:extLst xmlns:a="http://schemas.openxmlformats.org/drawingml/2006/main">
              <a:ext uri="{FF2B5EF4-FFF2-40B4-BE49-F238E27FC236}">
                <a16:creationId xmlns:a16="http://schemas.microsoft.com/office/drawing/2014/main" id="{5E504639-38B5-47A0-AC95-02F5F156F8B9}"/>
              </a:ext>
            </a:extLst>
          </p:cNvPr>
          <p:cNvSpPr>
            <a:spLocks xmlns:a="http://schemas.openxmlformats.org/drawingml/2006/main" noGrp="1"/>
          </p:cNvSpPr>
          <p:nvPr/>
        </p:nvSpPr>
        <p:spPr>
          <a:xfrm xmlns:a="http://schemas.openxmlformats.org/drawingml/2006/main">
            <a:off x="1371600" y="4400550"/>
            <a:ext cx="2400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English · one project · one workflow</a:t>
            </a:r>
          </a:p>
        </p:txBody>
      </p:sp>
      <p:sp>
        <p:nvSpPr>
          <p:cNvPr id="10" name="">
            <a:extLst xmlns:a="http://schemas.openxmlformats.org/drawingml/2006/main">
              <a:ext uri="{FF2B5EF4-FFF2-40B4-BE49-F238E27FC236}">
                <a16:creationId xmlns:a16="http://schemas.microsoft.com/office/drawing/2014/main" id="{D4C05E95-3278-4478-BFB7-A47F99203565}"/>
              </a:ext>
            </a:extLst>
          </p:cNvPr>
          <p:cNvSpPr>
            <a:spLocks xmlns:a="http://schemas.openxmlformats.org/drawingml/2006/main" noGrp="1"/>
          </p:cNvSpPr>
          <p:nvPr/>
        </p:nvSpPr>
        <p:spPr>
          <a:xfrm xmlns:a="http://schemas.openxmlformats.org/drawingml/2006/main">
            <a:off x="4591050" y="3124200"/>
            <a:ext cx="2857500" cy="1352550"/>
          </a:xfrm>
          <a:prstGeom xmlns:a="http://schemas.openxmlformats.org/drawingml/2006/main" prst="roundRect">
            <a:avLst>
              <a:gd name="adj" fmla="val 16901"/>
            </a:avLst>
          </a:prstGeom>
          <a:solidFill xmlns:a="http://schemas.openxmlformats.org/drawingml/2006/main">
            <a:srgbClr val="FFF8EA"/>
          </a:solidFill>
          <a:ln xmlns:a="http://schemas.openxmlformats.org/drawingml/2006/main" w="19050">
            <a:solidFill>
              <a:srgbClr val="288DC1"/>
            </a:solidFill>
            <a:prstDash val="solid"/>
          </a:ln>
        </p:spPr>
      </p:sp>
      <p:sp>
        <p:nvSpPr>
          <p:cNvPr id="11" name="">
            <a:extLst xmlns:a="http://schemas.openxmlformats.org/drawingml/2006/main">
              <a:ext uri="{FF2B5EF4-FFF2-40B4-BE49-F238E27FC236}">
                <a16:creationId xmlns:a16="http://schemas.microsoft.com/office/drawing/2014/main" id="{B950D5E8-9F84-4ADE-B890-418AC13848DF}"/>
              </a:ext>
            </a:extLst>
          </p:cNvPr>
          <p:cNvSpPr>
            <a:spLocks xmlns:a="http://schemas.openxmlformats.org/drawingml/2006/main" noGrp="1"/>
          </p:cNvSpPr>
          <p:nvPr/>
        </p:nvSpPr>
        <p:spPr>
          <a:xfrm xmlns:a="http://schemas.openxmlformats.org/drawingml/2006/main">
            <a:off x="4819650" y="32956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288DC1"/>
                </a:solidFill>
                <a:latin typeface="Aptos Mono"/>
                <a:ea typeface="Aptos Mono"/>
                <a:cs typeface="Aptos Mono"/>
              </a:defRPr>
            </a:pPr>
            <a:r>
              <a:rPr sz="1350" b="1">
                <a:solidFill>
                  <a:srgbClr val="288DC1"/>
                </a:solidFill>
                <a:latin typeface="Aptos Mono"/>
                <a:ea typeface="Aptos Mono"/>
                <a:cs typeface="Aptos Mono"/>
              </a:rPr>
              <a:t>02</a:t>
            </a:r>
          </a:p>
        </p:txBody>
      </p:sp>
      <p:sp>
        <p:nvSpPr>
          <p:cNvPr id="12" name="">
            <a:extLst xmlns:a="http://schemas.openxmlformats.org/drawingml/2006/main">
              <a:ext uri="{FF2B5EF4-FFF2-40B4-BE49-F238E27FC236}">
                <a16:creationId xmlns:a16="http://schemas.microsoft.com/office/drawing/2014/main" id="{5D49FEAC-A0CC-44B5-A7BA-51E9E495AB9C}"/>
              </a:ext>
            </a:extLst>
          </p:cNvPr>
          <p:cNvSpPr>
            <a:spLocks xmlns:a="http://schemas.openxmlformats.org/drawingml/2006/main" noGrp="1"/>
          </p:cNvSpPr>
          <p:nvPr/>
        </p:nvSpPr>
        <p:spPr>
          <a:xfrm xmlns:a="http://schemas.openxmlformats.org/drawingml/2006/main">
            <a:off x="4819650" y="3619500"/>
            <a:ext cx="2400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02A43"/>
                </a:solidFill>
                <a:latin typeface="Aptos"/>
                <a:ea typeface="Aptos"/>
                <a:cs typeface="Aptos"/>
              </a:defRPr>
            </a:pPr>
            <a:r>
              <a:rPr sz="1575" b="1">
                <a:solidFill>
                  <a:srgbClr val="102A43"/>
                </a:solidFill>
                <a:latin typeface="Aptos"/>
                <a:ea typeface="Aptos"/>
                <a:cs typeface="Aptos"/>
              </a:rPr>
              <a:t>Shadow → internal → consented pilot</a:t>
            </a:r>
          </a:p>
        </p:txBody>
      </p:sp>
      <p:sp>
        <p:nvSpPr>
          <p:cNvPr id="13" name="">
            <a:extLst xmlns:a="http://schemas.openxmlformats.org/drawingml/2006/main">
              <a:ext uri="{FF2B5EF4-FFF2-40B4-BE49-F238E27FC236}">
                <a16:creationId xmlns:a16="http://schemas.microsoft.com/office/drawing/2014/main" id="{5869E473-17A2-431F-88BC-201156D2AB6C}"/>
              </a:ext>
            </a:extLst>
          </p:cNvPr>
          <p:cNvSpPr>
            <a:spLocks xmlns:a="http://schemas.openxmlformats.org/drawingml/2006/main" noGrp="1"/>
          </p:cNvSpPr>
          <p:nvPr/>
        </p:nvSpPr>
        <p:spPr>
          <a:xfrm xmlns:a="http://schemas.openxmlformats.org/drawingml/2006/main">
            <a:off x="8039100" y="2343150"/>
            <a:ext cx="2857500" cy="1352550"/>
          </a:xfrm>
          <a:prstGeom xmlns:a="http://schemas.openxmlformats.org/drawingml/2006/main" prst="roundRect">
            <a:avLst>
              <a:gd name="adj" fmla="val 16901"/>
            </a:avLst>
          </a:prstGeom>
          <a:solidFill xmlns:a="http://schemas.openxmlformats.org/drawingml/2006/main">
            <a:srgbClr val="268C82"/>
          </a:solidFill>
          <a:ln xmlns:a="http://schemas.openxmlformats.org/drawingml/2006/main" w="19050">
            <a:solidFill>
              <a:srgbClr val="268C82"/>
            </a:solidFill>
            <a:prstDash val="solid"/>
          </a:ln>
        </p:spPr>
      </p:sp>
      <p:sp>
        <p:nvSpPr>
          <p:cNvPr id="14" name="">
            <a:extLst xmlns:a="http://schemas.openxmlformats.org/drawingml/2006/main">
              <a:ext uri="{FF2B5EF4-FFF2-40B4-BE49-F238E27FC236}">
                <a16:creationId xmlns:a16="http://schemas.microsoft.com/office/drawing/2014/main" id="{0F2F5FE0-DBAE-4497-9B8F-B60595994F31}"/>
              </a:ext>
            </a:extLst>
          </p:cNvPr>
          <p:cNvSpPr>
            <a:spLocks xmlns:a="http://schemas.openxmlformats.org/drawingml/2006/main" noGrp="1"/>
          </p:cNvSpPr>
          <p:nvPr/>
        </p:nvSpPr>
        <p:spPr>
          <a:xfrm xmlns:a="http://schemas.openxmlformats.org/drawingml/2006/main">
            <a:off x="8267700" y="251460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FF8EA"/>
                </a:solidFill>
                <a:latin typeface="Aptos Mono"/>
                <a:ea typeface="Aptos Mono"/>
                <a:cs typeface="Aptos Mono"/>
              </a:defRPr>
            </a:pPr>
            <a:r>
              <a:rPr sz="1350" b="1">
                <a:solidFill>
                  <a:srgbClr val="FFF8EA"/>
                </a:solidFill>
                <a:latin typeface="Aptos Mono"/>
                <a:ea typeface="Aptos Mono"/>
                <a:cs typeface="Aptos Mono"/>
              </a:rPr>
              <a:t>03</a:t>
            </a:r>
          </a:p>
        </p:txBody>
      </p:sp>
      <p:sp>
        <p:nvSpPr>
          <p:cNvPr id="15" name="">
            <a:extLst xmlns:a="http://schemas.openxmlformats.org/drawingml/2006/main">
              <a:ext uri="{FF2B5EF4-FFF2-40B4-BE49-F238E27FC236}">
                <a16:creationId xmlns:a16="http://schemas.microsoft.com/office/drawing/2014/main" id="{9BB39F66-72EE-4169-BD94-2CC78B6E7A71}"/>
              </a:ext>
            </a:extLst>
          </p:cNvPr>
          <p:cNvSpPr>
            <a:spLocks xmlns:a="http://schemas.openxmlformats.org/drawingml/2006/main" noGrp="1"/>
          </p:cNvSpPr>
          <p:nvPr/>
        </p:nvSpPr>
        <p:spPr>
          <a:xfrm xmlns:a="http://schemas.openxmlformats.org/drawingml/2006/main">
            <a:off x="8267700" y="2838450"/>
            <a:ext cx="2400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FF8EA"/>
                </a:solidFill>
                <a:latin typeface="Aptos"/>
                <a:ea typeface="Aptos"/>
                <a:cs typeface="Aptos"/>
              </a:defRPr>
            </a:pPr>
            <a:r>
              <a:rPr sz="1575" b="1">
                <a:solidFill>
                  <a:srgbClr val="FFF8EA"/>
                </a:solidFill>
                <a:latin typeface="Aptos"/>
                <a:ea typeface="Aptos"/>
                <a:cs typeface="Aptos"/>
              </a:rPr>
              <a:t>Promote only on measured gates</a:t>
            </a:r>
          </a:p>
        </p:txBody>
      </p:sp>
      <p:sp>
        <p:nvSpPr>
          <p:cNvPr id="16" name="">
            <a:extLst xmlns:a="http://schemas.openxmlformats.org/drawingml/2006/main">
              <a:ext uri="{FF2B5EF4-FFF2-40B4-BE49-F238E27FC236}">
                <a16:creationId xmlns:a16="http://schemas.microsoft.com/office/drawing/2014/main" id="{2B6FF51B-9FAE-4DDA-9E72-34460D681F5F}"/>
              </a:ext>
            </a:extLst>
          </p:cNvPr>
          <p:cNvSpPr>
            <a:spLocks xmlns:a="http://schemas.openxmlformats.org/drawingml/2006/main" noGrp="1"/>
          </p:cNvSpPr>
          <p:nvPr/>
        </p:nvSpPr>
        <p:spPr>
          <a:xfrm xmlns:a="http://schemas.openxmlformats.org/drawingml/2006/main">
            <a:off x="8572500" y="52863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2550" b="1">
                <a:solidFill>
                  <a:srgbClr val="D96C5F"/>
                </a:solidFill>
                <a:latin typeface="Aptos Mono"/>
                <a:ea typeface="Aptos Mono"/>
                <a:cs typeface="Aptos Mono"/>
              </a:defRPr>
            </a:pPr>
            <a:r>
              <a:rPr sz="2550" b="1">
                <a:solidFill>
                  <a:srgbClr val="D96C5F"/>
                </a:solidFill>
                <a:latin typeface="Aptos Mono"/>
                <a:ea typeface="Aptos Mono"/>
                <a:cs typeface="Aptos Mono"/>
              </a:rPr>
              <a:t>90 days</a:t>
            </a:r>
          </a:p>
        </p:txBody>
      </p:sp>
      <p:sp>
        <p:nvSpPr>
          <p:cNvPr id="17" name="">
            <a:extLst xmlns:a="http://schemas.openxmlformats.org/drawingml/2006/main">
              <a:ext uri="{FF2B5EF4-FFF2-40B4-BE49-F238E27FC236}">
                <a16:creationId xmlns:a16="http://schemas.microsoft.com/office/drawing/2014/main" id="{6C17C6D5-F508-409C-BD59-75E5DC0D1787}"/>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90-day pilot proposal</a:t>
            </a:r>
          </a:p>
        </p:txBody>
      </p:sp>
    </p:spTree>
    <p:extLst>
      <p:ext uri="{BB962C8B-B14F-4D97-AF65-F5344CB8AC3E}">
        <p14:creationId xmlns:p14="http://schemas.microsoft.com/office/powerpoint/2010/main" val="117117398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29c0aea218f43f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2D3A73-318A-4157-A5AB-E23F7886D122}"/>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27</a:t>
            </a:r>
          </a:p>
        </p:txBody>
      </p:sp>
      <p:sp>
        <p:nvSpPr>
          <p:cNvPr id="3" name="">
            <a:extLst xmlns:a="http://schemas.openxmlformats.org/drawingml/2006/main">
              <a:ext uri="{FF2B5EF4-FFF2-40B4-BE49-F238E27FC236}">
                <a16:creationId xmlns:a16="http://schemas.microsoft.com/office/drawing/2014/main" id="{35012706-0AD6-4EA6-9F48-6BB3A1040A5D}"/>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4" name="">
            <a:extLst xmlns:a="http://schemas.openxmlformats.org/drawingml/2006/main">
              <a:ext uri="{FF2B5EF4-FFF2-40B4-BE49-F238E27FC236}">
                <a16:creationId xmlns:a16="http://schemas.microsoft.com/office/drawing/2014/main" id="{6AB4ECD6-7E2C-4438-98CC-CF3141B4A948}"/>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The lesson</a:t>
            </a:r>
          </a:p>
        </p:txBody>
      </p:sp>
      <p:sp>
        <p:nvSpPr>
          <p:cNvPr id="5" name="">
            <a:extLst xmlns:a="http://schemas.openxmlformats.org/drawingml/2006/main">
              <a:ext uri="{FF2B5EF4-FFF2-40B4-BE49-F238E27FC236}">
                <a16:creationId xmlns:a16="http://schemas.microsoft.com/office/drawing/2014/main" id="{E5288410-57D8-4262-A424-B90F33EAF334}"/>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6" name="">
            <a:extLst xmlns:a="http://schemas.openxmlformats.org/drawingml/2006/main">
              <a:ext uri="{FF2B5EF4-FFF2-40B4-BE49-F238E27FC236}">
                <a16:creationId xmlns:a16="http://schemas.microsoft.com/office/drawing/2014/main" id="{5971C126-72A8-4588-998E-294FDD0B4B36}"/>
              </a:ext>
            </a:extLst>
          </p:cNvPr>
          <p:cNvSpPr>
            <a:spLocks xmlns:a="http://schemas.openxmlformats.org/drawingml/2006/main" noGrp="1"/>
          </p:cNvSpPr>
          <p:nvPr/>
        </p:nvSpPr>
        <p:spPr>
          <a:xfrm xmlns:a="http://schemas.openxmlformats.org/drawingml/2006/main">
            <a:off x="1143000" y="213360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450" b="1">
                <a:solidFill>
                  <a:srgbClr val="102A43"/>
                </a:solidFill>
                <a:latin typeface="Aptos"/>
                <a:ea typeface="Aptos"/>
                <a:cs typeface="Aptos"/>
              </a:defRPr>
            </a:pPr>
            <a:r>
              <a:rPr sz="3450" b="1">
                <a:solidFill>
                  <a:srgbClr val="102A43"/>
                </a:solidFill>
                <a:latin typeface="Aptos"/>
                <a:ea typeface="Aptos"/>
                <a:cs typeface="Aptos"/>
              </a:rPr>
              <a:t>Human is not a model.</a:t>
            </a:r>
          </a:p>
        </p:txBody>
      </p:sp>
      <p:sp>
        <p:nvSpPr>
          <p:cNvPr id="7" name="">
            <a:extLst xmlns:a="http://schemas.openxmlformats.org/drawingml/2006/main">
              <a:ext uri="{FF2B5EF4-FFF2-40B4-BE49-F238E27FC236}">
                <a16:creationId xmlns:a16="http://schemas.microsoft.com/office/drawing/2014/main" id="{DE6AEA26-0BCE-4203-BE81-E70640D7032C}"/>
              </a:ext>
            </a:extLst>
          </p:cNvPr>
          <p:cNvSpPr>
            <a:spLocks xmlns:a="http://schemas.openxmlformats.org/drawingml/2006/main" noGrp="1"/>
          </p:cNvSpPr>
          <p:nvPr/>
        </p:nvSpPr>
        <p:spPr>
          <a:xfrm xmlns:a="http://schemas.openxmlformats.org/drawingml/2006/main">
            <a:off x="1524000" y="3238500"/>
            <a:ext cx="9144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850" b="1">
                <a:solidFill>
                  <a:srgbClr val="D96C5F"/>
                </a:solidFill>
                <a:latin typeface="Aptos"/>
                <a:ea typeface="Aptos"/>
                <a:cs typeface="Aptos"/>
              </a:defRPr>
            </a:pPr>
            <a:r>
              <a:rPr sz="2850" b="1">
                <a:solidFill>
                  <a:srgbClr val="D96C5F"/>
                </a:solidFill>
                <a:latin typeface="Aptos"/>
                <a:ea typeface="Aptos"/>
                <a:cs typeface="Aptos"/>
              </a:rPr>
              <a:t>Human is the behaviour of the whole system.</a:t>
            </a:r>
          </a:p>
        </p:txBody>
      </p:sp>
      <p:sp>
        <p:nvSpPr>
          <p:cNvPr id="8" name="">
            <a:extLst xmlns:a="http://schemas.openxmlformats.org/drawingml/2006/main">
              <a:ext uri="{FF2B5EF4-FFF2-40B4-BE49-F238E27FC236}">
                <a16:creationId xmlns:a16="http://schemas.microsoft.com/office/drawing/2014/main" id="{6EF6B824-4977-4230-AA42-E1E6804B043A}"/>
              </a:ext>
            </a:extLst>
          </p:cNvPr>
          <p:cNvSpPr>
            <a:spLocks xmlns:a="http://schemas.openxmlformats.org/drawingml/2006/main" noGrp="1"/>
          </p:cNvSpPr>
          <p:nvPr/>
        </p:nvSpPr>
        <p:spPr>
          <a:xfrm xmlns:a="http://schemas.openxmlformats.org/drawingml/2006/main">
            <a:off x="1714500" y="5219700"/>
            <a:ext cx="8763000" cy="0"/>
          </a:xfrm>
          <a:prstGeom xmlns:a="http://schemas.openxmlformats.org/drawingml/2006/main" prst="line">
            <a:avLst/>
          </a:prstGeom>
          <a:noFill xmlns:a="http://schemas.openxmlformats.org/drawingml/2006/main"/>
          <a:ln xmlns:a="http://schemas.openxmlformats.org/drawingml/2006/main" w="28575">
            <a:solidFill>
              <a:srgbClr val="288DC1"/>
            </a:solidFill>
            <a:prstDash val="solid"/>
          </a:ln>
        </p:spPr>
      </p:sp>
      <p:sp>
        <p:nvSpPr>
          <p:cNvPr id="9" name="">
            <a:extLst xmlns:a="http://schemas.openxmlformats.org/drawingml/2006/main">
              <a:ext uri="{FF2B5EF4-FFF2-40B4-BE49-F238E27FC236}">
                <a16:creationId xmlns:a16="http://schemas.microsoft.com/office/drawing/2014/main" id="{770AE034-7004-43A6-B649-0250557E8A35}"/>
              </a:ext>
            </a:extLst>
          </p:cNvPr>
          <p:cNvSpPr>
            <a:spLocks xmlns:a="http://schemas.openxmlformats.org/drawingml/2006/main" noGrp="1"/>
          </p:cNvSpPr>
          <p:nvPr/>
        </p:nvSpPr>
        <p:spPr>
          <a:xfrm xmlns:a="http://schemas.openxmlformats.org/drawingml/2006/main">
            <a:off x="1714500" y="5162550"/>
            <a:ext cx="0" cy="114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0" name="">
            <a:extLst xmlns:a="http://schemas.openxmlformats.org/drawingml/2006/main">
              <a:ext uri="{FF2B5EF4-FFF2-40B4-BE49-F238E27FC236}">
                <a16:creationId xmlns:a16="http://schemas.microsoft.com/office/drawing/2014/main" id="{7339169B-78B9-4448-83F1-D342C14AAC75}"/>
              </a:ext>
            </a:extLst>
          </p:cNvPr>
          <p:cNvSpPr>
            <a:spLocks xmlns:a="http://schemas.openxmlformats.org/drawingml/2006/main" noGrp="1"/>
          </p:cNvSpPr>
          <p:nvPr/>
        </p:nvSpPr>
        <p:spPr>
          <a:xfrm xmlns:a="http://schemas.openxmlformats.org/drawingml/2006/main">
            <a:off x="2057400" y="5057775"/>
            <a:ext cx="0" cy="3238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1" name="">
            <a:extLst xmlns:a="http://schemas.openxmlformats.org/drawingml/2006/main">
              <a:ext uri="{FF2B5EF4-FFF2-40B4-BE49-F238E27FC236}">
                <a16:creationId xmlns:a16="http://schemas.microsoft.com/office/drawing/2014/main" id="{4097BDFF-BD17-4599-931F-F75CACE10B84}"/>
              </a:ext>
            </a:extLst>
          </p:cNvPr>
          <p:cNvSpPr>
            <a:spLocks xmlns:a="http://schemas.openxmlformats.org/drawingml/2006/main" noGrp="1"/>
          </p:cNvSpPr>
          <p:nvPr/>
        </p:nvSpPr>
        <p:spPr>
          <a:xfrm xmlns:a="http://schemas.openxmlformats.org/drawingml/2006/main">
            <a:off x="2400300" y="4953000"/>
            <a:ext cx="0" cy="5334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2" name="">
            <a:extLst xmlns:a="http://schemas.openxmlformats.org/drawingml/2006/main">
              <a:ext uri="{FF2B5EF4-FFF2-40B4-BE49-F238E27FC236}">
                <a16:creationId xmlns:a16="http://schemas.microsoft.com/office/drawing/2014/main" id="{BDF73AD4-A376-477A-8914-F2C265C66E75}"/>
              </a:ext>
            </a:extLst>
          </p:cNvPr>
          <p:cNvSpPr>
            <a:spLocks xmlns:a="http://schemas.openxmlformats.org/drawingml/2006/main" noGrp="1"/>
          </p:cNvSpPr>
          <p:nvPr/>
        </p:nvSpPr>
        <p:spPr>
          <a:xfrm xmlns:a="http://schemas.openxmlformats.org/drawingml/2006/main">
            <a:off x="2743200" y="5076825"/>
            <a:ext cx="0" cy="2857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3" name="">
            <a:extLst xmlns:a="http://schemas.openxmlformats.org/drawingml/2006/main">
              <a:ext uri="{FF2B5EF4-FFF2-40B4-BE49-F238E27FC236}">
                <a16:creationId xmlns:a16="http://schemas.microsoft.com/office/drawing/2014/main" id="{660803AF-F742-451E-AC47-06BBF40116D5}"/>
              </a:ext>
            </a:extLst>
          </p:cNvPr>
          <p:cNvSpPr>
            <a:spLocks xmlns:a="http://schemas.openxmlformats.org/drawingml/2006/main" noGrp="1"/>
          </p:cNvSpPr>
          <p:nvPr/>
        </p:nvSpPr>
        <p:spPr>
          <a:xfrm xmlns:a="http://schemas.openxmlformats.org/drawingml/2006/main">
            <a:off x="3086100" y="4972050"/>
            <a:ext cx="0" cy="495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4" name="">
            <a:extLst xmlns:a="http://schemas.openxmlformats.org/drawingml/2006/main">
              <a:ext uri="{FF2B5EF4-FFF2-40B4-BE49-F238E27FC236}">
                <a16:creationId xmlns:a16="http://schemas.microsoft.com/office/drawing/2014/main" id="{BC6E684D-7A84-4E28-9504-85735451FCCF}"/>
              </a:ext>
            </a:extLst>
          </p:cNvPr>
          <p:cNvSpPr>
            <a:spLocks xmlns:a="http://schemas.openxmlformats.org/drawingml/2006/main" noGrp="1"/>
          </p:cNvSpPr>
          <p:nvPr/>
        </p:nvSpPr>
        <p:spPr>
          <a:xfrm xmlns:a="http://schemas.openxmlformats.org/drawingml/2006/main">
            <a:off x="3429000" y="5095875"/>
            <a:ext cx="0" cy="2476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5" name="">
            <a:extLst xmlns:a="http://schemas.openxmlformats.org/drawingml/2006/main">
              <a:ext uri="{FF2B5EF4-FFF2-40B4-BE49-F238E27FC236}">
                <a16:creationId xmlns:a16="http://schemas.microsoft.com/office/drawing/2014/main" id="{2BBE4293-AC06-46D8-9873-A9FAD0873ED5}"/>
              </a:ext>
            </a:extLst>
          </p:cNvPr>
          <p:cNvSpPr>
            <a:spLocks xmlns:a="http://schemas.openxmlformats.org/drawingml/2006/main" noGrp="1"/>
          </p:cNvSpPr>
          <p:nvPr/>
        </p:nvSpPr>
        <p:spPr>
          <a:xfrm xmlns:a="http://schemas.openxmlformats.org/drawingml/2006/main">
            <a:off x="3771900" y="4991100"/>
            <a:ext cx="0" cy="4572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6" name="">
            <a:extLst xmlns:a="http://schemas.openxmlformats.org/drawingml/2006/main">
              <a:ext uri="{FF2B5EF4-FFF2-40B4-BE49-F238E27FC236}">
                <a16:creationId xmlns:a16="http://schemas.microsoft.com/office/drawing/2014/main" id="{17A4AE28-78F9-4CFB-A1C8-CFA555702F20}"/>
              </a:ext>
            </a:extLst>
          </p:cNvPr>
          <p:cNvSpPr>
            <a:spLocks xmlns:a="http://schemas.openxmlformats.org/drawingml/2006/main" noGrp="1"/>
          </p:cNvSpPr>
          <p:nvPr/>
        </p:nvSpPr>
        <p:spPr>
          <a:xfrm xmlns:a="http://schemas.openxmlformats.org/drawingml/2006/main">
            <a:off x="4114800" y="5114925"/>
            <a:ext cx="0" cy="2095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7" name="">
            <a:extLst xmlns:a="http://schemas.openxmlformats.org/drawingml/2006/main">
              <a:ext uri="{FF2B5EF4-FFF2-40B4-BE49-F238E27FC236}">
                <a16:creationId xmlns:a16="http://schemas.microsoft.com/office/drawing/2014/main" id="{2F218325-E96E-412F-9778-05FC5696FF2D}"/>
              </a:ext>
            </a:extLst>
          </p:cNvPr>
          <p:cNvSpPr>
            <a:spLocks xmlns:a="http://schemas.openxmlformats.org/drawingml/2006/main" noGrp="1"/>
          </p:cNvSpPr>
          <p:nvPr/>
        </p:nvSpPr>
        <p:spPr>
          <a:xfrm xmlns:a="http://schemas.openxmlformats.org/drawingml/2006/main">
            <a:off x="4457700" y="5010150"/>
            <a:ext cx="0" cy="4191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8" name="">
            <a:extLst xmlns:a="http://schemas.openxmlformats.org/drawingml/2006/main">
              <a:ext uri="{FF2B5EF4-FFF2-40B4-BE49-F238E27FC236}">
                <a16:creationId xmlns:a16="http://schemas.microsoft.com/office/drawing/2014/main" id="{02D02E49-F1A0-486C-8F43-BB870C097F7E}"/>
              </a:ext>
            </a:extLst>
          </p:cNvPr>
          <p:cNvSpPr>
            <a:spLocks xmlns:a="http://schemas.openxmlformats.org/drawingml/2006/main" noGrp="1"/>
          </p:cNvSpPr>
          <p:nvPr/>
        </p:nvSpPr>
        <p:spPr>
          <a:xfrm xmlns:a="http://schemas.openxmlformats.org/drawingml/2006/main">
            <a:off x="4800600" y="5133975"/>
            <a:ext cx="0" cy="1714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19" name="">
            <a:extLst xmlns:a="http://schemas.openxmlformats.org/drawingml/2006/main">
              <a:ext uri="{FF2B5EF4-FFF2-40B4-BE49-F238E27FC236}">
                <a16:creationId xmlns:a16="http://schemas.microsoft.com/office/drawing/2014/main" id="{FD41AA35-F50D-43CA-973C-18B57F924C58}"/>
              </a:ext>
            </a:extLst>
          </p:cNvPr>
          <p:cNvSpPr>
            <a:spLocks xmlns:a="http://schemas.openxmlformats.org/drawingml/2006/main" noGrp="1"/>
          </p:cNvSpPr>
          <p:nvPr/>
        </p:nvSpPr>
        <p:spPr>
          <a:xfrm xmlns:a="http://schemas.openxmlformats.org/drawingml/2006/main">
            <a:off x="5143500" y="5029200"/>
            <a:ext cx="0" cy="3810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0" name="">
            <a:extLst xmlns:a="http://schemas.openxmlformats.org/drawingml/2006/main">
              <a:ext uri="{FF2B5EF4-FFF2-40B4-BE49-F238E27FC236}">
                <a16:creationId xmlns:a16="http://schemas.microsoft.com/office/drawing/2014/main" id="{75EC8F22-62F7-473C-B9A4-65CF671F5EA9}"/>
              </a:ext>
            </a:extLst>
          </p:cNvPr>
          <p:cNvSpPr>
            <a:spLocks xmlns:a="http://schemas.openxmlformats.org/drawingml/2006/main" noGrp="1"/>
          </p:cNvSpPr>
          <p:nvPr/>
        </p:nvSpPr>
        <p:spPr>
          <a:xfrm xmlns:a="http://schemas.openxmlformats.org/drawingml/2006/main">
            <a:off x="5486400" y="5153025"/>
            <a:ext cx="0" cy="1333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1" name="">
            <a:extLst xmlns:a="http://schemas.openxmlformats.org/drawingml/2006/main">
              <a:ext uri="{FF2B5EF4-FFF2-40B4-BE49-F238E27FC236}">
                <a16:creationId xmlns:a16="http://schemas.microsoft.com/office/drawing/2014/main" id="{15B82218-12C4-43E3-BD1F-3724CC92EE28}"/>
              </a:ext>
            </a:extLst>
          </p:cNvPr>
          <p:cNvSpPr>
            <a:spLocks xmlns:a="http://schemas.openxmlformats.org/drawingml/2006/main" noGrp="1"/>
          </p:cNvSpPr>
          <p:nvPr/>
        </p:nvSpPr>
        <p:spPr>
          <a:xfrm xmlns:a="http://schemas.openxmlformats.org/drawingml/2006/main">
            <a:off x="5829300" y="5048250"/>
            <a:ext cx="0" cy="3429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22" name="">
            <a:extLst xmlns:a="http://schemas.openxmlformats.org/drawingml/2006/main">
              <a:ext uri="{FF2B5EF4-FFF2-40B4-BE49-F238E27FC236}">
                <a16:creationId xmlns:a16="http://schemas.microsoft.com/office/drawing/2014/main" id="{2FA01670-E944-4181-9E8A-68BA3BEA6AAC}"/>
              </a:ext>
            </a:extLst>
          </p:cNvPr>
          <p:cNvSpPr>
            <a:spLocks xmlns:a="http://schemas.openxmlformats.org/drawingml/2006/main" noGrp="1"/>
          </p:cNvSpPr>
          <p:nvPr/>
        </p:nvSpPr>
        <p:spPr>
          <a:xfrm xmlns:a="http://schemas.openxmlformats.org/drawingml/2006/main">
            <a:off x="6172200" y="4943475"/>
            <a:ext cx="0" cy="55245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23" name="">
            <a:extLst xmlns:a="http://schemas.openxmlformats.org/drawingml/2006/main">
              <a:ext uri="{FF2B5EF4-FFF2-40B4-BE49-F238E27FC236}">
                <a16:creationId xmlns:a16="http://schemas.microsoft.com/office/drawing/2014/main" id="{A09CFC21-15FA-4051-BDA7-344CDAFC2F86}"/>
              </a:ext>
            </a:extLst>
          </p:cNvPr>
          <p:cNvSpPr>
            <a:spLocks xmlns:a="http://schemas.openxmlformats.org/drawingml/2006/main" noGrp="1"/>
          </p:cNvSpPr>
          <p:nvPr/>
        </p:nvSpPr>
        <p:spPr>
          <a:xfrm xmlns:a="http://schemas.openxmlformats.org/drawingml/2006/main">
            <a:off x="6515100" y="5067300"/>
            <a:ext cx="0" cy="304800"/>
          </a:xfrm>
          <a:prstGeom xmlns:a="http://schemas.openxmlformats.org/drawingml/2006/main" prst="line">
            <a:avLst/>
          </a:prstGeom>
          <a:noFill xmlns:a="http://schemas.openxmlformats.org/drawingml/2006/main"/>
          <a:ln xmlns:a="http://schemas.openxmlformats.org/drawingml/2006/main" w="19050">
            <a:solidFill>
              <a:srgbClr val="D96C5F"/>
            </a:solidFill>
            <a:prstDash val="solid"/>
          </a:ln>
        </p:spPr>
      </p:sp>
      <p:sp>
        <p:nvSpPr>
          <p:cNvPr id="24" name="">
            <a:extLst xmlns:a="http://schemas.openxmlformats.org/drawingml/2006/main">
              <a:ext uri="{FF2B5EF4-FFF2-40B4-BE49-F238E27FC236}">
                <a16:creationId xmlns:a16="http://schemas.microsoft.com/office/drawing/2014/main" id="{634EB184-9936-4087-A4FA-0C44DEC16A76}"/>
              </a:ext>
            </a:extLst>
          </p:cNvPr>
          <p:cNvSpPr>
            <a:spLocks xmlns:a="http://schemas.openxmlformats.org/drawingml/2006/main" noGrp="1"/>
          </p:cNvSpPr>
          <p:nvPr/>
        </p:nvSpPr>
        <p:spPr>
          <a:xfrm xmlns:a="http://schemas.openxmlformats.org/drawingml/2006/main">
            <a:off x="6858000" y="4962525"/>
            <a:ext cx="0" cy="5143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5" name="">
            <a:extLst xmlns:a="http://schemas.openxmlformats.org/drawingml/2006/main">
              <a:ext uri="{FF2B5EF4-FFF2-40B4-BE49-F238E27FC236}">
                <a16:creationId xmlns:a16="http://schemas.microsoft.com/office/drawing/2014/main" id="{FF12BEDB-5139-4C5F-A596-38FDD970D21C}"/>
              </a:ext>
            </a:extLst>
          </p:cNvPr>
          <p:cNvSpPr>
            <a:spLocks xmlns:a="http://schemas.openxmlformats.org/drawingml/2006/main" noGrp="1"/>
          </p:cNvSpPr>
          <p:nvPr/>
        </p:nvSpPr>
        <p:spPr>
          <a:xfrm xmlns:a="http://schemas.openxmlformats.org/drawingml/2006/main">
            <a:off x="7200900" y="5086350"/>
            <a:ext cx="0" cy="2667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6" name="">
            <a:extLst xmlns:a="http://schemas.openxmlformats.org/drawingml/2006/main">
              <a:ext uri="{FF2B5EF4-FFF2-40B4-BE49-F238E27FC236}">
                <a16:creationId xmlns:a16="http://schemas.microsoft.com/office/drawing/2014/main" id="{292F4A13-9D57-465C-A9B7-8017E3AC9AE5}"/>
              </a:ext>
            </a:extLst>
          </p:cNvPr>
          <p:cNvSpPr>
            <a:spLocks xmlns:a="http://schemas.openxmlformats.org/drawingml/2006/main" noGrp="1"/>
          </p:cNvSpPr>
          <p:nvPr/>
        </p:nvSpPr>
        <p:spPr>
          <a:xfrm xmlns:a="http://schemas.openxmlformats.org/drawingml/2006/main">
            <a:off x="7543800" y="4981575"/>
            <a:ext cx="0" cy="4762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7" name="">
            <a:extLst xmlns:a="http://schemas.openxmlformats.org/drawingml/2006/main">
              <a:ext uri="{FF2B5EF4-FFF2-40B4-BE49-F238E27FC236}">
                <a16:creationId xmlns:a16="http://schemas.microsoft.com/office/drawing/2014/main" id="{13BE48C7-D193-496A-A8A5-0BBC9A2DB730}"/>
              </a:ext>
            </a:extLst>
          </p:cNvPr>
          <p:cNvSpPr>
            <a:spLocks xmlns:a="http://schemas.openxmlformats.org/drawingml/2006/main" noGrp="1"/>
          </p:cNvSpPr>
          <p:nvPr/>
        </p:nvSpPr>
        <p:spPr>
          <a:xfrm xmlns:a="http://schemas.openxmlformats.org/drawingml/2006/main">
            <a:off x="7886700" y="5105400"/>
            <a:ext cx="0" cy="2286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8" name="">
            <a:extLst xmlns:a="http://schemas.openxmlformats.org/drawingml/2006/main">
              <a:ext uri="{FF2B5EF4-FFF2-40B4-BE49-F238E27FC236}">
                <a16:creationId xmlns:a16="http://schemas.microsoft.com/office/drawing/2014/main" id="{C772A5A2-88CE-46AB-9C76-4BD4B36363AB}"/>
              </a:ext>
            </a:extLst>
          </p:cNvPr>
          <p:cNvSpPr>
            <a:spLocks xmlns:a="http://schemas.openxmlformats.org/drawingml/2006/main" noGrp="1"/>
          </p:cNvSpPr>
          <p:nvPr/>
        </p:nvSpPr>
        <p:spPr>
          <a:xfrm xmlns:a="http://schemas.openxmlformats.org/drawingml/2006/main">
            <a:off x="8229600" y="5000625"/>
            <a:ext cx="0" cy="4381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29" name="">
            <a:extLst xmlns:a="http://schemas.openxmlformats.org/drawingml/2006/main">
              <a:ext uri="{FF2B5EF4-FFF2-40B4-BE49-F238E27FC236}">
                <a16:creationId xmlns:a16="http://schemas.microsoft.com/office/drawing/2014/main" id="{C60A0341-F731-4F7E-90FD-CFA6AAFFD6C6}"/>
              </a:ext>
            </a:extLst>
          </p:cNvPr>
          <p:cNvSpPr>
            <a:spLocks xmlns:a="http://schemas.openxmlformats.org/drawingml/2006/main" noGrp="1"/>
          </p:cNvSpPr>
          <p:nvPr/>
        </p:nvSpPr>
        <p:spPr>
          <a:xfrm xmlns:a="http://schemas.openxmlformats.org/drawingml/2006/main">
            <a:off x="8572500" y="5124450"/>
            <a:ext cx="0" cy="1905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0" name="">
            <a:extLst xmlns:a="http://schemas.openxmlformats.org/drawingml/2006/main">
              <a:ext uri="{FF2B5EF4-FFF2-40B4-BE49-F238E27FC236}">
                <a16:creationId xmlns:a16="http://schemas.microsoft.com/office/drawing/2014/main" id="{F1491988-53EA-47E8-A53E-6C38E6C10127}"/>
              </a:ext>
            </a:extLst>
          </p:cNvPr>
          <p:cNvSpPr>
            <a:spLocks xmlns:a="http://schemas.openxmlformats.org/drawingml/2006/main" noGrp="1"/>
          </p:cNvSpPr>
          <p:nvPr/>
        </p:nvSpPr>
        <p:spPr>
          <a:xfrm xmlns:a="http://schemas.openxmlformats.org/drawingml/2006/main">
            <a:off x="8915400" y="5019675"/>
            <a:ext cx="0" cy="4000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1" name="">
            <a:extLst xmlns:a="http://schemas.openxmlformats.org/drawingml/2006/main">
              <a:ext uri="{FF2B5EF4-FFF2-40B4-BE49-F238E27FC236}">
                <a16:creationId xmlns:a16="http://schemas.microsoft.com/office/drawing/2014/main" id="{3B81A565-B155-4B77-B32E-D1959B28FAEC}"/>
              </a:ext>
            </a:extLst>
          </p:cNvPr>
          <p:cNvSpPr>
            <a:spLocks xmlns:a="http://schemas.openxmlformats.org/drawingml/2006/main" noGrp="1"/>
          </p:cNvSpPr>
          <p:nvPr/>
        </p:nvSpPr>
        <p:spPr>
          <a:xfrm xmlns:a="http://schemas.openxmlformats.org/drawingml/2006/main">
            <a:off x="9258300" y="5143500"/>
            <a:ext cx="0" cy="1524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2" name="">
            <a:extLst xmlns:a="http://schemas.openxmlformats.org/drawingml/2006/main">
              <a:ext uri="{FF2B5EF4-FFF2-40B4-BE49-F238E27FC236}">
                <a16:creationId xmlns:a16="http://schemas.microsoft.com/office/drawing/2014/main" id="{3957C836-CAD1-4CBC-AF46-6C5A4ABFF34D}"/>
              </a:ext>
            </a:extLst>
          </p:cNvPr>
          <p:cNvSpPr>
            <a:spLocks xmlns:a="http://schemas.openxmlformats.org/drawingml/2006/main" noGrp="1"/>
          </p:cNvSpPr>
          <p:nvPr/>
        </p:nvSpPr>
        <p:spPr>
          <a:xfrm xmlns:a="http://schemas.openxmlformats.org/drawingml/2006/main">
            <a:off x="9601200" y="5038725"/>
            <a:ext cx="0" cy="3619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3" name="">
            <a:extLst xmlns:a="http://schemas.openxmlformats.org/drawingml/2006/main">
              <a:ext uri="{FF2B5EF4-FFF2-40B4-BE49-F238E27FC236}">
                <a16:creationId xmlns:a16="http://schemas.microsoft.com/office/drawing/2014/main" id="{EC52F43C-ED3B-4744-9113-F1F3FAFB24BA}"/>
              </a:ext>
            </a:extLst>
          </p:cNvPr>
          <p:cNvSpPr>
            <a:spLocks xmlns:a="http://schemas.openxmlformats.org/drawingml/2006/main" noGrp="1"/>
          </p:cNvSpPr>
          <p:nvPr/>
        </p:nvSpPr>
        <p:spPr>
          <a:xfrm xmlns:a="http://schemas.openxmlformats.org/drawingml/2006/main">
            <a:off x="9944100" y="5162550"/>
            <a:ext cx="0" cy="11430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4" name="">
            <a:extLst xmlns:a="http://schemas.openxmlformats.org/drawingml/2006/main">
              <a:ext uri="{FF2B5EF4-FFF2-40B4-BE49-F238E27FC236}">
                <a16:creationId xmlns:a16="http://schemas.microsoft.com/office/drawing/2014/main" id="{05957C11-91AD-4C56-A5E2-4DEE2FE67B58}"/>
              </a:ext>
            </a:extLst>
          </p:cNvPr>
          <p:cNvSpPr>
            <a:spLocks xmlns:a="http://schemas.openxmlformats.org/drawingml/2006/main" noGrp="1"/>
          </p:cNvSpPr>
          <p:nvPr/>
        </p:nvSpPr>
        <p:spPr>
          <a:xfrm xmlns:a="http://schemas.openxmlformats.org/drawingml/2006/main">
            <a:off x="10287000" y="5057775"/>
            <a:ext cx="0" cy="323850"/>
          </a:xfrm>
          <a:prstGeom xmlns:a="http://schemas.openxmlformats.org/drawingml/2006/main" prst="line">
            <a:avLst/>
          </a:prstGeom>
          <a:noFill xmlns:a="http://schemas.openxmlformats.org/drawingml/2006/main"/>
          <a:ln xmlns:a="http://schemas.openxmlformats.org/drawingml/2006/main" w="19050">
            <a:solidFill>
              <a:srgbClr val="288DC1"/>
            </a:solidFill>
            <a:prstDash val="solid"/>
          </a:ln>
        </p:spPr>
      </p:sp>
      <p:sp>
        <p:nvSpPr>
          <p:cNvPr id="35" name="">
            <a:extLst xmlns:a="http://schemas.openxmlformats.org/drawingml/2006/main">
              <a:ext uri="{FF2B5EF4-FFF2-40B4-BE49-F238E27FC236}">
                <a16:creationId xmlns:a16="http://schemas.microsoft.com/office/drawing/2014/main" id="{18C0E825-95FC-48DC-BF9D-EE367D297960}"/>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experiment conclusion</a:t>
            </a:r>
          </a:p>
        </p:txBody>
      </p:sp>
    </p:spTree>
    <p:extLst>
      <p:ext uri="{BB962C8B-B14F-4D97-AF65-F5344CB8AC3E}">
        <p14:creationId xmlns:p14="http://schemas.microsoft.com/office/powerpoint/2010/main" val="176343997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dc58d8cbc7c4d3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F2E9CB-98A9-4F69-9B1F-16F4D542C772}"/>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842493AB-3B41-40CD-8F46-7D1194EA47AF}"/>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28</a:t>
            </a:r>
          </a:p>
        </p:txBody>
      </p:sp>
      <p:sp>
        <p:nvSpPr>
          <p:cNvPr id="4" name="">
            <a:extLst xmlns:a="http://schemas.openxmlformats.org/drawingml/2006/main">
              <a:ext uri="{FF2B5EF4-FFF2-40B4-BE49-F238E27FC236}">
                <a16:creationId xmlns:a16="http://schemas.microsoft.com/office/drawing/2014/main" id="{6E35D235-EA3A-4983-B72D-B5895261A257}"/>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1973864E-8E5F-4115-9A5F-BBBC0C1BF153}"/>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Appendix · research map</a:t>
            </a:r>
          </a:p>
        </p:txBody>
      </p:sp>
      <p:sp>
        <p:nvSpPr>
          <p:cNvPr id="6" name="">
            <a:extLst xmlns:a="http://schemas.openxmlformats.org/drawingml/2006/main">
              <a:ext uri="{FF2B5EF4-FFF2-40B4-BE49-F238E27FC236}">
                <a16:creationId xmlns:a16="http://schemas.microsoft.com/office/drawing/2014/main" id="{EE53DAEE-5FEB-43F3-9013-EBEB39BD4D5B}"/>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5E4FABD2-3771-4FF2-99E0-297758BD22C3}"/>
              </a:ext>
            </a:extLst>
          </p:cNvPr>
          <p:cNvSpPr>
            <a:spLocks xmlns:a="http://schemas.openxmlformats.org/drawingml/2006/main" noGrp="1"/>
          </p:cNvSpPr>
          <p:nvPr/>
        </p:nvSpPr>
        <p:spPr>
          <a:xfrm xmlns:a="http://schemas.openxmlformats.org/drawingml/2006/main">
            <a:off x="857250" y="2047875"/>
            <a:ext cx="2286000" cy="53340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8EA"/>
                </a:solidFill>
                <a:latin typeface="Aptos"/>
                <a:ea typeface="Aptos"/>
                <a:cs typeface="Aptos"/>
              </a:defRPr>
            </a:pPr>
            <a:r>
              <a:rPr sz="1200" b="1">
                <a:solidFill>
                  <a:srgbClr val="FFF8EA"/>
                </a:solidFill>
                <a:latin typeface="Aptos"/>
                <a:ea typeface="Aptos"/>
                <a:cs typeface="Aptos"/>
              </a:rPr>
              <a:t>Moshi</a:t>
            </a:r>
          </a:p>
        </p:txBody>
      </p:sp>
      <p:sp>
        <p:nvSpPr>
          <p:cNvPr id="8" name="">
            <a:extLst xmlns:a="http://schemas.openxmlformats.org/drawingml/2006/main">
              <a:ext uri="{FF2B5EF4-FFF2-40B4-BE49-F238E27FC236}">
                <a16:creationId xmlns:a16="http://schemas.microsoft.com/office/drawing/2014/main" id="{96ACA9F1-1312-4CEA-A343-E629A545DB84}"/>
              </a:ext>
            </a:extLst>
          </p:cNvPr>
          <p:cNvSpPr>
            <a:spLocks xmlns:a="http://schemas.openxmlformats.org/drawingml/2006/main" noGrp="1"/>
          </p:cNvSpPr>
          <p:nvPr/>
        </p:nvSpPr>
        <p:spPr>
          <a:xfrm xmlns:a="http://schemas.openxmlformats.org/drawingml/2006/main">
            <a:off x="3429000" y="2047875"/>
            <a:ext cx="7239000" cy="533400"/>
          </a:xfrm>
          <a:prstGeom xmlns:a="http://schemas.openxmlformats.org/drawingml/2006/main" prst="roundRect">
            <a:avLst>
              <a:gd name="adj" fmla="val 28571"/>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90500" tIns="0" rIns="95250" bIns="0" anchor="ctr">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two-stream full-duplex speech</a:t>
            </a:r>
          </a:p>
        </p:txBody>
      </p:sp>
      <p:sp>
        <p:nvSpPr>
          <p:cNvPr id="9" name="">
            <a:extLst xmlns:a="http://schemas.openxmlformats.org/drawingml/2006/main">
              <a:ext uri="{FF2B5EF4-FFF2-40B4-BE49-F238E27FC236}">
                <a16:creationId xmlns:a16="http://schemas.microsoft.com/office/drawing/2014/main" id="{56743060-950C-43B7-9B0A-3434F4DB499F}"/>
              </a:ext>
            </a:extLst>
          </p:cNvPr>
          <p:cNvSpPr>
            <a:spLocks xmlns:a="http://schemas.openxmlformats.org/drawingml/2006/main" noGrp="1"/>
          </p:cNvSpPr>
          <p:nvPr/>
        </p:nvSpPr>
        <p:spPr>
          <a:xfrm xmlns:a="http://schemas.openxmlformats.org/drawingml/2006/main">
            <a:off x="2000250" y="2581275"/>
            <a:ext cx="0" cy="2286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0" name="">
            <a:extLst xmlns:a="http://schemas.openxmlformats.org/drawingml/2006/main">
              <a:ext uri="{FF2B5EF4-FFF2-40B4-BE49-F238E27FC236}">
                <a16:creationId xmlns:a16="http://schemas.microsoft.com/office/drawing/2014/main" id="{54DC7164-FED0-46C3-A00B-04D8CEFE1011}"/>
              </a:ext>
            </a:extLst>
          </p:cNvPr>
          <p:cNvSpPr>
            <a:spLocks xmlns:a="http://schemas.openxmlformats.org/drawingml/2006/main" noGrp="1"/>
          </p:cNvSpPr>
          <p:nvPr/>
        </p:nvSpPr>
        <p:spPr>
          <a:xfrm xmlns:a="http://schemas.openxmlformats.org/drawingml/2006/main">
            <a:off x="857250" y="2809875"/>
            <a:ext cx="2286000" cy="53340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8EA"/>
                </a:solidFill>
                <a:latin typeface="Aptos"/>
                <a:ea typeface="Aptos"/>
                <a:cs typeface="Aptos"/>
              </a:defRPr>
            </a:pPr>
            <a:r>
              <a:rPr sz="1200" b="1">
                <a:solidFill>
                  <a:srgbClr val="FFF8EA"/>
                </a:solidFill>
                <a:latin typeface="Aptos"/>
                <a:ea typeface="Aptos"/>
                <a:cs typeface="Aptos"/>
              </a:rPr>
              <a:t>PersonaPlex</a:t>
            </a:r>
          </a:p>
        </p:txBody>
      </p:sp>
      <p:sp>
        <p:nvSpPr>
          <p:cNvPr id="11" name="">
            <a:extLst xmlns:a="http://schemas.openxmlformats.org/drawingml/2006/main">
              <a:ext uri="{FF2B5EF4-FFF2-40B4-BE49-F238E27FC236}">
                <a16:creationId xmlns:a16="http://schemas.microsoft.com/office/drawing/2014/main" id="{928D095B-E87F-45B5-8CB8-0EBAF750D958}"/>
              </a:ext>
            </a:extLst>
          </p:cNvPr>
          <p:cNvSpPr>
            <a:spLocks xmlns:a="http://schemas.openxmlformats.org/drawingml/2006/main" noGrp="1"/>
          </p:cNvSpPr>
          <p:nvPr/>
        </p:nvSpPr>
        <p:spPr>
          <a:xfrm xmlns:a="http://schemas.openxmlformats.org/drawingml/2006/main">
            <a:off x="3429000" y="2809875"/>
            <a:ext cx="7239000" cy="533400"/>
          </a:xfrm>
          <a:prstGeom xmlns:a="http://schemas.openxmlformats.org/drawingml/2006/main" prst="roundRect">
            <a:avLst>
              <a:gd name="adj" fmla="val 28571"/>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90500" tIns="0" rIns="95250" bIns="0" anchor="ctr">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role + voice conditioning</a:t>
            </a:r>
          </a:p>
        </p:txBody>
      </p:sp>
      <p:sp>
        <p:nvSpPr>
          <p:cNvPr id="12" name="">
            <a:extLst xmlns:a="http://schemas.openxmlformats.org/drawingml/2006/main">
              <a:ext uri="{FF2B5EF4-FFF2-40B4-BE49-F238E27FC236}">
                <a16:creationId xmlns:a16="http://schemas.microsoft.com/office/drawing/2014/main" id="{225F19AB-DD66-4105-9948-055C2DBEA171}"/>
              </a:ext>
            </a:extLst>
          </p:cNvPr>
          <p:cNvSpPr>
            <a:spLocks xmlns:a="http://schemas.openxmlformats.org/drawingml/2006/main" noGrp="1"/>
          </p:cNvSpPr>
          <p:nvPr/>
        </p:nvSpPr>
        <p:spPr>
          <a:xfrm xmlns:a="http://schemas.openxmlformats.org/drawingml/2006/main">
            <a:off x="2000250" y="3343275"/>
            <a:ext cx="0" cy="2286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3" name="">
            <a:extLst xmlns:a="http://schemas.openxmlformats.org/drawingml/2006/main">
              <a:ext uri="{FF2B5EF4-FFF2-40B4-BE49-F238E27FC236}">
                <a16:creationId xmlns:a16="http://schemas.microsoft.com/office/drawing/2014/main" id="{740723B3-04D3-42BA-B04E-26ED9A627D5D}"/>
              </a:ext>
            </a:extLst>
          </p:cNvPr>
          <p:cNvSpPr>
            <a:spLocks xmlns:a="http://schemas.openxmlformats.org/drawingml/2006/main" noGrp="1"/>
          </p:cNvSpPr>
          <p:nvPr/>
        </p:nvSpPr>
        <p:spPr>
          <a:xfrm xmlns:a="http://schemas.openxmlformats.org/drawingml/2006/main">
            <a:off x="857250" y="3571875"/>
            <a:ext cx="2286000" cy="53340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8EA"/>
                </a:solidFill>
                <a:latin typeface="Aptos"/>
                <a:ea typeface="Aptos"/>
                <a:cs typeface="Aptos"/>
              </a:defRPr>
            </a:pPr>
            <a:r>
              <a:rPr sz="1200" b="1">
                <a:solidFill>
                  <a:srgbClr val="FFF8EA"/>
                </a:solidFill>
                <a:latin typeface="Aptos"/>
                <a:ea typeface="Aptos"/>
                <a:cs typeface="Aptos"/>
              </a:rPr>
              <a:t>FD-Bench</a:t>
            </a:r>
          </a:p>
        </p:txBody>
      </p:sp>
      <p:sp>
        <p:nvSpPr>
          <p:cNvPr id="14" name="">
            <a:extLst xmlns:a="http://schemas.openxmlformats.org/drawingml/2006/main">
              <a:ext uri="{FF2B5EF4-FFF2-40B4-BE49-F238E27FC236}">
                <a16:creationId xmlns:a16="http://schemas.microsoft.com/office/drawing/2014/main" id="{950C18E3-CFFC-43A1-9661-D6225024A719}"/>
              </a:ext>
            </a:extLst>
          </p:cNvPr>
          <p:cNvSpPr>
            <a:spLocks xmlns:a="http://schemas.openxmlformats.org/drawingml/2006/main" noGrp="1"/>
          </p:cNvSpPr>
          <p:nvPr/>
        </p:nvSpPr>
        <p:spPr>
          <a:xfrm xmlns:a="http://schemas.openxmlformats.org/drawingml/2006/main">
            <a:off x="3429000" y="3571875"/>
            <a:ext cx="7239000" cy="533400"/>
          </a:xfrm>
          <a:prstGeom xmlns:a="http://schemas.openxmlformats.org/drawingml/2006/main" prst="roundRect">
            <a:avLst>
              <a:gd name="adj" fmla="val 28571"/>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90500" tIns="0" rIns="95250" bIns="0" anchor="ctr">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293 conversations · 1,200 interruptions</a:t>
            </a:r>
          </a:p>
        </p:txBody>
      </p:sp>
      <p:sp>
        <p:nvSpPr>
          <p:cNvPr id="15" name="">
            <a:extLst xmlns:a="http://schemas.openxmlformats.org/drawingml/2006/main">
              <a:ext uri="{FF2B5EF4-FFF2-40B4-BE49-F238E27FC236}">
                <a16:creationId xmlns:a16="http://schemas.microsoft.com/office/drawing/2014/main" id="{1206AAB6-76F1-4ED4-B31A-5AAC0FB31400}"/>
              </a:ext>
            </a:extLst>
          </p:cNvPr>
          <p:cNvSpPr>
            <a:spLocks xmlns:a="http://schemas.openxmlformats.org/drawingml/2006/main" noGrp="1"/>
          </p:cNvSpPr>
          <p:nvPr/>
        </p:nvSpPr>
        <p:spPr>
          <a:xfrm xmlns:a="http://schemas.openxmlformats.org/drawingml/2006/main">
            <a:off x="2000250" y="4105275"/>
            <a:ext cx="0" cy="2286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6" name="">
            <a:extLst xmlns:a="http://schemas.openxmlformats.org/drawingml/2006/main">
              <a:ext uri="{FF2B5EF4-FFF2-40B4-BE49-F238E27FC236}">
                <a16:creationId xmlns:a16="http://schemas.microsoft.com/office/drawing/2014/main" id="{F7C30E0E-E5B6-465E-A37A-72767B32FECF}"/>
              </a:ext>
            </a:extLst>
          </p:cNvPr>
          <p:cNvSpPr>
            <a:spLocks xmlns:a="http://schemas.openxmlformats.org/drawingml/2006/main" noGrp="1"/>
          </p:cNvSpPr>
          <p:nvPr/>
        </p:nvSpPr>
        <p:spPr>
          <a:xfrm xmlns:a="http://schemas.openxmlformats.org/drawingml/2006/main">
            <a:off x="857250" y="4333875"/>
            <a:ext cx="2286000" cy="533400"/>
          </a:xfrm>
          <a:prstGeom xmlns:a="http://schemas.openxmlformats.org/drawingml/2006/main" prst="roundRect">
            <a:avLst>
              <a:gd name="adj" fmla="val 28571"/>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8EA"/>
                </a:solidFill>
                <a:latin typeface="Aptos"/>
                <a:ea typeface="Aptos"/>
                <a:cs typeface="Aptos"/>
              </a:defRPr>
            </a:pPr>
            <a:r>
              <a:rPr sz="1200" b="1">
                <a:solidFill>
                  <a:srgbClr val="FFF8EA"/>
                </a:solidFill>
                <a:latin typeface="Aptos"/>
                <a:ea typeface="Aptos"/>
                <a:cs typeface="Aptos"/>
              </a:rPr>
              <a:t>Turn-taking studies</a:t>
            </a:r>
          </a:p>
        </p:txBody>
      </p:sp>
      <p:sp>
        <p:nvSpPr>
          <p:cNvPr id="17" name="">
            <a:extLst xmlns:a="http://schemas.openxmlformats.org/drawingml/2006/main">
              <a:ext uri="{FF2B5EF4-FFF2-40B4-BE49-F238E27FC236}">
                <a16:creationId xmlns:a16="http://schemas.microsoft.com/office/drawing/2014/main" id="{64E63340-D0E5-44EF-9518-0549912C8DB6}"/>
              </a:ext>
            </a:extLst>
          </p:cNvPr>
          <p:cNvSpPr>
            <a:spLocks xmlns:a="http://schemas.openxmlformats.org/drawingml/2006/main" noGrp="1"/>
          </p:cNvSpPr>
          <p:nvPr/>
        </p:nvSpPr>
        <p:spPr>
          <a:xfrm xmlns:a="http://schemas.openxmlformats.org/drawingml/2006/main">
            <a:off x="3429000" y="4333875"/>
            <a:ext cx="7239000" cy="533400"/>
          </a:xfrm>
          <a:prstGeom xmlns:a="http://schemas.openxmlformats.org/drawingml/2006/main" prst="roundRect">
            <a:avLst>
              <a:gd name="adj" fmla="val 28571"/>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90500" tIns="0" rIns="95250" bIns="0" anchor="ctr">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noise + decoding bias</a:t>
            </a:r>
          </a:p>
        </p:txBody>
      </p:sp>
      <p:sp>
        <p:nvSpPr>
          <p:cNvPr id="18" name="">
            <a:extLst xmlns:a="http://schemas.openxmlformats.org/drawingml/2006/main">
              <a:ext uri="{FF2B5EF4-FFF2-40B4-BE49-F238E27FC236}">
                <a16:creationId xmlns:a16="http://schemas.microsoft.com/office/drawing/2014/main" id="{663AFFE1-8F46-4665-971B-305F47A5260C}"/>
              </a:ext>
            </a:extLst>
          </p:cNvPr>
          <p:cNvSpPr>
            <a:spLocks xmlns:a="http://schemas.openxmlformats.org/drawingml/2006/main" noGrp="1"/>
          </p:cNvSpPr>
          <p:nvPr/>
        </p:nvSpPr>
        <p:spPr>
          <a:xfrm xmlns:a="http://schemas.openxmlformats.org/drawingml/2006/main">
            <a:off x="2000250" y="4867275"/>
            <a:ext cx="0" cy="228600"/>
          </a:xfrm>
          <a:prstGeom xmlns:a="http://schemas.openxmlformats.org/drawingml/2006/main" prst="line">
            <a:avLst/>
          </a:prstGeom>
          <a:noFill xmlns:a="http://schemas.openxmlformats.org/drawingml/2006/main"/>
          <a:ln xmlns:a="http://schemas.openxmlformats.org/drawingml/2006/main" w="19050">
            <a:solidFill>
              <a:srgbClr val="8EBBD0"/>
            </a:solidFill>
            <a:prstDash val="solid"/>
          </a:ln>
        </p:spPr>
      </p:sp>
      <p:sp>
        <p:nvSpPr>
          <p:cNvPr id="19" name="">
            <a:extLst xmlns:a="http://schemas.openxmlformats.org/drawingml/2006/main">
              <a:ext uri="{FF2B5EF4-FFF2-40B4-BE49-F238E27FC236}">
                <a16:creationId xmlns:a16="http://schemas.microsoft.com/office/drawing/2014/main" id="{FC2A7551-0386-4EE3-A390-22D17CFDAB05}"/>
              </a:ext>
            </a:extLst>
          </p:cNvPr>
          <p:cNvSpPr>
            <a:spLocks xmlns:a="http://schemas.openxmlformats.org/drawingml/2006/main" noGrp="1"/>
          </p:cNvSpPr>
          <p:nvPr/>
        </p:nvSpPr>
        <p:spPr>
          <a:xfrm xmlns:a="http://schemas.openxmlformats.org/drawingml/2006/main">
            <a:off x="857250" y="5095875"/>
            <a:ext cx="2286000" cy="533400"/>
          </a:xfrm>
          <a:prstGeom xmlns:a="http://schemas.openxmlformats.org/drawingml/2006/main" prst="roundRect">
            <a:avLst>
              <a:gd name="adj" fmla="val 28571"/>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8EA"/>
                </a:solidFill>
                <a:latin typeface="Aptos"/>
                <a:ea typeface="Aptos"/>
                <a:cs typeface="Aptos"/>
              </a:defRPr>
            </a:pPr>
            <a:r>
              <a:rPr sz="1200" b="1">
                <a:solidFill>
                  <a:srgbClr val="FFF8EA"/>
                </a:solidFill>
                <a:latin typeface="Aptos"/>
                <a:ea typeface="Aptos"/>
                <a:cs typeface="Aptos"/>
              </a:rPr>
              <a:t>Duet</a:t>
            </a:r>
          </a:p>
        </p:txBody>
      </p:sp>
      <p:sp>
        <p:nvSpPr>
          <p:cNvPr id="20" name="">
            <a:extLst xmlns:a="http://schemas.openxmlformats.org/drawingml/2006/main">
              <a:ext uri="{FF2B5EF4-FFF2-40B4-BE49-F238E27FC236}">
                <a16:creationId xmlns:a16="http://schemas.microsoft.com/office/drawing/2014/main" id="{09927CBB-4DAF-40BA-BF79-5A7211B1F367}"/>
              </a:ext>
            </a:extLst>
          </p:cNvPr>
          <p:cNvSpPr>
            <a:spLocks xmlns:a="http://schemas.openxmlformats.org/drawingml/2006/main" noGrp="1"/>
          </p:cNvSpPr>
          <p:nvPr/>
        </p:nvSpPr>
        <p:spPr>
          <a:xfrm xmlns:a="http://schemas.openxmlformats.org/drawingml/2006/main">
            <a:off x="3429000" y="5095875"/>
            <a:ext cx="7239000" cy="533400"/>
          </a:xfrm>
          <a:prstGeom xmlns:a="http://schemas.openxmlformats.org/drawingml/2006/main" prst="roundRect">
            <a:avLst>
              <a:gd name="adj" fmla="val 28571"/>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90500" tIns="0" rIns="95250" bIns="0" anchor="ctr">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guarded speculation + actions</a:t>
            </a:r>
          </a:p>
        </p:txBody>
      </p:sp>
      <p:sp>
        <p:nvSpPr>
          <p:cNvPr id="21" name="">
            <a:extLst xmlns:a="http://schemas.openxmlformats.org/drawingml/2006/main">
              <a:ext uri="{FF2B5EF4-FFF2-40B4-BE49-F238E27FC236}">
                <a16:creationId xmlns:a16="http://schemas.microsoft.com/office/drawing/2014/main" id="{A9D02C51-99E6-450F-A9FB-C7FB4B2BF38A}"/>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arXiv:2410.00037 · 2507.19040 · 2605.20356</a:t>
            </a:r>
          </a:p>
        </p:txBody>
      </p:sp>
    </p:spTree>
    <p:extLst>
      <p:ext uri="{BB962C8B-B14F-4D97-AF65-F5344CB8AC3E}">
        <p14:creationId xmlns:p14="http://schemas.microsoft.com/office/powerpoint/2010/main" val="145680305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450337ada63492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5FBA45-8030-4367-A3F9-420459F656B7}"/>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A86446DD-7E06-46B1-93CC-C3F23DBFE662}"/>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29</a:t>
            </a:r>
          </a:p>
        </p:txBody>
      </p:sp>
      <p:sp>
        <p:nvSpPr>
          <p:cNvPr id="4" name="">
            <a:extLst xmlns:a="http://schemas.openxmlformats.org/drawingml/2006/main">
              <a:ext uri="{FF2B5EF4-FFF2-40B4-BE49-F238E27FC236}">
                <a16:creationId xmlns:a16="http://schemas.microsoft.com/office/drawing/2014/main" id="{43F130D5-A840-4CC1-B7F5-238FCA51BB98}"/>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05E24B7C-EF65-4B6A-8E2F-B4FEBDACA0D6}"/>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Appendix · metrics that matter</a:t>
            </a:r>
          </a:p>
        </p:txBody>
      </p:sp>
      <p:sp>
        <p:nvSpPr>
          <p:cNvPr id="6" name="">
            <a:extLst xmlns:a="http://schemas.openxmlformats.org/drawingml/2006/main">
              <a:ext uri="{FF2B5EF4-FFF2-40B4-BE49-F238E27FC236}">
                <a16:creationId xmlns:a16="http://schemas.microsoft.com/office/drawing/2014/main" id="{D641960D-8281-48C1-BEA9-FA0443EB112A}"/>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F4F802C9-B47A-4E98-962F-BBD94C323AB4}"/>
              </a:ext>
            </a:extLst>
          </p:cNvPr>
          <p:cNvSpPr>
            <a:spLocks xmlns:a="http://schemas.openxmlformats.org/drawingml/2006/main" noGrp="1"/>
          </p:cNvSpPr>
          <p:nvPr/>
        </p:nvSpPr>
        <p:spPr>
          <a:xfrm xmlns:a="http://schemas.openxmlformats.org/drawingml/2006/main">
            <a:off x="800100" y="2038350"/>
            <a:ext cx="4953000" cy="990600"/>
          </a:xfrm>
          <a:prstGeom xmlns:a="http://schemas.openxmlformats.org/drawingml/2006/main" prst="roundRect">
            <a:avLst>
              <a:gd name="adj" fmla="val 17308"/>
            </a:avLst>
          </a:prstGeom>
          <a:solidFill xmlns:a="http://schemas.openxmlformats.org/drawingml/2006/main">
            <a:srgbClr val="FFF8EA"/>
          </a:solidFill>
          <a:ln xmlns:a="http://schemas.openxmlformats.org/drawingml/2006/main" w="9525">
            <a:solidFill>
              <a:srgbClr val="8EBBD0"/>
            </a:solidFill>
            <a:prstDash val="solid"/>
          </a:ln>
        </p:spPr>
      </p:sp>
      <p:sp>
        <p:nvSpPr>
          <p:cNvPr id="8" name="">
            <a:extLst xmlns:a="http://schemas.openxmlformats.org/drawingml/2006/main">
              <a:ext uri="{FF2B5EF4-FFF2-40B4-BE49-F238E27FC236}">
                <a16:creationId xmlns:a16="http://schemas.microsoft.com/office/drawing/2014/main" id="{E786172F-F712-4BDF-9FA3-3E7AFA6ACF99}"/>
              </a:ext>
            </a:extLst>
          </p:cNvPr>
          <p:cNvSpPr>
            <a:spLocks xmlns:a="http://schemas.openxmlformats.org/drawingml/2006/main" noGrp="1"/>
          </p:cNvSpPr>
          <p:nvPr/>
        </p:nvSpPr>
        <p:spPr>
          <a:xfrm xmlns:a="http://schemas.openxmlformats.org/drawingml/2006/main">
            <a:off x="800100" y="2038350"/>
            <a:ext cx="66675" cy="99060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9" name="">
            <a:extLst xmlns:a="http://schemas.openxmlformats.org/drawingml/2006/main">
              <a:ext uri="{FF2B5EF4-FFF2-40B4-BE49-F238E27FC236}">
                <a16:creationId xmlns:a16="http://schemas.microsoft.com/office/drawing/2014/main" id="{1AF38D93-D807-4BAA-AC5F-A6C3307F1F04}"/>
              </a:ext>
            </a:extLst>
          </p:cNvPr>
          <p:cNvSpPr>
            <a:spLocks xmlns:a="http://schemas.openxmlformats.org/drawingml/2006/main" noGrp="1"/>
          </p:cNvSpPr>
          <p:nvPr/>
        </p:nvSpPr>
        <p:spPr>
          <a:xfrm xmlns:a="http://schemas.openxmlformats.org/drawingml/2006/main">
            <a:off x="1028700" y="2181225"/>
            <a:ext cx="455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ASR</a:t>
            </a:r>
          </a:p>
        </p:txBody>
      </p:sp>
      <p:sp>
        <p:nvSpPr>
          <p:cNvPr id="10" name="">
            <a:extLst xmlns:a="http://schemas.openxmlformats.org/drawingml/2006/main">
              <a:ext uri="{FF2B5EF4-FFF2-40B4-BE49-F238E27FC236}">
                <a16:creationId xmlns:a16="http://schemas.microsoft.com/office/drawing/2014/main" id="{75C13319-4DC2-4EBF-A7F7-546EF36216B0}"/>
              </a:ext>
            </a:extLst>
          </p:cNvPr>
          <p:cNvSpPr>
            <a:spLocks xmlns:a="http://schemas.openxmlformats.org/drawingml/2006/main" noGrp="1"/>
          </p:cNvSpPr>
          <p:nvPr/>
        </p:nvSpPr>
        <p:spPr>
          <a:xfrm xmlns:a="http://schemas.openxmlformats.org/drawingml/2006/main">
            <a:off x="1028700" y="2495550"/>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WER / CER · accent · SNR · code-mix</a:t>
            </a:r>
          </a:p>
        </p:txBody>
      </p:sp>
      <p:sp>
        <p:nvSpPr>
          <p:cNvPr id="11" name="">
            <a:extLst xmlns:a="http://schemas.openxmlformats.org/drawingml/2006/main">
              <a:ext uri="{FF2B5EF4-FFF2-40B4-BE49-F238E27FC236}">
                <a16:creationId xmlns:a16="http://schemas.microsoft.com/office/drawing/2014/main" id="{6288FD68-8635-4DF2-A865-62CA8220F7AF}"/>
              </a:ext>
            </a:extLst>
          </p:cNvPr>
          <p:cNvSpPr>
            <a:spLocks xmlns:a="http://schemas.openxmlformats.org/drawingml/2006/main" noGrp="1"/>
          </p:cNvSpPr>
          <p:nvPr/>
        </p:nvSpPr>
        <p:spPr>
          <a:xfrm xmlns:a="http://schemas.openxmlformats.org/drawingml/2006/main">
            <a:off x="6134100" y="2038350"/>
            <a:ext cx="4953000" cy="990600"/>
          </a:xfrm>
          <a:prstGeom xmlns:a="http://schemas.openxmlformats.org/drawingml/2006/main" prst="roundRect">
            <a:avLst>
              <a:gd name="adj" fmla="val 17308"/>
            </a:avLst>
          </a:prstGeom>
          <a:solidFill xmlns:a="http://schemas.openxmlformats.org/drawingml/2006/main">
            <a:srgbClr val="FFF8EA"/>
          </a:solidFill>
          <a:ln xmlns:a="http://schemas.openxmlformats.org/drawingml/2006/main" w="9525">
            <a:solidFill>
              <a:srgbClr val="8EBBD0"/>
            </a:solidFill>
            <a:prstDash val="solid"/>
          </a:ln>
        </p:spPr>
      </p:sp>
      <p:sp>
        <p:nvSpPr>
          <p:cNvPr id="12" name="">
            <a:extLst xmlns:a="http://schemas.openxmlformats.org/drawingml/2006/main">
              <a:ext uri="{FF2B5EF4-FFF2-40B4-BE49-F238E27FC236}">
                <a16:creationId xmlns:a16="http://schemas.microsoft.com/office/drawing/2014/main" id="{BE3AE251-F4C6-4C32-B4CE-64E0CC0612E2}"/>
              </a:ext>
            </a:extLst>
          </p:cNvPr>
          <p:cNvSpPr>
            <a:spLocks xmlns:a="http://schemas.openxmlformats.org/drawingml/2006/main" noGrp="1"/>
          </p:cNvSpPr>
          <p:nvPr/>
        </p:nvSpPr>
        <p:spPr>
          <a:xfrm xmlns:a="http://schemas.openxmlformats.org/drawingml/2006/main">
            <a:off x="6134100" y="2038350"/>
            <a:ext cx="66675" cy="99060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13" name="">
            <a:extLst xmlns:a="http://schemas.openxmlformats.org/drawingml/2006/main">
              <a:ext uri="{FF2B5EF4-FFF2-40B4-BE49-F238E27FC236}">
                <a16:creationId xmlns:a16="http://schemas.microsoft.com/office/drawing/2014/main" id="{BE9FE95E-A439-41AE-AAD0-4DFFF2BA15BF}"/>
              </a:ext>
            </a:extLst>
          </p:cNvPr>
          <p:cNvSpPr>
            <a:spLocks xmlns:a="http://schemas.openxmlformats.org/drawingml/2006/main" noGrp="1"/>
          </p:cNvSpPr>
          <p:nvPr/>
        </p:nvSpPr>
        <p:spPr>
          <a:xfrm xmlns:a="http://schemas.openxmlformats.org/drawingml/2006/main">
            <a:off x="6362700" y="2181225"/>
            <a:ext cx="455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TURN</a:t>
            </a:r>
          </a:p>
        </p:txBody>
      </p:sp>
      <p:sp>
        <p:nvSpPr>
          <p:cNvPr id="14" name="">
            <a:extLst xmlns:a="http://schemas.openxmlformats.org/drawingml/2006/main">
              <a:ext uri="{FF2B5EF4-FFF2-40B4-BE49-F238E27FC236}">
                <a16:creationId xmlns:a16="http://schemas.microsoft.com/office/drawing/2014/main" id="{40CC932B-20CE-440B-8837-96792FFEF171}"/>
              </a:ext>
            </a:extLst>
          </p:cNvPr>
          <p:cNvSpPr>
            <a:spLocks xmlns:a="http://schemas.openxmlformats.org/drawingml/2006/main" noGrp="1"/>
          </p:cNvSpPr>
          <p:nvPr/>
        </p:nvSpPr>
        <p:spPr>
          <a:xfrm xmlns:a="http://schemas.openxmlformats.org/drawingml/2006/main">
            <a:off x="6362700" y="2495550"/>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endpoint · takeover · overlap · barge-stop</a:t>
            </a:r>
          </a:p>
        </p:txBody>
      </p:sp>
      <p:sp>
        <p:nvSpPr>
          <p:cNvPr id="15" name="">
            <a:extLst xmlns:a="http://schemas.openxmlformats.org/drawingml/2006/main">
              <a:ext uri="{FF2B5EF4-FFF2-40B4-BE49-F238E27FC236}">
                <a16:creationId xmlns:a16="http://schemas.microsoft.com/office/drawing/2014/main" id="{4AB8A6C9-B1E9-40B0-BDBE-4E9E4E944B4A}"/>
              </a:ext>
            </a:extLst>
          </p:cNvPr>
          <p:cNvSpPr>
            <a:spLocks xmlns:a="http://schemas.openxmlformats.org/drawingml/2006/main" noGrp="1"/>
          </p:cNvSpPr>
          <p:nvPr/>
        </p:nvSpPr>
        <p:spPr>
          <a:xfrm xmlns:a="http://schemas.openxmlformats.org/drawingml/2006/main">
            <a:off x="800100" y="3295650"/>
            <a:ext cx="4953000" cy="990600"/>
          </a:xfrm>
          <a:prstGeom xmlns:a="http://schemas.openxmlformats.org/drawingml/2006/main" prst="roundRect">
            <a:avLst>
              <a:gd name="adj" fmla="val 17308"/>
            </a:avLst>
          </a:prstGeom>
          <a:solidFill xmlns:a="http://schemas.openxmlformats.org/drawingml/2006/main">
            <a:srgbClr val="FFF8EA"/>
          </a:solidFill>
          <a:ln xmlns:a="http://schemas.openxmlformats.org/drawingml/2006/main" w="9525">
            <a:solidFill>
              <a:srgbClr val="8EBBD0"/>
            </a:solidFill>
            <a:prstDash val="solid"/>
          </a:ln>
        </p:spPr>
      </p:sp>
      <p:sp>
        <p:nvSpPr>
          <p:cNvPr id="16" name="">
            <a:extLst xmlns:a="http://schemas.openxmlformats.org/drawingml/2006/main">
              <a:ext uri="{FF2B5EF4-FFF2-40B4-BE49-F238E27FC236}">
                <a16:creationId xmlns:a16="http://schemas.microsoft.com/office/drawing/2014/main" id="{19D4BE37-21D2-4BFA-9DD0-FD7E6554D953}"/>
              </a:ext>
            </a:extLst>
          </p:cNvPr>
          <p:cNvSpPr>
            <a:spLocks xmlns:a="http://schemas.openxmlformats.org/drawingml/2006/main" noGrp="1"/>
          </p:cNvSpPr>
          <p:nvPr/>
        </p:nvSpPr>
        <p:spPr>
          <a:xfrm xmlns:a="http://schemas.openxmlformats.org/drawingml/2006/main">
            <a:off x="800100" y="3295650"/>
            <a:ext cx="66675" cy="99060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17" name="">
            <a:extLst xmlns:a="http://schemas.openxmlformats.org/drawingml/2006/main">
              <a:ext uri="{FF2B5EF4-FFF2-40B4-BE49-F238E27FC236}">
                <a16:creationId xmlns:a16="http://schemas.microsoft.com/office/drawing/2014/main" id="{5BCD8671-A7DA-4A4F-B76B-EDBD9FD0E9C0}"/>
              </a:ext>
            </a:extLst>
          </p:cNvPr>
          <p:cNvSpPr>
            <a:spLocks xmlns:a="http://schemas.openxmlformats.org/drawingml/2006/main" noGrp="1"/>
          </p:cNvSpPr>
          <p:nvPr/>
        </p:nvSpPr>
        <p:spPr>
          <a:xfrm xmlns:a="http://schemas.openxmlformats.org/drawingml/2006/main">
            <a:off x="1028700" y="3438525"/>
            <a:ext cx="455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REASON</a:t>
            </a:r>
          </a:p>
        </p:txBody>
      </p:sp>
      <p:sp>
        <p:nvSpPr>
          <p:cNvPr id="18" name="">
            <a:extLst xmlns:a="http://schemas.openxmlformats.org/drawingml/2006/main">
              <a:ext uri="{FF2B5EF4-FFF2-40B4-BE49-F238E27FC236}">
                <a16:creationId xmlns:a16="http://schemas.microsoft.com/office/drawing/2014/main" id="{8A96EA6F-0AA0-44EF-AAC0-DFC67B3E79D6}"/>
              </a:ext>
            </a:extLst>
          </p:cNvPr>
          <p:cNvSpPr>
            <a:spLocks xmlns:a="http://schemas.openxmlformats.org/drawingml/2006/main" noGrp="1"/>
          </p:cNvSpPr>
          <p:nvPr/>
        </p:nvSpPr>
        <p:spPr>
          <a:xfrm xmlns:a="http://schemas.openxmlformats.org/drawingml/2006/main">
            <a:off x="1028700" y="3752850"/>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factuality · policy · task · TTFT</a:t>
            </a:r>
          </a:p>
        </p:txBody>
      </p:sp>
      <p:sp>
        <p:nvSpPr>
          <p:cNvPr id="19" name="">
            <a:extLst xmlns:a="http://schemas.openxmlformats.org/drawingml/2006/main">
              <a:ext uri="{FF2B5EF4-FFF2-40B4-BE49-F238E27FC236}">
                <a16:creationId xmlns:a16="http://schemas.microsoft.com/office/drawing/2014/main" id="{9E1A942D-F1B1-42D6-9312-366C613CD0FC}"/>
              </a:ext>
            </a:extLst>
          </p:cNvPr>
          <p:cNvSpPr>
            <a:spLocks xmlns:a="http://schemas.openxmlformats.org/drawingml/2006/main" noGrp="1"/>
          </p:cNvSpPr>
          <p:nvPr/>
        </p:nvSpPr>
        <p:spPr>
          <a:xfrm xmlns:a="http://schemas.openxmlformats.org/drawingml/2006/main">
            <a:off x="6134100" y="3295650"/>
            <a:ext cx="4953000" cy="990600"/>
          </a:xfrm>
          <a:prstGeom xmlns:a="http://schemas.openxmlformats.org/drawingml/2006/main" prst="roundRect">
            <a:avLst>
              <a:gd name="adj" fmla="val 17308"/>
            </a:avLst>
          </a:prstGeom>
          <a:solidFill xmlns:a="http://schemas.openxmlformats.org/drawingml/2006/main">
            <a:srgbClr val="FFF8EA"/>
          </a:solidFill>
          <a:ln xmlns:a="http://schemas.openxmlformats.org/drawingml/2006/main" w="9525">
            <a:solidFill>
              <a:srgbClr val="8EBBD0"/>
            </a:solidFill>
            <a:prstDash val="solid"/>
          </a:ln>
        </p:spPr>
      </p:sp>
      <p:sp>
        <p:nvSpPr>
          <p:cNvPr id="20" name="">
            <a:extLst xmlns:a="http://schemas.openxmlformats.org/drawingml/2006/main">
              <a:ext uri="{FF2B5EF4-FFF2-40B4-BE49-F238E27FC236}">
                <a16:creationId xmlns:a16="http://schemas.microsoft.com/office/drawing/2014/main" id="{360E1B6B-99CF-4C98-9C8F-3054FE3FFDCE}"/>
              </a:ext>
            </a:extLst>
          </p:cNvPr>
          <p:cNvSpPr>
            <a:spLocks xmlns:a="http://schemas.openxmlformats.org/drawingml/2006/main" noGrp="1"/>
          </p:cNvSpPr>
          <p:nvPr/>
        </p:nvSpPr>
        <p:spPr>
          <a:xfrm xmlns:a="http://schemas.openxmlformats.org/drawingml/2006/main">
            <a:off x="6134100" y="3295650"/>
            <a:ext cx="66675" cy="990600"/>
          </a:xfrm>
          <a:prstGeom xmlns:a="http://schemas.openxmlformats.org/drawingml/2006/main" prst="roundRect">
            <a:avLst>
              <a:gd name="adj" fmla="val 42857"/>
            </a:avLst>
          </a:prstGeom>
          <a:solidFill xmlns:a="http://schemas.openxmlformats.org/drawingml/2006/main">
            <a:srgbClr val="268C82"/>
          </a:solidFill>
          <a:ln xmlns:a="http://schemas.openxmlformats.org/drawingml/2006/main" w="0">
            <a:solidFill>
              <a:srgbClr val="268C82"/>
            </a:solidFill>
            <a:prstDash val="solid"/>
          </a:ln>
        </p:spPr>
      </p:sp>
      <p:sp>
        <p:nvSpPr>
          <p:cNvPr id="21" name="">
            <a:extLst xmlns:a="http://schemas.openxmlformats.org/drawingml/2006/main">
              <a:ext uri="{FF2B5EF4-FFF2-40B4-BE49-F238E27FC236}">
                <a16:creationId xmlns:a16="http://schemas.microsoft.com/office/drawing/2014/main" id="{449846EE-1269-447F-A582-11D33318BC6F}"/>
              </a:ext>
            </a:extLst>
          </p:cNvPr>
          <p:cNvSpPr>
            <a:spLocks xmlns:a="http://schemas.openxmlformats.org/drawingml/2006/main" noGrp="1"/>
          </p:cNvSpPr>
          <p:nvPr/>
        </p:nvSpPr>
        <p:spPr>
          <a:xfrm xmlns:a="http://schemas.openxmlformats.org/drawingml/2006/main">
            <a:off x="6362700" y="3438525"/>
            <a:ext cx="455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68C82"/>
                </a:solidFill>
                <a:latin typeface="Aptos"/>
                <a:ea typeface="Aptos"/>
                <a:cs typeface="Aptos"/>
              </a:defRPr>
            </a:pPr>
            <a:r>
              <a:rPr sz="1050" b="1">
                <a:solidFill>
                  <a:srgbClr val="268C82"/>
                </a:solidFill>
                <a:latin typeface="Aptos"/>
                <a:ea typeface="Aptos"/>
                <a:cs typeface="Aptos"/>
              </a:rPr>
              <a:t>TTS</a:t>
            </a:r>
          </a:p>
        </p:txBody>
      </p:sp>
      <p:sp>
        <p:nvSpPr>
          <p:cNvPr id="22" name="">
            <a:extLst xmlns:a="http://schemas.openxmlformats.org/drawingml/2006/main">
              <a:ext uri="{FF2B5EF4-FFF2-40B4-BE49-F238E27FC236}">
                <a16:creationId xmlns:a16="http://schemas.microsoft.com/office/drawing/2014/main" id="{E9EFD5BF-A81C-4C69-AD76-5F82967935E6}"/>
              </a:ext>
            </a:extLst>
          </p:cNvPr>
          <p:cNvSpPr>
            <a:spLocks xmlns:a="http://schemas.openxmlformats.org/drawingml/2006/main" noGrp="1"/>
          </p:cNvSpPr>
          <p:nvPr/>
        </p:nvSpPr>
        <p:spPr>
          <a:xfrm xmlns:a="http://schemas.openxmlformats.org/drawingml/2006/main">
            <a:off x="6362700" y="3752850"/>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TTFB · MOS · intelligibility · glitches</a:t>
            </a:r>
          </a:p>
        </p:txBody>
      </p:sp>
      <p:sp>
        <p:nvSpPr>
          <p:cNvPr id="23" name="">
            <a:extLst xmlns:a="http://schemas.openxmlformats.org/drawingml/2006/main">
              <a:ext uri="{FF2B5EF4-FFF2-40B4-BE49-F238E27FC236}">
                <a16:creationId xmlns:a16="http://schemas.microsoft.com/office/drawing/2014/main" id="{EA749DF9-3054-4CCC-8897-9C6DF484BA23}"/>
              </a:ext>
            </a:extLst>
          </p:cNvPr>
          <p:cNvSpPr>
            <a:spLocks xmlns:a="http://schemas.openxmlformats.org/drawingml/2006/main" noGrp="1"/>
          </p:cNvSpPr>
          <p:nvPr/>
        </p:nvSpPr>
        <p:spPr>
          <a:xfrm xmlns:a="http://schemas.openxmlformats.org/drawingml/2006/main">
            <a:off x="800100" y="4552950"/>
            <a:ext cx="4953000" cy="990600"/>
          </a:xfrm>
          <a:prstGeom xmlns:a="http://schemas.openxmlformats.org/drawingml/2006/main" prst="roundRect">
            <a:avLst>
              <a:gd name="adj" fmla="val 17308"/>
            </a:avLst>
          </a:prstGeom>
          <a:solidFill xmlns:a="http://schemas.openxmlformats.org/drawingml/2006/main">
            <a:srgbClr val="FFF8EA"/>
          </a:solidFill>
          <a:ln xmlns:a="http://schemas.openxmlformats.org/drawingml/2006/main" w="9525">
            <a:solidFill>
              <a:srgbClr val="8EBBD0"/>
            </a:solidFill>
            <a:prstDash val="solid"/>
          </a:ln>
        </p:spPr>
      </p:sp>
      <p:sp>
        <p:nvSpPr>
          <p:cNvPr id="24" name="">
            <a:extLst xmlns:a="http://schemas.openxmlformats.org/drawingml/2006/main">
              <a:ext uri="{FF2B5EF4-FFF2-40B4-BE49-F238E27FC236}">
                <a16:creationId xmlns:a16="http://schemas.microsoft.com/office/drawing/2014/main" id="{294E198D-B3EC-4594-BD13-319BDF372871}"/>
              </a:ext>
            </a:extLst>
          </p:cNvPr>
          <p:cNvSpPr>
            <a:spLocks xmlns:a="http://schemas.openxmlformats.org/drawingml/2006/main" noGrp="1"/>
          </p:cNvSpPr>
          <p:nvPr/>
        </p:nvSpPr>
        <p:spPr>
          <a:xfrm xmlns:a="http://schemas.openxmlformats.org/drawingml/2006/main">
            <a:off x="800100" y="4552950"/>
            <a:ext cx="66675" cy="99060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25" name="">
            <a:extLst xmlns:a="http://schemas.openxmlformats.org/drawingml/2006/main">
              <a:ext uri="{FF2B5EF4-FFF2-40B4-BE49-F238E27FC236}">
                <a16:creationId xmlns:a16="http://schemas.microsoft.com/office/drawing/2014/main" id="{885DB2FF-3F1A-4634-BBC3-F8B1D074EF22}"/>
              </a:ext>
            </a:extLst>
          </p:cNvPr>
          <p:cNvSpPr>
            <a:spLocks xmlns:a="http://schemas.openxmlformats.org/drawingml/2006/main" noGrp="1"/>
          </p:cNvSpPr>
          <p:nvPr/>
        </p:nvSpPr>
        <p:spPr>
          <a:xfrm xmlns:a="http://schemas.openxmlformats.org/drawingml/2006/main">
            <a:off x="1028700" y="4695825"/>
            <a:ext cx="455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SYSTEM</a:t>
            </a:r>
          </a:p>
        </p:txBody>
      </p:sp>
      <p:sp>
        <p:nvSpPr>
          <p:cNvPr id="26" name="">
            <a:extLst xmlns:a="http://schemas.openxmlformats.org/drawingml/2006/main">
              <a:ext uri="{FF2B5EF4-FFF2-40B4-BE49-F238E27FC236}">
                <a16:creationId xmlns:a16="http://schemas.microsoft.com/office/drawing/2014/main" id="{DACBFFDF-E1A8-438B-AF66-AAA94031C42C}"/>
              </a:ext>
            </a:extLst>
          </p:cNvPr>
          <p:cNvSpPr>
            <a:spLocks xmlns:a="http://schemas.openxmlformats.org/drawingml/2006/main" noGrp="1"/>
          </p:cNvSpPr>
          <p:nvPr/>
        </p:nvSpPr>
        <p:spPr>
          <a:xfrm xmlns:a="http://schemas.openxmlformats.org/drawingml/2006/main">
            <a:off x="1028700" y="5010150"/>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E2E p50/p95 · errors · cost/min</a:t>
            </a:r>
          </a:p>
        </p:txBody>
      </p:sp>
      <p:sp>
        <p:nvSpPr>
          <p:cNvPr id="27" name="">
            <a:extLst xmlns:a="http://schemas.openxmlformats.org/drawingml/2006/main">
              <a:ext uri="{FF2B5EF4-FFF2-40B4-BE49-F238E27FC236}">
                <a16:creationId xmlns:a16="http://schemas.microsoft.com/office/drawing/2014/main" id="{9CF6C62A-4222-4832-935E-FFD743165768}"/>
              </a:ext>
            </a:extLst>
          </p:cNvPr>
          <p:cNvSpPr>
            <a:spLocks xmlns:a="http://schemas.openxmlformats.org/drawingml/2006/main" noGrp="1"/>
          </p:cNvSpPr>
          <p:nvPr/>
        </p:nvSpPr>
        <p:spPr>
          <a:xfrm xmlns:a="http://schemas.openxmlformats.org/drawingml/2006/main">
            <a:off x="6134100" y="4552950"/>
            <a:ext cx="4953000" cy="990600"/>
          </a:xfrm>
          <a:prstGeom xmlns:a="http://schemas.openxmlformats.org/drawingml/2006/main" prst="roundRect">
            <a:avLst>
              <a:gd name="adj" fmla="val 17308"/>
            </a:avLst>
          </a:prstGeom>
          <a:solidFill xmlns:a="http://schemas.openxmlformats.org/drawingml/2006/main">
            <a:srgbClr val="FFF8EA"/>
          </a:solidFill>
          <a:ln xmlns:a="http://schemas.openxmlformats.org/drawingml/2006/main" w="9525">
            <a:solidFill>
              <a:srgbClr val="8EBBD0"/>
            </a:solidFill>
            <a:prstDash val="solid"/>
          </a:ln>
        </p:spPr>
      </p:sp>
      <p:sp>
        <p:nvSpPr>
          <p:cNvPr id="28" name="">
            <a:extLst xmlns:a="http://schemas.openxmlformats.org/drawingml/2006/main">
              <a:ext uri="{FF2B5EF4-FFF2-40B4-BE49-F238E27FC236}">
                <a16:creationId xmlns:a16="http://schemas.microsoft.com/office/drawing/2014/main" id="{F097052E-D5E8-4FD0-88AE-F660B07B20EB}"/>
              </a:ext>
            </a:extLst>
          </p:cNvPr>
          <p:cNvSpPr>
            <a:spLocks xmlns:a="http://schemas.openxmlformats.org/drawingml/2006/main" noGrp="1"/>
          </p:cNvSpPr>
          <p:nvPr/>
        </p:nvSpPr>
        <p:spPr>
          <a:xfrm xmlns:a="http://schemas.openxmlformats.org/drawingml/2006/main">
            <a:off x="6134100" y="4552950"/>
            <a:ext cx="66675" cy="990600"/>
          </a:xfrm>
          <a:prstGeom xmlns:a="http://schemas.openxmlformats.org/drawingml/2006/main" prst="roundRect">
            <a:avLst>
              <a:gd name="adj" fmla="val 42857"/>
            </a:avLst>
          </a:prstGeom>
          <a:solidFill xmlns:a="http://schemas.openxmlformats.org/drawingml/2006/main">
            <a:srgbClr val="288DC1"/>
          </a:solidFill>
          <a:ln xmlns:a="http://schemas.openxmlformats.org/drawingml/2006/main" w="0">
            <a:solidFill>
              <a:srgbClr val="288DC1"/>
            </a:solidFill>
            <a:prstDash val="solid"/>
          </a:ln>
        </p:spPr>
      </p:sp>
      <p:sp>
        <p:nvSpPr>
          <p:cNvPr id="29" name="">
            <a:extLst xmlns:a="http://schemas.openxmlformats.org/drawingml/2006/main">
              <a:ext uri="{FF2B5EF4-FFF2-40B4-BE49-F238E27FC236}">
                <a16:creationId xmlns:a16="http://schemas.microsoft.com/office/drawing/2014/main" id="{A44729AC-D9E5-4720-ABE5-33C71EEDC5BC}"/>
              </a:ext>
            </a:extLst>
          </p:cNvPr>
          <p:cNvSpPr>
            <a:spLocks xmlns:a="http://schemas.openxmlformats.org/drawingml/2006/main" noGrp="1"/>
          </p:cNvSpPr>
          <p:nvPr/>
        </p:nvSpPr>
        <p:spPr>
          <a:xfrm xmlns:a="http://schemas.openxmlformats.org/drawingml/2006/main">
            <a:off x="6362700" y="4695825"/>
            <a:ext cx="455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88DC1"/>
                </a:solidFill>
                <a:latin typeface="Aptos"/>
                <a:ea typeface="Aptos"/>
                <a:cs typeface="Aptos"/>
              </a:defRPr>
            </a:pPr>
            <a:r>
              <a:rPr sz="1050" b="1">
                <a:solidFill>
                  <a:srgbClr val="288DC1"/>
                </a:solidFill>
                <a:latin typeface="Aptos"/>
                <a:ea typeface="Aptos"/>
                <a:cs typeface="Aptos"/>
              </a:rPr>
              <a:t>BUSINESS</a:t>
            </a:r>
          </a:p>
        </p:txBody>
      </p:sp>
      <p:sp>
        <p:nvSpPr>
          <p:cNvPr id="30" name="">
            <a:extLst xmlns:a="http://schemas.openxmlformats.org/drawingml/2006/main">
              <a:ext uri="{FF2B5EF4-FFF2-40B4-BE49-F238E27FC236}">
                <a16:creationId xmlns:a16="http://schemas.microsoft.com/office/drawing/2014/main" id="{3211E786-BC2C-49D5-9249-033A82F7F451}"/>
              </a:ext>
            </a:extLst>
          </p:cNvPr>
          <p:cNvSpPr>
            <a:spLocks xmlns:a="http://schemas.openxmlformats.org/drawingml/2006/main" noGrp="1"/>
          </p:cNvSpPr>
          <p:nvPr/>
        </p:nvSpPr>
        <p:spPr>
          <a:xfrm xmlns:a="http://schemas.openxmlformats.org/drawingml/2006/main">
            <a:off x="6362700" y="5010150"/>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latin typeface="Aptos"/>
                <a:ea typeface="Aptos"/>
                <a:cs typeface="Aptos"/>
              </a:defRPr>
            </a:pPr>
            <a:r>
              <a:rPr sz="1425" b="0">
                <a:solidFill>
                  <a:srgbClr val="102A43"/>
                </a:solidFill>
                <a:latin typeface="Aptos"/>
                <a:ea typeface="Aptos"/>
                <a:cs typeface="Aptos"/>
              </a:rPr>
              <a:t>qualified handoff · advisor time · visits</a:t>
            </a:r>
          </a:p>
        </p:txBody>
      </p:sp>
      <p:sp>
        <p:nvSpPr>
          <p:cNvPr id="31" name="">
            <a:extLst xmlns:a="http://schemas.openxmlformats.org/drawingml/2006/main">
              <a:ext uri="{FF2B5EF4-FFF2-40B4-BE49-F238E27FC236}">
                <a16:creationId xmlns:a16="http://schemas.microsoft.com/office/drawing/2014/main" id="{72188C61-C8BE-4ED8-979F-E49A852F4D22}"/>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evaluation framework</a:t>
            </a:r>
          </a:p>
        </p:txBody>
      </p:sp>
    </p:spTree>
    <p:extLst>
      <p:ext uri="{BB962C8B-B14F-4D97-AF65-F5344CB8AC3E}">
        <p14:creationId xmlns:p14="http://schemas.microsoft.com/office/powerpoint/2010/main" val="56863519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86f063182a347f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2E90E6-3AA3-476C-904A-A6E10E87028C}"/>
              </a:ext>
            </a:extLst>
          </p:cNvPr>
          <p:cNvSpPr>
            <a:spLocks xmlns:a="http://schemas.openxmlformats.org/drawingml/2006/main" noGrp="1"/>
          </p:cNvSpPr>
          <p:nvPr/>
        </p:nvSpPr>
        <p:spPr>
          <a:xfrm xmlns:a="http://schemas.openxmlformats.org/drawingml/2006/main">
            <a:off x="514350" y="400050"/>
            <a:ext cx="11163300" cy="6057900"/>
          </a:xfrm>
          <a:prstGeom xmlns:a="http://schemas.openxmlformats.org/drawingml/2006/main" prst="roundRect">
            <a:avLst>
              <a:gd name="adj" fmla="val 4403"/>
            </a:avLst>
          </a:prstGeom>
          <a:solidFill xmlns:a="http://schemas.openxmlformats.org/drawingml/2006/main">
            <a:srgbClr val="FFF8EA">
              <a:alpha val="92000"/>
            </a:srgbClr>
          </a:solidFill>
          <a:ln xmlns:a="http://schemas.openxmlformats.org/drawingml/2006/main" w="0">
            <a:solidFill>
              <a:srgbClr val="FFFFFF">
                <a:alpha val="0"/>
              </a:srgbClr>
            </a:solidFill>
            <a:prstDash val="solid"/>
          </a:ln>
        </p:spPr>
      </p:sp>
      <p:sp>
        <p:nvSpPr>
          <p:cNvPr id="3" name="">
            <a:extLst xmlns:a="http://schemas.openxmlformats.org/drawingml/2006/main">
              <a:ext uri="{FF2B5EF4-FFF2-40B4-BE49-F238E27FC236}">
                <a16:creationId xmlns:a16="http://schemas.microsoft.com/office/drawing/2014/main" id="{46EC270D-0409-40FB-9597-6AEBC081D302}"/>
              </a:ext>
            </a:extLst>
          </p:cNvPr>
          <p:cNvSpPr>
            <a:spLocks xmlns:a="http://schemas.openxmlformats.org/drawingml/2006/main" noGrp="1"/>
          </p:cNvSpPr>
          <p:nvPr/>
        </p:nvSpPr>
        <p:spPr>
          <a:xfrm xmlns:a="http://schemas.openxmlformats.org/drawingml/2006/main">
            <a:off x="1110615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750" b="0">
                <a:solidFill>
                  <a:srgbClr val="4B687A"/>
                </a:solidFill>
                <a:latin typeface="Aptos Mono"/>
                <a:ea typeface="Aptos Mono"/>
                <a:cs typeface="Aptos Mono"/>
              </a:defRPr>
            </a:pPr>
            <a:r>
              <a:rPr sz="750" b="0">
                <a:solidFill>
                  <a:srgbClr val="4B687A"/>
                </a:solidFill>
                <a:latin typeface="Aptos Mono"/>
                <a:ea typeface="Aptos Mono"/>
                <a:cs typeface="Aptos Mono"/>
              </a:rPr>
              <a:t>30</a:t>
            </a:r>
          </a:p>
        </p:txBody>
      </p:sp>
      <p:sp>
        <p:nvSpPr>
          <p:cNvPr id="4" name="">
            <a:extLst xmlns:a="http://schemas.openxmlformats.org/drawingml/2006/main">
              <a:ext uri="{FF2B5EF4-FFF2-40B4-BE49-F238E27FC236}">
                <a16:creationId xmlns:a16="http://schemas.microsoft.com/office/drawing/2014/main" id="{4CB1AA23-55DA-46BD-9D5D-8E098F13B066}"/>
              </a:ext>
            </a:extLst>
          </p:cNvPr>
          <p:cNvSpPr>
            <a:spLocks xmlns:a="http://schemas.openxmlformats.org/drawingml/2006/main" noGrp="1"/>
          </p:cNvSpPr>
          <p:nvPr/>
        </p:nvSpPr>
        <p:spPr>
          <a:xfrm xmlns:a="http://schemas.openxmlformats.org/drawingml/2006/main">
            <a:off x="74295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288DC1"/>
                </a:solidFill>
                <a:latin typeface="Aptos"/>
                <a:ea typeface="Aptos"/>
                <a:cs typeface="Aptos"/>
              </a:defRPr>
            </a:pPr>
            <a:r>
              <a:rPr sz="825" b="1">
                <a:solidFill>
                  <a:srgbClr val="288DC1"/>
                </a:solidFill>
                <a:latin typeface="Aptos"/>
                <a:ea typeface="Aptos"/>
                <a:cs typeface="Aptos"/>
              </a:rPr>
              <a:t>DUET · AIRA</a:t>
            </a:r>
          </a:p>
        </p:txBody>
      </p:sp>
      <p:sp>
        <p:nvSpPr>
          <p:cNvPr id="5" name="">
            <a:extLst xmlns:a="http://schemas.openxmlformats.org/drawingml/2006/main">
              <a:ext uri="{FF2B5EF4-FFF2-40B4-BE49-F238E27FC236}">
                <a16:creationId xmlns:a16="http://schemas.microsoft.com/office/drawing/2014/main" id="{78C21A7A-0E89-4D07-9E13-573B99CB764A}"/>
              </a:ext>
            </a:extLst>
          </p:cNvPr>
          <p:cNvSpPr>
            <a:spLocks xmlns:a="http://schemas.openxmlformats.org/drawingml/2006/main" noGrp="1"/>
          </p:cNvSpPr>
          <p:nvPr/>
        </p:nvSpPr>
        <p:spPr>
          <a:xfrm xmlns:a="http://schemas.openxmlformats.org/drawingml/2006/main">
            <a:off x="742950" y="87630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00" b="1">
                <a:solidFill>
                  <a:srgbClr val="102A43"/>
                </a:solidFill>
                <a:latin typeface="Aptos"/>
                <a:ea typeface="Aptos"/>
                <a:cs typeface="Aptos"/>
              </a:defRPr>
            </a:pPr>
            <a:r>
              <a:rPr sz="2700" b="1">
                <a:solidFill>
                  <a:srgbClr val="102A43"/>
                </a:solidFill>
                <a:latin typeface="Aptos"/>
                <a:ea typeface="Aptos"/>
                <a:cs typeface="Aptos"/>
              </a:rPr>
              <a:t>Appendix · questions to expect</a:t>
            </a:r>
          </a:p>
        </p:txBody>
      </p:sp>
      <p:sp>
        <p:nvSpPr>
          <p:cNvPr id="6" name="">
            <a:extLst xmlns:a="http://schemas.openxmlformats.org/drawingml/2006/main">
              <a:ext uri="{FF2B5EF4-FFF2-40B4-BE49-F238E27FC236}">
                <a16:creationId xmlns:a16="http://schemas.microsoft.com/office/drawing/2014/main" id="{94D08D12-9967-485E-8040-973B945FF55E}"/>
              </a:ext>
            </a:extLst>
          </p:cNvPr>
          <p:cNvSpPr>
            <a:spLocks xmlns:a="http://schemas.openxmlformats.org/drawingml/2006/main" noGrp="1"/>
          </p:cNvSpPr>
          <p:nvPr/>
        </p:nvSpPr>
        <p:spPr>
          <a:xfrm xmlns:a="http://schemas.openxmlformats.org/drawingml/2006/main">
            <a:off x="742950" y="1657350"/>
            <a:ext cx="10706100" cy="0"/>
          </a:xfrm>
          <a:prstGeom xmlns:a="http://schemas.openxmlformats.org/drawingml/2006/main" prst="line">
            <a:avLst/>
          </a:prstGeom>
          <a:noFill xmlns:a="http://schemas.openxmlformats.org/drawingml/2006/main"/>
          <a:ln xmlns:a="http://schemas.openxmlformats.org/drawingml/2006/main" w="9525">
            <a:solidFill>
              <a:srgbClr val="8EBBD0"/>
            </a:solidFill>
            <a:prstDash val="solid"/>
          </a:ln>
        </p:spPr>
      </p:sp>
      <p:sp>
        <p:nvSpPr>
          <p:cNvPr id="7" name="">
            <a:extLst xmlns:a="http://schemas.openxmlformats.org/drawingml/2006/main">
              <a:ext uri="{FF2B5EF4-FFF2-40B4-BE49-F238E27FC236}">
                <a16:creationId xmlns:a16="http://schemas.microsoft.com/office/drawing/2014/main" id="{ACC96F24-AF36-4DBC-A45C-20D5BA7FD883}"/>
              </a:ext>
            </a:extLst>
          </p:cNvPr>
          <p:cNvSpPr>
            <a:spLocks xmlns:a="http://schemas.openxmlformats.org/drawingml/2006/main" noGrp="1"/>
          </p:cNvSpPr>
          <p:nvPr/>
        </p:nvSpPr>
        <p:spPr>
          <a:xfrm xmlns:a="http://schemas.openxmlformats.org/drawingml/2006/main">
            <a:off x="838200" y="1924050"/>
            <a:ext cx="3429000" cy="590550"/>
          </a:xfrm>
          <a:prstGeom xmlns:a="http://schemas.openxmlformats.org/drawingml/2006/main" prst="roundRect">
            <a:avLst>
              <a:gd name="adj" fmla="val 25806"/>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a:ea typeface="Aptos"/>
                <a:cs typeface="Aptos"/>
              </a:defRPr>
            </a:pPr>
            <a:r>
              <a:rPr sz="1275" b="1">
                <a:solidFill>
                  <a:srgbClr val="FFF8EA"/>
                </a:solidFill>
                <a:latin typeface="Aptos"/>
                <a:ea typeface="Aptos"/>
                <a:cs typeface="Aptos"/>
              </a:rPr>
              <a:t>Is this truly full duplex?</a:t>
            </a:r>
          </a:p>
        </p:txBody>
      </p:sp>
      <p:sp>
        <p:nvSpPr>
          <p:cNvPr id="8" name="">
            <a:extLst xmlns:a="http://schemas.openxmlformats.org/drawingml/2006/main">
              <a:ext uri="{FF2B5EF4-FFF2-40B4-BE49-F238E27FC236}">
                <a16:creationId xmlns:a16="http://schemas.microsoft.com/office/drawing/2014/main" id="{4158B990-AD60-4F18-92F3-0AB7AA21AA3D}"/>
              </a:ext>
            </a:extLst>
          </p:cNvPr>
          <p:cNvSpPr>
            <a:spLocks xmlns:a="http://schemas.openxmlformats.org/drawingml/2006/main" noGrp="1"/>
          </p:cNvSpPr>
          <p:nvPr/>
        </p:nvSpPr>
        <p:spPr>
          <a:xfrm xmlns:a="http://schemas.openxmlformats.org/drawingml/2006/main">
            <a:off x="4533900" y="1924050"/>
            <a:ext cx="6667500" cy="590550"/>
          </a:xfrm>
          <a:prstGeom xmlns:a="http://schemas.openxmlformats.org/drawingml/2006/main" prst="roundRect">
            <a:avLst>
              <a:gd name="adj" fmla="val 25806"/>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11430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Controlled duplex today; Moshi is the native research lane.</a:t>
            </a:r>
          </a:p>
        </p:txBody>
      </p:sp>
      <p:sp>
        <p:nvSpPr>
          <p:cNvPr id="9" name="">
            <a:extLst xmlns:a="http://schemas.openxmlformats.org/drawingml/2006/main">
              <a:ext uri="{FF2B5EF4-FFF2-40B4-BE49-F238E27FC236}">
                <a16:creationId xmlns:a16="http://schemas.microsoft.com/office/drawing/2014/main" id="{6CB63165-A448-41E6-B39B-CAA62AAF2A30}"/>
              </a:ext>
            </a:extLst>
          </p:cNvPr>
          <p:cNvSpPr>
            <a:spLocks xmlns:a="http://schemas.openxmlformats.org/drawingml/2006/main" noGrp="1"/>
          </p:cNvSpPr>
          <p:nvPr/>
        </p:nvSpPr>
        <p:spPr>
          <a:xfrm xmlns:a="http://schemas.openxmlformats.org/drawingml/2006/main">
            <a:off x="838200" y="2743200"/>
            <a:ext cx="3429000" cy="590550"/>
          </a:xfrm>
          <a:prstGeom xmlns:a="http://schemas.openxmlformats.org/drawingml/2006/main" prst="roundRect">
            <a:avLst>
              <a:gd name="adj" fmla="val 25806"/>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a:ea typeface="Aptos"/>
                <a:cs typeface="Aptos"/>
              </a:defRPr>
            </a:pPr>
            <a:r>
              <a:rPr sz="1275" b="1">
                <a:solidFill>
                  <a:srgbClr val="FFF8EA"/>
                </a:solidFill>
                <a:latin typeface="Aptos"/>
                <a:ea typeface="Aptos"/>
                <a:cs typeface="Aptos"/>
              </a:rPr>
              <a:t>Why not one speech-to-speech model?</a:t>
            </a:r>
          </a:p>
        </p:txBody>
      </p:sp>
      <p:sp>
        <p:nvSpPr>
          <p:cNvPr id="10" name="">
            <a:extLst xmlns:a="http://schemas.openxmlformats.org/drawingml/2006/main">
              <a:ext uri="{FF2B5EF4-FFF2-40B4-BE49-F238E27FC236}">
                <a16:creationId xmlns:a16="http://schemas.microsoft.com/office/drawing/2014/main" id="{422961A0-8815-4DFE-A9E4-9474635EF4F9}"/>
              </a:ext>
            </a:extLst>
          </p:cNvPr>
          <p:cNvSpPr>
            <a:spLocks xmlns:a="http://schemas.openxmlformats.org/drawingml/2006/main" noGrp="1"/>
          </p:cNvSpPr>
          <p:nvPr/>
        </p:nvSpPr>
        <p:spPr>
          <a:xfrm xmlns:a="http://schemas.openxmlformats.org/drawingml/2006/main">
            <a:off x="4533900" y="2743200"/>
            <a:ext cx="6667500" cy="590550"/>
          </a:xfrm>
          <a:prstGeom xmlns:a="http://schemas.openxmlformats.org/drawingml/2006/main" prst="roundRect">
            <a:avLst>
              <a:gd name="adj" fmla="val 25806"/>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11430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Control, actions and deterministic policy still win here.</a:t>
            </a:r>
          </a:p>
        </p:txBody>
      </p:sp>
      <p:sp>
        <p:nvSpPr>
          <p:cNvPr id="11" name="">
            <a:extLst xmlns:a="http://schemas.openxmlformats.org/drawingml/2006/main">
              <a:ext uri="{FF2B5EF4-FFF2-40B4-BE49-F238E27FC236}">
                <a16:creationId xmlns:a16="http://schemas.microsoft.com/office/drawing/2014/main" id="{C23066BD-C22F-423E-BCED-EDBBA6BE4033}"/>
              </a:ext>
            </a:extLst>
          </p:cNvPr>
          <p:cNvSpPr>
            <a:spLocks xmlns:a="http://schemas.openxmlformats.org/drawingml/2006/main" noGrp="1"/>
          </p:cNvSpPr>
          <p:nvPr/>
        </p:nvSpPr>
        <p:spPr>
          <a:xfrm xmlns:a="http://schemas.openxmlformats.org/drawingml/2006/main">
            <a:off x="838200" y="3562350"/>
            <a:ext cx="3429000" cy="590550"/>
          </a:xfrm>
          <a:prstGeom xmlns:a="http://schemas.openxmlformats.org/drawingml/2006/main" prst="roundRect">
            <a:avLst>
              <a:gd name="adj" fmla="val 25806"/>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a:ea typeface="Aptos"/>
                <a:cs typeface="Aptos"/>
              </a:defRPr>
            </a:pPr>
            <a:r>
              <a:rPr sz="1275" b="1">
                <a:solidFill>
                  <a:srgbClr val="FFF8EA"/>
                </a:solidFill>
                <a:latin typeface="Aptos"/>
                <a:ea typeface="Aptos"/>
                <a:cs typeface="Aptos"/>
              </a:rPr>
              <a:t>Why not a 20B local LLM?</a:t>
            </a:r>
          </a:p>
        </p:txBody>
      </p:sp>
      <p:sp>
        <p:nvSpPr>
          <p:cNvPr id="12" name="">
            <a:extLst xmlns:a="http://schemas.openxmlformats.org/drawingml/2006/main">
              <a:ext uri="{FF2B5EF4-FFF2-40B4-BE49-F238E27FC236}">
                <a16:creationId xmlns:a16="http://schemas.microsoft.com/office/drawing/2014/main" id="{5721C6BD-6CAE-47F3-876D-3216591FFE9D}"/>
              </a:ext>
            </a:extLst>
          </p:cNvPr>
          <p:cNvSpPr>
            <a:spLocks xmlns:a="http://schemas.openxmlformats.org/drawingml/2006/main" noGrp="1"/>
          </p:cNvSpPr>
          <p:nvPr/>
        </p:nvSpPr>
        <p:spPr>
          <a:xfrm xmlns:a="http://schemas.openxmlformats.org/drawingml/2006/main">
            <a:off x="4533900" y="3562350"/>
            <a:ext cx="6667500" cy="590550"/>
          </a:xfrm>
          <a:prstGeom xmlns:a="http://schemas.openxmlformats.org/drawingml/2006/main" prst="roundRect">
            <a:avLst>
              <a:gd name="adj" fmla="val 25806"/>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11430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Re-test on production GPU against the same gates.</a:t>
            </a:r>
          </a:p>
        </p:txBody>
      </p:sp>
      <p:sp>
        <p:nvSpPr>
          <p:cNvPr id="13" name="">
            <a:extLst xmlns:a="http://schemas.openxmlformats.org/drawingml/2006/main">
              <a:ext uri="{FF2B5EF4-FFF2-40B4-BE49-F238E27FC236}">
                <a16:creationId xmlns:a16="http://schemas.microsoft.com/office/drawing/2014/main" id="{3D568456-7081-43A5-9969-5F4116E8D6F7}"/>
              </a:ext>
            </a:extLst>
          </p:cNvPr>
          <p:cNvSpPr>
            <a:spLocks xmlns:a="http://schemas.openxmlformats.org/drawingml/2006/main" noGrp="1"/>
          </p:cNvSpPr>
          <p:nvPr/>
        </p:nvSpPr>
        <p:spPr>
          <a:xfrm xmlns:a="http://schemas.openxmlformats.org/drawingml/2006/main">
            <a:off x="838200" y="4381500"/>
            <a:ext cx="3429000" cy="590550"/>
          </a:xfrm>
          <a:prstGeom xmlns:a="http://schemas.openxmlformats.org/drawingml/2006/main" prst="roundRect">
            <a:avLst>
              <a:gd name="adj" fmla="val 25806"/>
            </a:avLst>
          </a:prstGeom>
          <a:solidFill xmlns:a="http://schemas.openxmlformats.org/drawingml/2006/main">
            <a:srgbClr val="D96C5F"/>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a:ea typeface="Aptos"/>
                <a:cs typeface="Aptos"/>
              </a:defRPr>
            </a:pPr>
            <a:r>
              <a:rPr sz="1275" b="1">
                <a:solidFill>
                  <a:srgbClr val="FFF8EA"/>
                </a:solidFill>
                <a:latin typeface="Aptos"/>
                <a:ea typeface="Aptos"/>
                <a:cs typeface="Aptos"/>
              </a:rPr>
              <a:t>Can this call customers tomorrow?</a:t>
            </a:r>
          </a:p>
        </p:txBody>
      </p:sp>
      <p:sp>
        <p:nvSpPr>
          <p:cNvPr id="14" name="">
            <a:extLst xmlns:a="http://schemas.openxmlformats.org/drawingml/2006/main">
              <a:ext uri="{FF2B5EF4-FFF2-40B4-BE49-F238E27FC236}">
                <a16:creationId xmlns:a16="http://schemas.microsoft.com/office/drawing/2014/main" id="{34A75C1D-4C9F-4B2B-9D76-CD85E1864F12}"/>
              </a:ext>
            </a:extLst>
          </p:cNvPr>
          <p:cNvSpPr>
            <a:spLocks xmlns:a="http://schemas.openxmlformats.org/drawingml/2006/main" noGrp="1"/>
          </p:cNvSpPr>
          <p:nvPr/>
        </p:nvSpPr>
        <p:spPr>
          <a:xfrm xmlns:a="http://schemas.openxmlformats.org/drawingml/2006/main">
            <a:off x="4533900" y="4381500"/>
            <a:ext cx="6667500" cy="590550"/>
          </a:xfrm>
          <a:prstGeom xmlns:a="http://schemas.openxmlformats.org/drawingml/2006/main" prst="roundRect">
            <a:avLst>
              <a:gd name="adj" fmla="val 25806"/>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11430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No—telephony, DNC, isolation and transfer are P0.</a:t>
            </a:r>
          </a:p>
        </p:txBody>
      </p:sp>
      <p:sp>
        <p:nvSpPr>
          <p:cNvPr id="15" name="">
            <a:extLst xmlns:a="http://schemas.openxmlformats.org/drawingml/2006/main">
              <a:ext uri="{FF2B5EF4-FFF2-40B4-BE49-F238E27FC236}">
                <a16:creationId xmlns:a16="http://schemas.microsoft.com/office/drawing/2014/main" id="{A24FA2D2-FC22-4FA5-8C03-F0843C9ABAEC}"/>
              </a:ext>
            </a:extLst>
          </p:cNvPr>
          <p:cNvSpPr>
            <a:spLocks xmlns:a="http://schemas.openxmlformats.org/drawingml/2006/main" noGrp="1"/>
          </p:cNvSpPr>
          <p:nvPr/>
        </p:nvSpPr>
        <p:spPr>
          <a:xfrm xmlns:a="http://schemas.openxmlformats.org/drawingml/2006/main">
            <a:off x="838200" y="5200650"/>
            <a:ext cx="3429000" cy="590550"/>
          </a:xfrm>
          <a:prstGeom xmlns:a="http://schemas.openxmlformats.org/drawingml/2006/main" prst="roundRect">
            <a:avLst>
              <a:gd name="adj" fmla="val 25806"/>
            </a:avLst>
          </a:prstGeom>
          <a:solidFill xmlns:a="http://schemas.openxmlformats.org/drawingml/2006/main">
            <a:srgbClr val="288DC1"/>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8EA"/>
                </a:solidFill>
                <a:latin typeface="Aptos"/>
                <a:ea typeface="Aptos"/>
                <a:cs typeface="Aptos"/>
              </a:defRPr>
            </a:pPr>
            <a:r>
              <a:rPr sz="1275" b="1">
                <a:solidFill>
                  <a:srgbClr val="FFF8EA"/>
                </a:solidFill>
                <a:latin typeface="Aptos"/>
                <a:ea typeface="Aptos"/>
                <a:cs typeface="Aptos"/>
              </a:rPr>
              <a:t>What is defensible?</a:t>
            </a:r>
          </a:p>
        </p:txBody>
      </p:sp>
      <p:sp>
        <p:nvSpPr>
          <p:cNvPr id="16" name="">
            <a:extLst xmlns:a="http://schemas.openxmlformats.org/drawingml/2006/main">
              <a:ext uri="{FF2B5EF4-FFF2-40B4-BE49-F238E27FC236}">
                <a16:creationId xmlns:a16="http://schemas.microsoft.com/office/drawing/2014/main" id="{B6B93693-CCA4-4157-9F1A-D7C2605D8742}"/>
              </a:ext>
            </a:extLst>
          </p:cNvPr>
          <p:cNvSpPr>
            <a:spLocks xmlns:a="http://schemas.openxmlformats.org/drawingml/2006/main" noGrp="1"/>
          </p:cNvSpPr>
          <p:nvPr/>
        </p:nvSpPr>
        <p:spPr>
          <a:xfrm xmlns:a="http://schemas.openxmlformats.org/drawingml/2006/main">
            <a:off x="4533900" y="5200650"/>
            <a:ext cx="6667500" cy="590550"/>
          </a:xfrm>
          <a:prstGeom xmlns:a="http://schemas.openxmlformats.org/drawingml/2006/main" prst="roundRect">
            <a:avLst>
              <a:gd name="adj" fmla="val 25806"/>
            </a:avLst>
          </a:prstGeom>
          <a:solidFill xmlns:a="http://schemas.openxmlformats.org/drawingml/2006/main">
            <a:srgbClr val="FFF8EA"/>
          </a:solidFill>
          <a:ln xmlns:a="http://schemas.openxmlformats.org/drawingml/2006/main" w="9525">
            <a:solidFill>
              <a:srgbClr val="8EBBD0"/>
            </a:solidFill>
            <a:prstDash val="solid"/>
          </a:ln>
        </p:spPr>
        <p:txBody>
          <a:bodyPr xmlns:a="http://schemas.openxmlformats.org/drawingml/2006/main" lIns="171450" tIns="0" rIns="114300" bIns="0" anchor="ctr">
            <a:normAutofit fontScale="100000"/>
          </a:bodyPr>
          <a:lstStyle xmlns:a="http://schemas.openxmlformats.org/drawingml/2006/main"/>
          <a:p xmlns:a="http://schemas.openxmlformats.org/drawingml/2006/main">
            <a:pPr algn="l">
              <a:defRPr sz="1275" b="0">
                <a:solidFill>
                  <a:srgbClr val="102A43"/>
                </a:solidFill>
                <a:latin typeface="Aptos"/>
                <a:ea typeface="Aptos"/>
                <a:cs typeface="Aptos"/>
              </a:defRPr>
            </a:pPr>
            <a:r>
              <a:rPr sz="1275" b="0">
                <a:solidFill>
                  <a:srgbClr val="102A43"/>
                </a:solidFill>
                <a:latin typeface="Aptos"/>
                <a:ea typeface="Aptos"/>
                <a:cs typeface="Aptos"/>
              </a:rPr>
              <a:t>Interaction state, eval data, workflows and reliability.</a:t>
            </a:r>
          </a:p>
        </p:txBody>
      </p:sp>
      <p:sp>
        <p:nvSpPr>
          <p:cNvPr id="17" name="">
            <a:extLst xmlns:a="http://schemas.openxmlformats.org/drawingml/2006/main">
              <a:ext uri="{FF2B5EF4-FFF2-40B4-BE49-F238E27FC236}">
                <a16:creationId xmlns:a16="http://schemas.microsoft.com/office/drawing/2014/main" id="{7E41FCEA-DE34-49FE-BF55-1408EE8D5A93}"/>
              </a:ext>
            </a:extLst>
          </p:cNvPr>
          <p:cNvSpPr>
            <a:spLocks xmlns:a="http://schemas.openxmlformats.org/drawingml/2006/main" noGrp="1"/>
          </p:cNvSpPr>
          <p:nvPr/>
        </p:nvSpPr>
        <p:spPr>
          <a:xfrm xmlns:a="http://schemas.openxmlformats.org/drawingml/2006/main">
            <a:off x="742950" y="63436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4B687A"/>
                </a:solidFill>
                <a:latin typeface="Aptos Mono"/>
                <a:ea typeface="Aptos Mono"/>
                <a:cs typeface="Aptos Mono"/>
              </a:defRPr>
            </a:pPr>
            <a:r>
              <a:rPr sz="675" b="0">
                <a:solidFill>
                  <a:srgbClr val="4B687A"/>
                </a:solidFill>
                <a:latin typeface="Aptos Mono"/>
                <a:ea typeface="Aptos Mono"/>
                <a:cs typeface="Aptos Mono"/>
              </a:rPr>
              <a:t>Duet engineering Q&amp;A</a:t>
            </a:r>
          </a:p>
        </p:txBody>
      </p:sp>
    </p:spTree>
    <p:extLst>
      <p:ext uri="{BB962C8B-B14F-4D97-AF65-F5344CB8AC3E}">
        <p14:creationId xmlns:p14="http://schemas.microsoft.com/office/powerpoint/2010/main" val="15046285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2026-08-25T03:29:32.3790000Z</dcterms:created>
  <dcterms:modified xsi:type="dcterms:W3CDTF">2026-08-25T03:29:32.3790000Z</dcterms:modified>
</coreProperties>
</file>