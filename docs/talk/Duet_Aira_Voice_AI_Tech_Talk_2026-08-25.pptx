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a65bfc73667439e" /><Relationship Type="http://schemas.openxmlformats.org/officeDocument/2006/relationships/extended-properties" Target="/docProps/app.xml" Id="Rd26ab2a425174050" /><Relationship Type="http://schemas.openxmlformats.org/officeDocument/2006/relationships/officeDocument" Target="/ppt/presentation.xml" Id="Rd12e58ecca844ca2" /></Relationships>
</file>

<file path=ppt/presentation.xml><?xml version="1.0" encoding="utf-8"?>
<p:presentation xmlns:p="http://schemas.openxmlformats.org/presentationml/2006/main">
  <p:sldMasterIdLst>
    <p:sldMasterId xmlns:r="http://schemas.openxmlformats.org/officeDocument/2006/relationships" id="2147483648" r:id="R9b296558a5274412"/>
  </p:sldMasterIdLst>
  <p:notesMasterIdLst>
    <p:notesMasterId xmlns:r="http://schemas.openxmlformats.org/officeDocument/2006/relationships" r:id="R1bab5b4d50604468"/>
  </p:notesMasterIdLst>
  <p:sldIdLst>
    <p:sldId xmlns:r="http://schemas.openxmlformats.org/officeDocument/2006/relationships" id="256" r:id="R76a2f69df26b4e86"/>
    <p:sldId xmlns:r="http://schemas.openxmlformats.org/officeDocument/2006/relationships" id="257" r:id="R4dcce82f26d74e3c"/>
    <p:sldId xmlns:r="http://schemas.openxmlformats.org/officeDocument/2006/relationships" id="258" r:id="Rc2342fff92aa48cf"/>
    <p:sldId xmlns:r="http://schemas.openxmlformats.org/officeDocument/2006/relationships" id="259" r:id="R8a64cf50235e4485"/>
    <p:sldId xmlns:r="http://schemas.openxmlformats.org/officeDocument/2006/relationships" id="260" r:id="R52a4171269114699"/>
    <p:sldId xmlns:r="http://schemas.openxmlformats.org/officeDocument/2006/relationships" id="261" r:id="Rbaf7ef4099eb4f49"/>
    <p:sldId xmlns:r="http://schemas.openxmlformats.org/officeDocument/2006/relationships" id="262" r:id="Ra6f7eb4112b64ed7"/>
    <p:sldId xmlns:r="http://schemas.openxmlformats.org/officeDocument/2006/relationships" id="263" r:id="R836d29c81b6d40dd"/>
    <p:sldId xmlns:r="http://schemas.openxmlformats.org/officeDocument/2006/relationships" id="264" r:id="R63957cc5ee3c4105"/>
    <p:sldId xmlns:r="http://schemas.openxmlformats.org/officeDocument/2006/relationships" id="265" r:id="R5eb692f290894bf7"/>
    <p:sldId xmlns:r="http://schemas.openxmlformats.org/officeDocument/2006/relationships" id="266" r:id="R3fdb66847542409a"/>
    <p:sldId xmlns:r="http://schemas.openxmlformats.org/officeDocument/2006/relationships" id="267" r:id="R1afd9c4059ba48c6"/>
    <p:sldId xmlns:r="http://schemas.openxmlformats.org/officeDocument/2006/relationships" id="268" r:id="R4790af74be674702"/>
    <p:sldId xmlns:r="http://schemas.openxmlformats.org/officeDocument/2006/relationships" id="269" r:id="Rc5c3b92478384fed"/>
    <p:sldId xmlns:r="http://schemas.openxmlformats.org/officeDocument/2006/relationships" id="270" r:id="R02f5980e7c864ed4"/>
    <p:sldId xmlns:r="http://schemas.openxmlformats.org/officeDocument/2006/relationships" id="271" r:id="R5abbb9684bc9408f"/>
    <p:sldId xmlns:r="http://schemas.openxmlformats.org/officeDocument/2006/relationships" id="272" r:id="Rd10a514206964303"/>
    <p:sldId xmlns:r="http://schemas.openxmlformats.org/officeDocument/2006/relationships" id="273" r:id="Rf594a1f9bacf4620"/>
    <p:sldId xmlns:r="http://schemas.openxmlformats.org/officeDocument/2006/relationships" id="274" r:id="R65b3201dd5e048ff"/>
    <p:sldId xmlns:r="http://schemas.openxmlformats.org/officeDocument/2006/relationships" id="275" r:id="R1d1dd887e9754dd1"/>
    <p:sldId xmlns:r="http://schemas.openxmlformats.org/officeDocument/2006/relationships" id="276" r:id="R70f5f43a9be54681"/>
    <p:sldId xmlns:r="http://schemas.openxmlformats.org/officeDocument/2006/relationships" id="277" r:id="Rdc1679bef3544d9d"/>
    <p:sldId xmlns:r="http://schemas.openxmlformats.org/officeDocument/2006/relationships" id="278" r:id="R7ca92f215410451a"/>
    <p:sldId xmlns:r="http://schemas.openxmlformats.org/officeDocument/2006/relationships" id="279" r:id="Ree3b2e03db4e4499"/>
    <p:sldId xmlns:r="http://schemas.openxmlformats.org/officeDocument/2006/relationships" id="280" r:id="Rd37598d133e34b6e"/>
    <p:sldId xmlns:r="http://schemas.openxmlformats.org/officeDocument/2006/relationships" id="281" r:id="R61b17a47b02f469b"/>
    <p:sldId xmlns:r="http://schemas.openxmlformats.org/officeDocument/2006/relationships" id="282" r:id="R7579adca84624f49"/>
    <p:sldId xmlns:r="http://schemas.openxmlformats.org/officeDocument/2006/relationships" id="283" r:id="R17fd5aaa598442a0"/>
    <p:sldId xmlns:r="http://schemas.openxmlformats.org/officeDocument/2006/relationships" id="284" r:id="Rba2009d73f924ee9"/>
    <p:sldId xmlns:r="http://schemas.openxmlformats.org/officeDocument/2006/relationships" id="285" r:id="R85ea7cab8ee644da"/>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195eadc877554346" /><Relationship Type="http://schemas.openxmlformats.org/officeDocument/2006/relationships/slideMaster" Target="/ppt/slideMasters/slideMaster1.xml" Id="R9b296558a5274412" /><Relationship Type="http://schemas.openxmlformats.org/officeDocument/2006/relationships/notesMaster" Target="/ppt/notesMasters/notesMaster1.xml" Id="R1bab5b4d50604468" /><Relationship Type="http://schemas.openxmlformats.org/officeDocument/2006/relationships/presProps" Target="/ppt/presProps.xml" Id="R1951df7c0d2549bd" /><Relationship Type="http://schemas.openxmlformats.org/officeDocument/2006/relationships/tableStyles" Target="/ppt/tableStyles.xml" Id="Rf107e1b3748740b9" /><Relationship Type="http://schemas.openxmlformats.org/officeDocument/2006/relationships/slide" Target="/ppt/slides/slide1.xml" Id="R76a2f69df26b4e86" /><Relationship Type="http://schemas.openxmlformats.org/officeDocument/2006/relationships/slide" Target="/ppt/slides/slide2.xml" Id="R4dcce82f26d74e3c" /><Relationship Type="http://schemas.openxmlformats.org/officeDocument/2006/relationships/slide" Target="/ppt/slides/slide3.xml" Id="Rc2342fff92aa48cf" /><Relationship Type="http://schemas.openxmlformats.org/officeDocument/2006/relationships/slide" Target="/ppt/slides/slide4.xml" Id="R8a64cf50235e4485" /><Relationship Type="http://schemas.openxmlformats.org/officeDocument/2006/relationships/slide" Target="/ppt/slides/slide5.xml" Id="R52a4171269114699" /><Relationship Type="http://schemas.openxmlformats.org/officeDocument/2006/relationships/slide" Target="/ppt/slides/slide6.xml" Id="Rbaf7ef4099eb4f49" /><Relationship Type="http://schemas.openxmlformats.org/officeDocument/2006/relationships/slide" Target="/ppt/slides/slide7.xml" Id="Ra6f7eb4112b64ed7" /><Relationship Type="http://schemas.openxmlformats.org/officeDocument/2006/relationships/slide" Target="/ppt/slides/slide8.xml" Id="R836d29c81b6d40dd" /><Relationship Type="http://schemas.openxmlformats.org/officeDocument/2006/relationships/slide" Target="/ppt/slides/slide9.xml" Id="R63957cc5ee3c4105" /><Relationship Type="http://schemas.openxmlformats.org/officeDocument/2006/relationships/slide" Target="/ppt/slides/slide10.xml" Id="R5eb692f290894bf7" /><Relationship Type="http://schemas.openxmlformats.org/officeDocument/2006/relationships/slide" Target="/ppt/slides/slide11.xml" Id="R3fdb66847542409a" /><Relationship Type="http://schemas.openxmlformats.org/officeDocument/2006/relationships/slide" Target="/ppt/slides/slide12.xml" Id="R1afd9c4059ba48c6" /><Relationship Type="http://schemas.openxmlformats.org/officeDocument/2006/relationships/slide" Target="/ppt/slides/slide13.xml" Id="R4790af74be674702" /><Relationship Type="http://schemas.openxmlformats.org/officeDocument/2006/relationships/slide" Target="/ppt/slides/slide14.xml" Id="Rc5c3b92478384fed" /><Relationship Type="http://schemas.openxmlformats.org/officeDocument/2006/relationships/slide" Target="/ppt/slides/slide15.xml" Id="R02f5980e7c864ed4" /><Relationship Type="http://schemas.openxmlformats.org/officeDocument/2006/relationships/slide" Target="/ppt/slides/slide16.xml" Id="R5abbb9684bc9408f" /><Relationship Type="http://schemas.openxmlformats.org/officeDocument/2006/relationships/slide" Target="/ppt/slides/slide17.xml" Id="Rd10a514206964303" /><Relationship Type="http://schemas.openxmlformats.org/officeDocument/2006/relationships/slide" Target="/ppt/slides/slide18.xml" Id="Rf594a1f9bacf4620" /><Relationship Type="http://schemas.openxmlformats.org/officeDocument/2006/relationships/slide" Target="/ppt/slides/slide19.xml" Id="R65b3201dd5e048ff" /><Relationship Type="http://schemas.openxmlformats.org/officeDocument/2006/relationships/slide" Target="/ppt/slides/slide20.xml" Id="R1d1dd887e9754dd1" /><Relationship Type="http://schemas.openxmlformats.org/officeDocument/2006/relationships/slide" Target="/ppt/slides/slide21.xml" Id="R70f5f43a9be54681" /><Relationship Type="http://schemas.openxmlformats.org/officeDocument/2006/relationships/slide" Target="/ppt/slides/slide22.xml" Id="Rdc1679bef3544d9d" /><Relationship Type="http://schemas.openxmlformats.org/officeDocument/2006/relationships/slide" Target="/ppt/slides/slide23.xml" Id="R7ca92f215410451a" /><Relationship Type="http://schemas.openxmlformats.org/officeDocument/2006/relationships/slide" Target="/ppt/slides/slide24.xml" Id="Ree3b2e03db4e4499" /><Relationship Type="http://schemas.openxmlformats.org/officeDocument/2006/relationships/slide" Target="/ppt/slides/slide25.xml" Id="Rd37598d133e34b6e" /><Relationship Type="http://schemas.openxmlformats.org/officeDocument/2006/relationships/slide" Target="/ppt/slides/slide26.xml" Id="R61b17a47b02f469b" /><Relationship Type="http://schemas.openxmlformats.org/officeDocument/2006/relationships/slide" Target="/ppt/slides/slide27.xml" Id="R7579adca84624f49" /><Relationship Type="http://schemas.openxmlformats.org/officeDocument/2006/relationships/slide" Target="/ppt/slides/slide28.xml" Id="R17fd5aaa598442a0" /><Relationship Type="http://schemas.openxmlformats.org/officeDocument/2006/relationships/slide" Target="/ppt/slides/slide29.xml" Id="Rba2009d73f924ee9" /><Relationship Type="http://schemas.openxmlformats.org/officeDocument/2006/relationships/slide" Target="/ppt/slides/slide30.xml" Id="R85ea7cab8ee644d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e3c399d6b2e495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a3b2f4afac2423e" /><Relationship Type="http://schemas.openxmlformats.org/officeDocument/2006/relationships/notesMaster" Target="/ppt/notesMasters/notesMaster1.xml" Id="R7e2f14a635434217" /></Relationships>
</file>

<file path=ppt/notesSlides/_rels/notesSlide2.xml.rels>&#65279;<?xml version="1.0" encoding="utf-8"?><Relationships xmlns="http://schemas.openxmlformats.org/package/2006/relationships"><Relationship Type="http://schemas.openxmlformats.org/officeDocument/2006/relationships/slide" Target="/ppt/slides/slide2.xml" Id="R9d4b5229a35945e9" /><Relationship Type="http://schemas.openxmlformats.org/officeDocument/2006/relationships/notesMaster" Target="/ppt/notesMasters/notesMaster1.xml" Id="R29efa08c1a4e4290" /></Relationships>
</file>

<file path=ppt/notesSlides/_rels/notesSlide3.xml.rels>&#65279;<?xml version="1.0" encoding="utf-8"?><Relationships xmlns="http://schemas.openxmlformats.org/package/2006/relationships"><Relationship Type="http://schemas.openxmlformats.org/officeDocument/2006/relationships/slide" Target="/ppt/slides/slide3.xml" Id="R62dae925ad644be5" /><Relationship Type="http://schemas.openxmlformats.org/officeDocument/2006/relationships/notesMaster" Target="/ppt/notesMasters/notesMaster1.xml" Id="R116477e790a7436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238cfdd63ad4895" /><Relationship Type="http://schemas.openxmlformats.org/officeDocument/2006/relationships/notesMaster" Target="/ppt/notesMasters/notesMaster1.xml" Id="R06c0f54df53749ee" /></Relationships>
</file>

<file path=ppt/notesSlides/_rels/notesSlide5.xml.rels>&#65279;<?xml version="1.0" encoding="utf-8"?><Relationships xmlns="http://schemas.openxmlformats.org/package/2006/relationships"><Relationship Type="http://schemas.openxmlformats.org/officeDocument/2006/relationships/slide" Target="/ppt/slides/slide5.xml" Id="Re54c75680ad945e7" /><Relationship Type="http://schemas.openxmlformats.org/officeDocument/2006/relationships/notesMaster" Target="/ppt/notesMasters/notesMaster1.xml" Id="R184c1b835a5746b7" /></Relationships>
</file>

<file path=ppt/notesSlides/_rels/notesSlide6.xml.rels>&#65279;<?xml version="1.0" encoding="utf-8"?><Relationships xmlns="http://schemas.openxmlformats.org/package/2006/relationships"><Relationship Type="http://schemas.openxmlformats.org/officeDocument/2006/relationships/slide" Target="/ppt/slides/slide6.xml" Id="Rf5109ffade484218" /><Relationship Type="http://schemas.openxmlformats.org/officeDocument/2006/relationships/notesMaster" Target="/ppt/notesMasters/notesMaster1.xml" Id="Re6cb92e740434bad" /></Relationships>
</file>

<file path=ppt/notesSlides/_rels/notesSlide7.xml.rels>&#65279;<?xml version="1.0" encoding="utf-8"?><Relationships xmlns="http://schemas.openxmlformats.org/package/2006/relationships"><Relationship Type="http://schemas.openxmlformats.org/officeDocument/2006/relationships/slide" Target="/ppt/slides/slide7.xml" Id="Ra78d000934c34936" /><Relationship Type="http://schemas.openxmlformats.org/officeDocument/2006/relationships/notesMaster" Target="/ppt/notesMasters/notesMaster1.xml" Id="Rc62e06415866432f" /></Relationships>
</file>

<file path=ppt/notesSlides/_rels/notesSlide8.xml.rels>&#65279;<?xml version="1.0" encoding="utf-8"?><Relationships xmlns="http://schemas.openxmlformats.org/package/2006/relationships"><Relationship Type="http://schemas.openxmlformats.org/officeDocument/2006/relationships/slide" Target="/ppt/slides/slide8.xml" Id="R56ca330d3c6a4892" /><Relationship Type="http://schemas.openxmlformats.org/officeDocument/2006/relationships/notesMaster" Target="/ppt/notesMasters/notesMaster1.xml" Id="Rdcbdde07e3f64ba7" /></Relationships>
</file>

<file path=ppt/notesSlides/_rels/notesSlide9.xml.rels>&#65279;<?xml version="1.0" encoding="utf-8"?><Relationships xmlns="http://schemas.openxmlformats.org/package/2006/relationships"><Relationship Type="http://schemas.openxmlformats.org/officeDocument/2006/relationships/slide" Target="/ppt/slides/slide9.xml" Id="R382ea5adb73c4717" /><Relationship Type="http://schemas.openxmlformats.org/officeDocument/2006/relationships/notesMaster" Target="/ppt/notesMasters/notesMaster1.xml" Id="R65f80afdb6d54f5f"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36cf34af36742ec" /><Relationship Type="http://schemas.openxmlformats.org/officeDocument/2006/relationships/notesMaster" Target="/ppt/notesMasters/notesMaster1.xml" Id="R5cfc733f0371457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8b9e45d711b54773" /><Relationship Type="http://schemas.openxmlformats.org/officeDocument/2006/relationships/notesMaster" Target="/ppt/notesMasters/notesMaster1.xml" Id="R35aaeaaae78a48bc"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e0fcba935be49c9" /><Relationship Type="http://schemas.openxmlformats.org/officeDocument/2006/relationships/notesMaster" Target="/ppt/notesMasters/notesMaster1.xml" Id="Rc58e2fc3701744d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baf6fc5624849f4" /><Relationship Type="http://schemas.openxmlformats.org/officeDocument/2006/relationships/notesMaster" Target="/ppt/notesMasters/notesMaster1.xml" Id="R9508850f310a4d0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4d3f129c8d348c1" /><Relationship Type="http://schemas.openxmlformats.org/officeDocument/2006/relationships/notesMaster" Target="/ppt/notesMasters/notesMaster1.xml" Id="R35a924ee9118408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4f6ad1b1166d49bd" /><Relationship Type="http://schemas.openxmlformats.org/officeDocument/2006/relationships/notesMaster" Target="/ppt/notesMasters/notesMaster1.xml" Id="R756c404244364561"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53c798cf893e48c1" /><Relationship Type="http://schemas.openxmlformats.org/officeDocument/2006/relationships/notesMaster" Target="/ppt/notesMasters/notesMaster1.xml" Id="R1a5701d4da1641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871da170a1047fa" /><Relationship Type="http://schemas.openxmlformats.org/officeDocument/2006/relationships/notesMaster" Target="/ppt/notesMasters/notesMaster1.xml" Id="R2997861bffa0493d"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cda3cb1636c0403e" /><Relationship Type="http://schemas.openxmlformats.org/officeDocument/2006/relationships/notesMaster" Target="/ppt/notesMasters/notesMaster1.xml" Id="Rcb40dd8cb776478f"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84c3eb83ff14d5b" /><Relationship Type="http://schemas.openxmlformats.org/officeDocument/2006/relationships/notesMaster" Target="/ppt/notesMasters/notesMaster1.xml" Id="R9223708e25094bd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c15c5fa31c64b7b" /><Relationship Type="http://schemas.openxmlformats.org/officeDocument/2006/relationships/notesMaster" Target="/ppt/notesMasters/notesMaster1.xml" Id="R5079caf54b8d480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24f963957334568" /><Relationship Type="http://schemas.openxmlformats.org/officeDocument/2006/relationships/notesMaster" Target="/ppt/notesMasters/notesMaster1.xml" Id="Rc8a109bdeb22461a"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861da71cec14add" /><Relationship Type="http://schemas.openxmlformats.org/officeDocument/2006/relationships/notesMaster" Target="/ppt/notesMasters/notesMaster1.xml" Id="Ra9a741364d17412d"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90418e9320249e6" /><Relationship Type="http://schemas.openxmlformats.org/officeDocument/2006/relationships/notesMaster" Target="/ppt/notesMasters/notesMaster1.xml" Id="R58fa3ff7e28c4eb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f67c44cc4c5c4df7" /><Relationship Type="http://schemas.openxmlformats.org/officeDocument/2006/relationships/notesMaster" Target="/ppt/notesMasters/notesMaster1.xml" Id="Re5b93a64778a4a25"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d8d375f4e3447a2" /><Relationship Type="http://schemas.openxmlformats.org/officeDocument/2006/relationships/notesMaster" Target="/ppt/notesMasters/notesMaster1.xml" Id="Ra275a94f0258462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b4cbb227266340a7" /><Relationship Type="http://schemas.openxmlformats.org/officeDocument/2006/relationships/notesMaster" Target="/ppt/notesMasters/notesMaster1.xml" Id="R916ebd5a194f46c3"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ceed8c1e8e04727" /><Relationship Type="http://schemas.openxmlformats.org/officeDocument/2006/relationships/notesMaster" Target="/ppt/notesMasters/notesMaster1.xml" Id="R5816e1dab1084c5d"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f7e5e84c302c43b5" /><Relationship Type="http://schemas.openxmlformats.org/officeDocument/2006/relationships/notesMaster" Target="/ppt/notesMasters/notesMaster1.xml" Id="Rf170f3a3b48f4d93"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24b9914af76465e" /><Relationship Type="http://schemas.openxmlformats.org/officeDocument/2006/relationships/notesMaster" Target="/ppt/notesMasters/notesMaster1.xml" Id="R73c5b90e3b334882"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1965e3ba477342c6" /><Relationship Type="http://schemas.openxmlformats.org/officeDocument/2006/relationships/notesMaster" Target="/ppt/notesMasters/notesMaster1.xml" Id="R9c5475c199e043d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human experience, not the architecture. Ask: can an AI sales agent actually listen?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The y-axis is deliberately an evidence scale—not a fabricated quality score: 0 means a known control failure, 1 relevant but not gated, 2 a grounded sample, and 3 the 17-scenario eval.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Gemini was selected because it combined an observed 1,120 ms plan with 132/136 grounded-policy checks and structured tool support. Re-evaluate local candidates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Local model measurements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31 ms gap from normal variance. Gemini explicit cache storage was unavailable on the free tier, and implicit caching did not engage. We recorded the negative result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 When a trace reveals a failure pattern—an interruption miss, stale answer or action error—we turn that pattern into a new eval scenario and regression test.</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point is not a single headline number: this trace links response timing, three playback cancellations, two accepted actions and 11 caller turns, making the conversation diagnosable and improvable.</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 If the workflow scales to millions of historical inquiries, the agent creates coverage and triage—not a replacement for the human conversation where trust and negotiation matter.</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“Do Not Call (DNC)” is the persisted suppression list that prevents prohibited or opted-out contacts from being called. The current app is single-session and browser-first; these are the production capabilities still needed before outbound use.</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ASBL’s hundreds of hours of historical sales calls are a differentiated learning asset only when they are used with appropriate consent, retention, access controls and legal review. They can reveal real objections, silence patterns, accents, turn-taking and qualification signals that generic benchmarks miss. The opportunity is not to declare multilingual voice solved: Telugu, Hindi, English and code-mixed calls still need their own ASR, TTS, factuality, turn-taking and trust evaluations before deployment.</a:t>
            </a:r>
          </a:p>
          <a:p xmlns:a="http://schemas.openxmlformats.org/drawingml/2006/main">
            <a:r>
              <a:t/>
            </a:r>
          </a:p>
          <a:p xmlns:a="http://schemas.openxmlformats.org/drawingml/2006/main">
            <a:r>
              <a:t>SOURCES</a:t>
            </a:r>
          </a:p>
          <a:p xmlns:a="http://schemas.openxmlformats.org/drawingml/2006/main">
            <a:r>
              <a:t>- ASBL call-recording asset ·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212013767cd43f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e186ab6d34648aa" /><Relationship Type="http://schemas.openxmlformats.org/officeDocument/2006/relationships/slideLayout" Target="/ppt/slideLayouts/slideLayout1.xml" Id="Rb86b2e04aefa421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86b2e04aefa421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a227b538545d4e43" /><Relationship Type="http://schemas.openxmlformats.org/officeDocument/2006/relationships/image" Target="/ppt/media/image.jpeg" Id="Rea9375e24b1e498d" /><Relationship Type="http://schemas.openxmlformats.org/officeDocument/2006/relationships/notesSlide" Target="/ppt/notesSlides/notesSlide1.xml" Id="Rbbc946ff64f04570"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f1fda5258f547e2" /><Relationship Type="http://schemas.openxmlformats.org/officeDocument/2006/relationships/image" Target="/ppt/media/image2.jpeg" Id="R4f8779b0ed37407e" /><Relationship Type="http://schemas.openxmlformats.org/officeDocument/2006/relationships/notesSlide" Target="/ppt/notesSlides/notesSlide2.xml" Id="R575fad4e0f9a48cf"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ce9ee13e1081441f" /><Relationship Type="http://schemas.openxmlformats.org/officeDocument/2006/relationships/image" Target="/ppt/media/image3.jpeg" Id="R682fe82726e64344" /><Relationship Type="http://schemas.openxmlformats.org/officeDocument/2006/relationships/notesSlide" Target="/ppt/notesSlides/notesSlide3.xml" Id="Rb105260312b14b22"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7f5a51247fa4bb4" /><Relationship Type="http://schemas.openxmlformats.org/officeDocument/2006/relationships/image" Target="/ppt/media/image4.jpeg" Id="R8ec171f0cd0f4719" /><Relationship Type="http://schemas.openxmlformats.org/officeDocument/2006/relationships/notesSlide" Target="/ppt/notesSlides/notesSlide4.xml" Id="Rf6f907e906d94386"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1cf905e645a4a09" /><Relationship Type="http://schemas.openxmlformats.org/officeDocument/2006/relationships/image" Target="/ppt/media/image5.jpeg" Id="R729c0b59ef474a18" /><Relationship Type="http://schemas.openxmlformats.org/officeDocument/2006/relationships/notesSlide" Target="/ppt/notesSlides/notesSlide5.xml" Id="R72f9083932204d28"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5131e777f3cc4e8a" /><Relationship Type="http://schemas.openxmlformats.org/officeDocument/2006/relationships/image" Target="/ppt/media/image6.jpeg" Id="Re7de4dc8b23e494d" /><Relationship Type="http://schemas.openxmlformats.org/officeDocument/2006/relationships/notesSlide" Target="/ppt/notesSlides/notesSlide6.xml" Id="Rf137c46899704e3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f88003dbd204304" /><Relationship Type="http://schemas.openxmlformats.org/officeDocument/2006/relationships/image" Target="/ppt/media/image7.jpeg" Id="R78ae95b5ed314e5c" /><Relationship Type="http://schemas.openxmlformats.org/officeDocument/2006/relationships/notesSlide" Target="/ppt/notesSlides/notesSlide7.xml" Id="Rbe82cd4679a24874"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6bbd96fab8b8467d" /><Relationship Type="http://schemas.openxmlformats.org/officeDocument/2006/relationships/image" Target="/ppt/media/image8.jpeg" Id="R1a325f0c02f14df4" /><Relationship Type="http://schemas.openxmlformats.org/officeDocument/2006/relationships/notesSlide" Target="/ppt/notesSlides/notesSlide8.xml" Id="Radba0dc7084c46ce"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5dcbca94ef254984" /><Relationship Type="http://schemas.openxmlformats.org/officeDocument/2006/relationships/image" Target="/ppt/media/image9.jpeg" Id="R49ff06e7bb9346b8" /><Relationship Type="http://schemas.openxmlformats.org/officeDocument/2006/relationships/notesSlide" Target="/ppt/notesSlides/notesSlide9.xml" Id="R52be1814de8e479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23b21ccd69e4f3b" /><Relationship Type="http://schemas.openxmlformats.org/officeDocument/2006/relationships/image" Target="/ppt/media/image10.jpeg" Id="R6ea372db0c864910" /><Relationship Type="http://schemas.openxmlformats.org/officeDocument/2006/relationships/notesSlide" Target="/ppt/notesSlides/notesSlide10.xml" Id="R4995d6db388d4d4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b65c8bec674162" /><Relationship Type="http://schemas.openxmlformats.org/officeDocument/2006/relationships/image" Target="/ppt/media/image11.jpeg" Id="Rf3100284f78a4f20" /><Relationship Type="http://schemas.openxmlformats.org/officeDocument/2006/relationships/notesSlide" Target="/ppt/notesSlides/notesSlide11.xml" Id="R964950667a25487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b2199fc966c456b" /><Relationship Type="http://schemas.openxmlformats.org/officeDocument/2006/relationships/image" Target="/ppt/media/image12.jpeg" Id="Rb3204fc2e78340cb" /><Relationship Type="http://schemas.openxmlformats.org/officeDocument/2006/relationships/notesSlide" Target="/ppt/notesSlides/notesSlide12.xml" Id="Rd057c724c3e64ceb"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b5d6eb2475b48ef" /><Relationship Type="http://schemas.openxmlformats.org/officeDocument/2006/relationships/image" Target="/ppt/media/image13.jpeg" Id="R8d8b81fcd0a74989" /><Relationship Type="http://schemas.openxmlformats.org/officeDocument/2006/relationships/notesSlide" Target="/ppt/notesSlides/notesSlide13.xml" Id="R836c29583c6e4b8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b77aa2299a04dfa" /><Relationship Type="http://schemas.openxmlformats.org/officeDocument/2006/relationships/image" Target="/ppt/media/image14.jpeg" Id="Rab9c07f1e4d94c1b" /><Relationship Type="http://schemas.openxmlformats.org/officeDocument/2006/relationships/notesSlide" Target="/ppt/notesSlides/notesSlide14.xml" Id="R466efc86062245bc"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d88eed068e8d4227" /><Relationship Type="http://schemas.openxmlformats.org/officeDocument/2006/relationships/image" Target="/ppt/media/image15.jpeg" Id="R474e99dacc7c4747" /><Relationship Type="http://schemas.openxmlformats.org/officeDocument/2006/relationships/notesSlide" Target="/ppt/notesSlides/notesSlide15.xml" Id="Rca1ffd8130734e1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94d5e1ce75d4490" /><Relationship Type="http://schemas.openxmlformats.org/officeDocument/2006/relationships/image" Target="/ppt/media/image16.jpeg" Id="R9b76e7fd487c4a3e" /><Relationship Type="http://schemas.openxmlformats.org/officeDocument/2006/relationships/notesSlide" Target="/ppt/notesSlides/notesSlide16.xml" Id="Rd1ee27b1bd974a25"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672122de68849fa" /><Relationship Type="http://schemas.openxmlformats.org/officeDocument/2006/relationships/image" Target="/ppt/media/image17.jpeg" Id="Rc7eb522357cd4853" /><Relationship Type="http://schemas.openxmlformats.org/officeDocument/2006/relationships/notesSlide" Target="/ppt/notesSlides/notesSlide17.xml" Id="R4470cd2a92a34c47"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81db6f5686364b40" /><Relationship Type="http://schemas.openxmlformats.org/officeDocument/2006/relationships/image" Target="/ppt/media/image18.jpeg" Id="Rec90665781d049dd" /><Relationship Type="http://schemas.openxmlformats.org/officeDocument/2006/relationships/notesSlide" Target="/ppt/notesSlides/notesSlide18.xml" Id="Rce9fdc23b99347d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b58dab7f9e4e4cf7" /><Relationship Type="http://schemas.openxmlformats.org/officeDocument/2006/relationships/image" Target="/ppt/media/image19.jpeg" Id="R4667dae1c8144edf" /><Relationship Type="http://schemas.openxmlformats.org/officeDocument/2006/relationships/notesSlide" Target="/ppt/notesSlides/notesSlide19.xml" Id="R780570895135426d"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7404306150bb4abf" /><Relationship Type="http://schemas.openxmlformats.org/officeDocument/2006/relationships/image" Target="/ppt/media/image20.jpeg" Id="R658a907a123b43bd" /><Relationship Type="http://schemas.openxmlformats.org/officeDocument/2006/relationships/notesSlide" Target="/ppt/notesSlides/notesSlide20.xml" Id="R3caf4328698f466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0b654cae40c45ca" /><Relationship Type="http://schemas.openxmlformats.org/officeDocument/2006/relationships/image" Target="/ppt/media/image21.jpeg" Id="Rb3945d3bf5004808" /><Relationship Type="http://schemas.openxmlformats.org/officeDocument/2006/relationships/notesSlide" Target="/ppt/notesSlides/notesSlide21.xml" Id="R55bf9b135e414b2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a19ce33026a04d5b" /><Relationship Type="http://schemas.openxmlformats.org/officeDocument/2006/relationships/image" Target="/ppt/media/image22.jpeg" Id="R0d6e41dced634dfd" /><Relationship Type="http://schemas.openxmlformats.org/officeDocument/2006/relationships/notesSlide" Target="/ppt/notesSlides/notesSlide22.xml" Id="Re773b3681f014c16"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a662412cfc149ca" /><Relationship Type="http://schemas.openxmlformats.org/officeDocument/2006/relationships/image" Target="/ppt/media/image23.jpeg" Id="R42aea51c61c0495b" /><Relationship Type="http://schemas.openxmlformats.org/officeDocument/2006/relationships/notesSlide" Target="/ppt/notesSlides/notesSlide23.xml" Id="Rcf8f441a87104f8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3dd82105c0f42ae" /><Relationship Type="http://schemas.openxmlformats.org/officeDocument/2006/relationships/image" Target="/ppt/media/image24.jpeg" Id="R40b67b4d5420412e" /><Relationship Type="http://schemas.openxmlformats.org/officeDocument/2006/relationships/notesSlide" Target="/ppt/notesSlides/notesSlide24.xml" Id="R1d1177b84c094e48"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8a49412693304ed2" /><Relationship Type="http://schemas.openxmlformats.org/officeDocument/2006/relationships/image" Target="/ppt/media/image25.jpeg" Id="R0f2ab45a267a4e92" /><Relationship Type="http://schemas.openxmlformats.org/officeDocument/2006/relationships/notesSlide" Target="/ppt/notesSlides/notesSlide25.xml" Id="Rec3a82202e1744a4"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60eee760af444c" /><Relationship Type="http://schemas.openxmlformats.org/officeDocument/2006/relationships/image" Target="/ppt/media/image26.jpeg" Id="R6a3bf6b1b4b24d3e" /><Relationship Type="http://schemas.openxmlformats.org/officeDocument/2006/relationships/notesSlide" Target="/ppt/notesSlides/notesSlide26.xml" Id="R7685e4f830c445a8"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1632d978738c4d24" /><Relationship Type="http://schemas.openxmlformats.org/officeDocument/2006/relationships/image" Target="/ppt/media/image27.jpeg" Id="R27f79ce9582c4604" /><Relationship Type="http://schemas.openxmlformats.org/officeDocument/2006/relationships/notesSlide" Target="/ppt/notesSlides/notesSlide27.xml" Id="Rb0deac0998464d87"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ef8e1dc805464898" /><Relationship Type="http://schemas.openxmlformats.org/officeDocument/2006/relationships/image" Target="/ppt/media/image28.jpeg" Id="R00d750f73836464f" /><Relationship Type="http://schemas.openxmlformats.org/officeDocument/2006/relationships/notesSlide" Target="/ppt/notesSlides/notesSlide28.xml" Id="R8af1d0c6e3274e46"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8b896cab3bc485d" /><Relationship Type="http://schemas.openxmlformats.org/officeDocument/2006/relationships/image" Target="/ppt/media/image29.jpeg" Id="Rba125cb0b3d74b70" /><Relationship Type="http://schemas.openxmlformats.org/officeDocument/2006/relationships/notesSlide" Target="/ppt/notesSlides/notesSlide29.xml" Id="Rc74bee34c634454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b0cd2855927d4cbe" /><Relationship Type="http://schemas.openxmlformats.org/officeDocument/2006/relationships/image" Target="/ppt/media/image30.jpeg" Id="Rc469d05af1704b5c" /><Relationship Type="http://schemas.openxmlformats.org/officeDocument/2006/relationships/notesSlide" Target="/ppt/notesSlides/notesSlide30.xml" Id="R83dba2cedcfb47da"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ea9375e24b1e498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D46FF58-F2A1-409D-8BF7-A3447438EA2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157A2120-2D79-4422-8DCB-B70C962C6D07}"/>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BDB5E77C-87CE-46CE-B5F2-9AB214079CCF}"/>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B44B9A63-B79D-4F61-B30C-BB3A5DECE1AD}"/>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E311719C-728C-4F92-83CF-36A4C4F10764}"/>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C455CD98-C9A5-4B0F-8223-7FDFF0530CFB}"/>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6486901E-27F3-4427-90F1-C847A2322A3E}"/>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603C86B8-82AC-46F2-99C9-D435CAC535C6}"/>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2D0EF6C7-F6F3-4DEC-827A-B6F6FEC68AF8}"/>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F227CCB-9935-4AB1-9125-FD5957B1C0DB}"/>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DC3BF066-37DF-459B-B353-01C5BE4C9C8C}"/>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01D2A70-16C7-491F-A372-602C89DF504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77E01F0E-D058-41C0-A960-5FA72BF3017B}"/>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59050E41-CB05-4171-81B5-1A205BE3DAD8}"/>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67025E12-A74E-42D7-A646-0CDE038625B1}"/>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29ACA2B8-A15F-43B2-94D8-BB7D7ACD4203}"/>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6FB312D9-83DF-411E-96B9-A3B29D8FC221}"/>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24D767A6-A74E-436E-BA67-794F12709CE3}"/>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EFE5DBDA-96B5-405B-B87D-7EC0190C398E}"/>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30C4A384-1AA6-40AB-B968-A99C5C01B3D6}"/>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441284A0-CA64-43FE-AFE5-40DA0B3E55CD}"/>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7DF8D2B3-CFCC-49FF-BBDB-3B69E1F9B36B}"/>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23A92BD-EB20-462C-8105-6B1ACCF9B2ED}"/>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FD0A68A8-5FE2-4ECF-BE18-B879B4076099}"/>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C7559133-9017-400C-A4AA-515EB4FC2574}"/>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F720336C-1631-44C5-BE6E-F5CBA79F49F8}"/>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1E336B89-7314-40DA-813A-3F5D826D926A}"/>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49498F1B-C65D-4A6F-BFD1-0979420A57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51179664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4f8779b0ed37407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7317CAD-996E-4F17-B266-295CEA9E538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2F864803-26DA-4335-8D2C-2DDC8E00D41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2DE4858E-5403-4445-9175-2361F087024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2B53A40-4070-429B-9A08-EDCC99FAC9E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19E18BB9-8470-410C-8148-13945DA5E67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40A14AE-8DFB-4C01-8887-B583B059CAFE}"/>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ONE SHARED STATE</a:t>
            </a:r>
          </a:p>
        </p:txBody>
      </p:sp>
      <p:sp>
        <p:nvSpPr>
          <p:cNvPr id="8" name="">
            <a:extLst xmlns:a="http://schemas.openxmlformats.org/drawingml/2006/main">
              <a:ext uri="{FF2B5EF4-FFF2-40B4-BE49-F238E27FC236}">
                <a16:creationId xmlns:a16="http://schemas.microsoft.com/office/drawing/2014/main" id="{8E32B0B8-E978-4DF8-93E3-E4FD6F975975}"/>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8F3F6"/>
          </a:solidFill>
          <a:ln xmlns:a="http://schemas.openxmlformats.org/drawingml/2006/main" w="9525">
            <a:solidFill>
              <a:srgbClr val="8EBBD0"/>
            </a:solidFill>
            <a:prstDash val="solid"/>
          </a:ln>
        </p:spPr>
      </p:sp>
      <p:sp>
        <p:nvSpPr>
          <p:cNvPr id="9" name="">
            <a:extLst xmlns:a="http://schemas.openxmlformats.org/drawingml/2006/main">
              <a:ext uri="{FF2B5EF4-FFF2-40B4-BE49-F238E27FC236}">
                <a16:creationId xmlns:a16="http://schemas.microsoft.com/office/drawing/2014/main" id="{81B905F1-AD56-447C-A5CD-CABCE7CD5DE5}"/>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conversation state</a:t>
            </a:r>
          </a:p>
        </p:txBody>
      </p:sp>
      <p:sp>
        <p:nvSpPr>
          <p:cNvPr id="10" name="">
            <a:extLst xmlns:a="http://schemas.openxmlformats.org/drawingml/2006/main">
              <a:ext uri="{FF2B5EF4-FFF2-40B4-BE49-F238E27FC236}">
                <a16:creationId xmlns:a16="http://schemas.microsoft.com/office/drawing/2014/main" id="{3F9C8145-753A-47E8-8AC2-83C7AE52E040}"/>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11" name="">
            <a:extLst xmlns:a="http://schemas.openxmlformats.org/drawingml/2006/main">
              <a:ext uri="{FF2B5EF4-FFF2-40B4-BE49-F238E27FC236}">
                <a16:creationId xmlns:a16="http://schemas.microsoft.com/office/drawing/2014/main" id="{A93A4F24-54EC-4269-8F25-7634B30445AD}"/>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2" name="">
            <a:extLst xmlns:a="http://schemas.openxmlformats.org/drawingml/2006/main">
              <a:ext uri="{FF2B5EF4-FFF2-40B4-BE49-F238E27FC236}">
                <a16:creationId xmlns:a16="http://schemas.microsoft.com/office/drawing/2014/main" id="{2F97D7BF-89B2-4F26-BB42-431A7C2A162E}"/>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01</a:t>
            </a:r>
          </a:p>
        </p:txBody>
      </p:sp>
      <p:sp>
        <p:nvSpPr>
          <p:cNvPr id="13" name="">
            <a:extLst xmlns:a="http://schemas.openxmlformats.org/drawingml/2006/main">
              <a:ext uri="{FF2B5EF4-FFF2-40B4-BE49-F238E27FC236}">
                <a16:creationId xmlns:a16="http://schemas.microsoft.com/office/drawing/2014/main" id="{BAA093CB-733A-478E-8E12-6A0E3AB1BC56}"/>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Listen</a:t>
            </a:r>
          </a:p>
        </p:txBody>
      </p:sp>
      <p:sp>
        <p:nvSpPr>
          <p:cNvPr id="14" name="">
            <a:extLst xmlns:a="http://schemas.openxmlformats.org/drawingml/2006/main">
              <a:ext uri="{FF2B5EF4-FFF2-40B4-BE49-F238E27FC236}">
                <a16:creationId xmlns:a16="http://schemas.microsoft.com/office/drawing/2014/main" id="{D1BE44E2-82C8-41B2-8BA5-87ADCEC93327}"/>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15" name="">
            <a:extLst xmlns:a="http://schemas.openxmlformats.org/drawingml/2006/main">
              <a:ext uri="{FF2B5EF4-FFF2-40B4-BE49-F238E27FC236}">
                <a16:creationId xmlns:a16="http://schemas.microsoft.com/office/drawing/2014/main" id="{71B48E8C-F87C-49E8-B643-8748513A5554}"/>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16" name="">
            <a:extLst xmlns:a="http://schemas.openxmlformats.org/drawingml/2006/main">
              <a:ext uri="{FF2B5EF4-FFF2-40B4-BE49-F238E27FC236}">
                <a16:creationId xmlns:a16="http://schemas.microsoft.com/office/drawing/2014/main" id="{964DC00C-18CB-4660-92D1-4B6E98FB41D1}"/>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B9BD7B55-AEF4-49F9-8D86-ECFF16C32690}"/>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Decide</a:t>
            </a:r>
          </a:p>
        </p:txBody>
      </p:sp>
      <p:sp>
        <p:nvSpPr>
          <p:cNvPr id="18" name="">
            <a:extLst xmlns:a="http://schemas.openxmlformats.org/drawingml/2006/main">
              <a:ext uri="{FF2B5EF4-FFF2-40B4-BE49-F238E27FC236}">
                <a16:creationId xmlns:a16="http://schemas.microsoft.com/office/drawing/2014/main" id="{29670C87-D647-4027-9BE4-3649F53E2E7A}"/>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19" name="">
            <a:extLst xmlns:a="http://schemas.openxmlformats.org/drawingml/2006/main">
              <a:ext uri="{FF2B5EF4-FFF2-40B4-BE49-F238E27FC236}">
                <a16:creationId xmlns:a16="http://schemas.microsoft.com/office/drawing/2014/main" id="{F6F840D6-95E2-426B-8758-9A1ED30119C2}"/>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0" name="">
            <a:extLst xmlns:a="http://schemas.openxmlformats.org/drawingml/2006/main">
              <a:ext uri="{FF2B5EF4-FFF2-40B4-BE49-F238E27FC236}">
                <a16:creationId xmlns:a16="http://schemas.microsoft.com/office/drawing/2014/main" id="{71627757-0D9F-4BC2-B16F-5719E3D1739C}"/>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68C82"/>
                </a:solidFill>
                <a:latin typeface="Aptos"/>
                <a:ea typeface="Aptos"/>
                <a:cs typeface="Aptos"/>
              </a:defRPr>
            </a:pPr>
            <a:r>
              <a:rPr sz="825" b="1">
                <a:solidFill>
                  <a:srgbClr val="268C82"/>
                </a:solidFill>
                <a:latin typeface="Aptos"/>
                <a:ea typeface="Aptos"/>
                <a:cs typeface="Aptos"/>
              </a:rPr>
              <a:t>03</a:t>
            </a:r>
          </a:p>
        </p:txBody>
      </p:sp>
      <p:sp>
        <p:nvSpPr>
          <p:cNvPr id="21" name="">
            <a:extLst xmlns:a="http://schemas.openxmlformats.org/drawingml/2006/main">
              <a:ext uri="{FF2B5EF4-FFF2-40B4-BE49-F238E27FC236}">
                <a16:creationId xmlns:a16="http://schemas.microsoft.com/office/drawing/2014/main" id="{7BC33D45-A8A1-4141-B56F-BBE5DF367191}"/>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650" b="1">
                <a:solidFill>
                  <a:srgbClr val="102A43"/>
                </a:solidFill>
                <a:latin typeface="Aptos"/>
                <a:ea typeface="Aptos"/>
                <a:cs typeface="Aptos"/>
              </a:defRPr>
            </a:pPr>
            <a:r>
              <a:rPr sz="1650" b="1">
                <a:solidFill>
                  <a:srgbClr val="102A43"/>
                </a:solidFill>
                <a:latin typeface="Aptos"/>
                <a:ea typeface="Aptos"/>
                <a:cs typeface="Aptos"/>
              </a:rPr>
              <a:t>Speak</a:t>
            </a:r>
          </a:p>
        </p:txBody>
      </p:sp>
      <p:sp>
        <p:nvSpPr>
          <p:cNvPr id="22" name="">
            <a:extLst xmlns:a="http://schemas.openxmlformats.org/drawingml/2006/main">
              <a:ext uri="{FF2B5EF4-FFF2-40B4-BE49-F238E27FC236}">
                <a16:creationId xmlns:a16="http://schemas.microsoft.com/office/drawing/2014/main" id="{52C33F27-58A4-44C5-81A5-736F22A7FD34}"/>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23" name="">
            <a:extLst xmlns:a="http://schemas.openxmlformats.org/drawingml/2006/main">
              <a:ext uri="{FF2B5EF4-FFF2-40B4-BE49-F238E27FC236}">
                <a16:creationId xmlns:a16="http://schemas.microsoft.com/office/drawing/2014/main" id="{F88DDF22-E8E4-4CC9-8E64-35686B4A4D43}"/>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4" name="">
            <a:extLst xmlns:a="http://schemas.openxmlformats.org/drawingml/2006/main">
              <a:ext uri="{FF2B5EF4-FFF2-40B4-BE49-F238E27FC236}">
                <a16:creationId xmlns:a16="http://schemas.microsoft.com/office/drawing/2014/main" id="{20A53A3A-1984-4961-B728-914B1AF3CA39}"/>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a:t>
            </a:r>
          </a:p>
        </p:txBody>
      </p:sp>
      <p:sp>
        <p:nvSpPr>
          <p:cNvPr id="25" name="">
            <a:extLst xmlns:a="http://schemas.openxmlformats.org/drawingml/2006/main">
              <a:ext uri="{FF2B5EF4-FFF2-40B4-BE49-F238E27FC236}">
                <a16:creationId xmlns:a16="http://schemas.microsoft.com/office/drawing/2014/main" id="{40861A2C-33F3-4104-BB00-B2D9068C1312}"/>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CONTINUOUS CAPABILITIES</a:t>
            </a:r>
          </a:p>
        </p:txBody>
      </p:sp>
      <p:sp>
        <p:nvSpPr>
          <p:cNvPr id="26" name="">
            <a:extLst xmlns:a="http://schemas.openxmlformats.org/drawingml/2006/main">
              <a:ext uri="{FF2B5EF4-FFF2-40B4-BE49-F238E27FC236}">
                <a16:creationId xmlns:a16="http://schemas.microsoft.com/office/drawing/2014/main" id="{F015E83C-4985-4078-9A5B-A9DA07679F7D}"/>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27" name="">
            <a:extLst xmlns:a="http://schemas.openxmlformats.org/drawingml/2006/main">
              <a:ext uri="{FF2B5EF4-FFF2-40B4-BE49-F238E27FC236}">
                <a16:creationId xmlns:a16="http://schemas.microsoft.com/office/drawing/2014/main" id="{092D06B8-B5CE-4666-9E7B-9FEC73BEDC0D}"/>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1A18571F-3961-409D-B03A-01D9158D4BB0}"/>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88DC1"/>
                </a:solidFill>
                <a:latin typeface="Aptos"/>
                <a:ea typeface="Aptos"/>
                <a:cs typeface="Aptos"/>
              </a:defRPr>
            </a:pPr>
            <a:r>
              <a:rPr sz="1275" b="1">
                <a:solidFill>
                  <a:srgbClr val="288DC1"/>
                </a:solidFill>
                <a:latin typeface="Aptos"/>
                <a:ea typeface="Aptos"/>
                <a:cs typeface="Aptos"/>
              </a:rPr>
              <a:t>Remember</a:t>
            </a:r>
          </a:p>
        </p:txBody>
      </p:sp>
      <p:sp>
        <p:nvSpPr>
          <p:cNvPr id="29" name="">
            <a:extLst xmlns:a="http://schemas.openxmlformats.org/drawingml/2006/main">
              <a:ext uri="{FF2B5EF4-FFF2-40B4-BE49-F238E27FC236}">
                <a16:creationId xmlns:a16="http://schemas.microsoft.com/office/drawing/2014/main" id="{B775333F-DD63-4266-8989-D5579E0EDC01}"/>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30" name="">
            <a:extLst xmlns:a="http://schemas.openxmlformats.org/drawingml/2006/main">
              <a:ext uri="{FF2B5EF4-FFF2-40B4-BE49-F238E27FC236}">
                <a16:creationId xmlns:a16="http://schemas.microsoft.com/office/drawing/2014/main" id="{0D6C57EC-9544-4B37-92E8-5B2D53060970}"/>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1" name="">
            <a:extLst xmlns:a="http://schemas.openxmlformats.org/drawingml/2006/main">
              <a:ext uri="{FF2B5EF4-FFF2-40B4-BE49-F238E27FC236}">
                <a16:creationId xmlns:a16="http://schemas.microsoft.com/office/drawing/2014/main" id="{39C2759E-3BF5-45A0-9848-CAAA1F80521A}"/>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D96C5F"/>
                </a:solidFill>
                <a:latin typeface="Aptos"/>
                <a:ea typeface="Aptos"/>
                <a:cs typeface="Aptos"/>
              </a:defRPr>
            </a:pPr>
            <a:r>
              <a:rPr sz="1275" b="1">
                <a:solidFill>
                  <a:srgbClr val="D96C5F"/>
                </a:solidFill>
                <a:latin typeface="Aptos"/>
                <a:ea typeface="Aptos"/>
                <a:cs typeface="Aptos"/>
              </a:rPr>
              <a:t>Yield</a:t>
            </a:r>
          </a:p>
        </p:txBody>
      </p:sp>
      <p:sp>
        <p:nvSpPr>
          <p:cNvPr id="32" name="">
            <a:extLst xmlns:a="http://schemas.openxmlformats.org/drawingml/2006/main">
              <a:ext uri="{FF2B5EF4-FFF2-40B4-BE49-F238E27FC236}">
                <a16:creationId xmlns:a16="http://schemas.microsoft.com/office/drawing/2014/main" id="{ECF9BF8B-24DF-436F-B2EE-9386AC7AFB80}"/>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33" name="">
            <a:extLst xmlns:a="http://schemas.openxmlformats.org/drawingml/2006/main">
              <a:ext uri="{FF2B5EF4-FFF2-40B4-BE49-F238E27FC236}">
                <a16:creationId xmlns:a16="http://schemas.microsoft.com/office/drawing/2014/main" id="{7ECCC502-B868-409A-BF14-9DAF10A873FD}"/>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34" name="">
            <a:extLst xmlns:a="http://schemas.openxmlformats.org/drawingml/2006/main">
              <a:ext uri="{FF2B5EF4-FFF2-40B4-BE49-F238E27FC236}">
                <a16:creationId xmlns:a16="http://schemas.microsoft.com/office/drawing/2014/main" id="{38B445D2-8CA2-4CC0-8FBA-43ECA9E0D1CD}"/>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268C82"/>
                </a:solidFill>
                <a:latin typeface="Aptos"/>
                <a:ea typeface="Aptos"/>
                <a:cs typeface="Aptos"/>
              </a:defRPr>
            </a:pPr>
            <a:r>
              <a:rPr sz="1275" b="1">
                <a:solidFill>
                  <a:srgbClr val="268C82"/>
                </a:solidFill>
                <a:latin typeface="Aptos"/>
                <a:ea typeface="Aptos"/>
                <a:cs typeface="Aptos"/>
              </a:rPr>
              <a:t>Act</a:t>
            </a:r>
          </a:p>
        </p:txBody>
      </p:sp>
      <p:sp>
        <p:nvSpPr>
          <p:cNvPr id="35" name="">
            <a:extLst xmlns:a="http://schemas.openxmlformats.org/drawingml/2006/main">
              <a:ext uri="{FF2B5EF4-FFF2-40B4-BE49-F238E27FC236}">
                <a16:creationId xmlns:a16="http://schemas.microsoft.com/office/drawing/2014/main" id="{43A07D5B-DBFA-45B0-B7FB-BB326B14D1F8}"/>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
        <p:nvSpPr>
          <p:cNvPr id="36" name="">
            <a:extLst xmlns:a="http://schemas.openxmlformats.org/drawingml/2006/main">
              <a:ext uri="{FF2B5EF4-FFF2-40B4-BE49-F238E27FC236}">
                <a16:creationId xmlns:a16="http://schemas.microsoft.com/office/drawing/2014/main" id="{D789C2A1-D0A0-4376-ACB2-42D8B2FF89F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Tree>
    <p:extLst>
      <p:ext uri="{BB962C8B-B14F-4D97-AF65-F5344CB8AC3E}">
        <p14:creationId xmlns:p14="http://schemas.microsoft.com/office/powerpoint/2010/main" val="1437716408"/>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682fe82726e6434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A42737B-633C-4961-87CB-92A2552D3E9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ECC2AE3-9757-4813-9551-3B01C563587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7B331BAA-D33F-445F-9259-AA437A10EB7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E84AA31-2907-4B8F-AA5E-F607AE5C39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F52A2569-A11A-40A2-AD5F-1B320F841C1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F50E24B-790E-45AF-83BF-D229B0182B81}"/>
              </a:ext>
            </a:extLst>
          </p:cNvPr>
          <p:cNvSpPr>
            <a:spLocks xmlns:a="http://schemas.openxmlformats.org/drawingml/2006/main" noGrp="1"/>
          </p:cNvSpPr>
          <p:nvPr/>
        </p:nvSpPr>
        <p:spPr>
          <a:xfrm xmlns:a="http://schemas.openxmlformats.org/drawingml/2006/main">
            <a:off x="876300" y="1885950"/>
            <a:ext cx="17716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TERM</a:t>
            </a:r>
          </a:p>
        </p:txBody>
      </p:sp>
      <p:sp>
        <p:nvSpPr>
          <p:cNvPr id="8" name="">
            <a:extLst xmlns:a="http://schemas.openxmlformats.org/drawingml/2006/main">
              <a:ext uri="{FF2B5EF4-FFF2-40B4-BE49-F238E27FC236}">
                <a16:creationId xmlns:a16="http://schemas.microsoft.com/office/drawing/2014/main" id="{A527C865-5005-42F0-BA9A-AEEE85C8A426}"/>
              </a:ext>
            </a:extLst>
          </p:cNvPr>
          <p:cNvSpPr>
            <a:spLocks xmlns:a="http://schemas.openxmlformats.org/drawingml/2006/main" noGrp="1"/>
          </p:cNvSpPr>
          <p:nvPr/>
        </p:nvSpPr>
        <p:spPr>
          <a:xfrm xmlns:a="http://schemas.openxmlformats.org/drawingml/2006/main">
            <a:off x="2895600" y="1885950"/>
            <a:ext cx="2857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WHAT IT LITERALLY MEANS</a:t>
            </a:r>
          </a:p>
        </p:txBody>
      </p:sp>
      <p:sp>
        <p:nvSpPr>
          <p:cNvPr id="9" name="">
            <a:extLst xmlns:a="http://schemas.openxmlformats.org/drawingml/2006/main">
              <a:ext uri="{FF2B5EF4-FFF2-40B4-BE49-F238E27FC236}">
                <a16:creationId xmlns:a16="http://schemas.microsoft.com/office/drawing/2014/main" id="{CBC1CB40-0351-47B4-8472-6159F6B0EC6C}"/>
              </a:ext>
            </a:extLst>
          </p:cNvPr>
          <p:cNvSpPr>
            <a:spLocks xmlns:a="http://schemas.openxmlformats.org/drawingml/2006/main" noGrp="1"/>
          </p:cNvSpPr>
          <p:nvPr/>
        </p:nvSpPr>
        <p:spPr>
          <a:xfrm xmlns:a="http://schemas.openxmlformats.org/drawingml/2006/main">
            <a:off x="6057900" y="1885950"/>
            <a:ext cx="42291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750" b="1">
                <a:solidFill>
                  <a:srgbClr val="288DC1"/>
                </a:solidFill>
                <a:latin typeface="Aptos"/>
                <a:ea typeface="Aptos"/>
                <a:cs typeface="Aptos"/>
              </a:defRPr>
            </a:pPr>
            <a:r>
              <a:rPr sz="750" b="1">
                <a:solidFill>
                  <a:srgbClr val="288DC1"/>
                </a:solidFill>
                <a:latin typeface="Aptos"/>
                <a:ea typeface="Aptos"/>
                <a:cs typeface="Aptos"/>
              </a:rPr>
              <a:t>IN A CONVERSATION</a:t>
            </a:r>
          </a:p>
        </p:txBody>
      </p:sp>
      <p:sp>
        <p:nvSpPr>
          <p:cNvPr id="10" name="">
            <a:extLst xmlns:a="http://schemas.openxmlformats.org/drawingml/2006/main">
              <a:ext uri="{FF2B5EF4-FFF2-40B4-BE49-F238E27FC236}">
                <a16:creationId xmlns:a16="http://schemas.microsoft.com/office/drawing/2014/main" id="{19F18F94-F358-41FC-B00B-65902D3F4674}"/>
              </a:ext>
            </a:extLst>
          </p:cNvPr>
          <p:cNvSpPr>
            <a:spLocks xmlns:a="http://schemas.openxmlformats.org/drawingml/2006/main" noGrp="1"/>
          </p:cNvSpPr>
          <p:nvPr/>
        </p:nvSpPr>
        <p:spPr>
          <a:xfrm xmlns:a="http://schemas.openxmlformats.org/drawingml/2006/main">
            <a:off x="876300" y="21145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VAD</a:t>
            </a:r>
          </a:p>
        </p:txBody>
      </p:sp>
      <p:sp>
        <p:nvSpPr>
          <p:cNvPr id="11" name="">
            <a:extLst xmlns:a="http://schemas.openxmlformats.org/drawingml/2006/main">
              <a:ext uri="{FF2B5EF4-FFF2-40B4-BE49-F238E27FC236}">
                <a16:creationId xmlns:a16="http://schemas.microsoft.com/office/drawing/2014/main" id="{01DF308B-B8BB-44F5-BC4D-651F9605E99F}"/>
              </a:ext>
            </a:extLst>
          </p:cNvPr>
          <p:cNvSpPr>
            <a:spLocks xmlns:a="http://schemas.openxmlformats.org/drawingml/2006/main" noGrp="1"/>
          </p:cNvSpPr>
          <p:nvPr/>
        </p:nvSpPr>
        <p:spPr>
          <a:xfrm xmlns:a="http://schemas.openxmlformats.org/drawingml/2006/main">
            <a:off x="2895600" y="21145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Voice Activity Detection</a:t>
            </a:r>
          </a:p>
        </p:txBody>
      </p:sp>
      <p:sp>
        <p:nvSpPr>
          <p:cNvPr id="12" name="">
            <a:extLst xmlns:a="http://schemas.openxmlformats.org/drawingml/2006/main">
              <a:ext uri="{FF2B5EF4-FFF2-40B4-BE49-F238E27FC236}">
                <a16:creationId xmlns:a16="http://schemas.microsoft.com/office/drawing/2014/main" id="{69D8FF0C-BF66-4FD3-BE41-8F31490402FA}"/>
              </a:ext>
            </a:extLst>
          </p:cNvPr>
          <p:cNvSpPr>
            <a:spLocks xmlns:a="http://schemas.openxmlformats.org/drawingml/2006/main" noGrp="1"/>
          </p:cNvSpPr>
          <p:nvPr/>
        </p:nvSpPr>
        <p:spPr>
          <a:xfrm xmlns:a="http://schemas.openxmlformats.org/drawingml/2006/main">
            <a:off x="6057900" y="21145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Is someone speaking?</a:t>
            </a:r>
          </a:p>
        </p:txBody>
      </p:sp>
      <p:sp>
        <p:nvSpPr>
          <p:cNvPr id="13" name="">
            <a:extLst xmlns:a="http://schemas.openxmlformats.org/drawingml/2006/main">
              <a:ext uri="{FF2B5EF4-FFF2-40B4-BE49-F238E27FC236}">
                <a16:creationId xmlns:a16="http://schemas.microsoft.com/office/drawing/2014/main" id="{4535D5A9-8138-4406-A183-CCC113F9E4EA}"/>
              </a:ext>
            </a:extLst>
          </p:cNvPr>
          <p:cNvSpPr>
            <a:spLocks xmlns:a="http://schemas.openxmlformats.org/drawingml/2006/main" noGrp="1"/>
          </p:cNvSpPr>
          <p:nvPr/>
        </p:nvSpPr>
        <p:spPr>
          <a:xfrm xmlns:a="http://schemas.openxmlformats.org/drawingml/2006/main">
            <a:off x="876300" y="26098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ASR / STT</a:t>
            </a:r>
          </a:p>
        </p:txBody>
      </p:sp>
      <p:sp>
        <p:nvSpPr>
          <p:cNvPr id="14" name="">
            <a:extLst xmlns:a="http://schemas.openxmlformats.org/drawingml/2006/main">
              <a:ext uri="{FF2B5EF4-FFF2-40B4-BE49-F238E27FC236}">
                <a16:creationId xmlns:a16="http://schemas.microsoft.com/office/drawing/2014/main" id="{B247EA78-B8BD-4D38-8773-388B1D52D4D2}"/>
              </a:ext>
            </a:extLst>
          </p:cNvPr>
          <p:cNvSpPr>
            <a:spLocks xmlns:a="http://schemas.openxmlformats.org/drawingml/2006/main" noGrp="1"/>
          </p:cNvSpPr>
          <p:nvPr/>
        </p:nvSpPr>
        <p:spPr>
          <a:xfrm xmlns:a="http://schemas.openxmlformats.org/drawingml/2006/main">
            <a:off x="2895600" y="26098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9464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Automatic Speech Recognition / Speech-to-Text</a:t>
            </a:r>
          </a:p>
        </p:txBody>
      </p:sp>
      <p:sp>
        <p:nvSpPr>
          <p:cNvPr id="15" name="">
            <a:extLst xmlns:a="http://schemas.openxmlformats.org/drawingml/2006/main">
              <a:ext uri="{FF2B5EF4-FFF2-40B4-BE49-F238E27FC236}">
                <a16:creationId xmlns:a16="http://schemas.microsoft.com/office/drawing/2014/main" id="{5D500F2D-5963-4270-9939-65B217234B91}"/>
              </a:ext>
            </a:extLst>
          </p:cNvPr>
          <p:cNvSpPr>
            <a:spLocks xmlns:a="http://schemas.openxmlformats.org/drawingml/2006/main" noGrp="1"/>
          </p:cNvSpPr>
          <p:nvPr/>
        </p:nvSpPr>
        <p:spPr>
          <a:xfrm xmlns:a="http://schemas.openxmlformats.org/drawingml/2006/main">
            <a:off x="6057900" y="26098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What did they say?</a:t>
            </a:r>
          </a:p>
        </p:txBody>
      </p:sp>
      <p:sp>
        <p:nvSpPr>
          <p:cNvPr id="16" name="">
            <a:extLst xmlns:a="http://schemas.openxmlformats.org/drawingml/2006/main">
              <a:ext uri="{FF2B5EF4-FFF2-40B4-BE49-F238E27FC236}">
                <a16:creationId xmlns:a16="http://schemas.microsoft.com/office/drawing/2014/main" id="{D49DBE22-9824-4B91-BF6F-D885AF26AAEF}"/>
              </a:ext>
            </a:extLst>
          </p:cNvPr>
          <p:cNvSpPr>
            <a:spLocks xmlns:a="http://schemas.openxmlformats.org/drawingml/2006/main" noGrp="1"/>
          </p:cNvSpPr>
          <p:nvPr/>
        </p:nvSpPr>
        <p:spPr>
          <a:xfrm xmlns:a="http://schemas.openxmlformats.org/drawingml/2006/main">
            <a:off x="876300" y="31051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EOU</a:t>
            </a:r>
          </a:p>
        </p:txBody>
      </p:sp>
      <p:sp>
        <p:nvSpPr>
          <p:cNvPr id="17" name="">
            <a:extLst xmlns:a="http://schemas.openxmlformats.org/drawingml/2006/main">
              <a:ext uri="{FF2B5EF4-FFF2-40B4-BE49-F238E27FC236}">
                <a16:creationId xmlns:a16="http://schemas.microsoft.com/office/drawing/2014/main" id="{7921D8CB-69E8-40E0-8D97-88A487A92D92}"/>
              </a:ext>
            </a:extLst>
          </p:cNvPr>
          <p:cNvSpPr>
            <a:spLocks xmlns:a="http://schemas.openxmlformats.org/drawingml/2006/main" noGrp="1"/>
          </p:cNvSpPr>
          <p:nvPr/>
        </p:nvSpPr>
        <p:spPr>
          <a:xfrm xmlns:a="http://schemas.openxmlformats.org/drawingml/2006/main">
            <a:off x="2895600" y="31051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End of Utterance / endpointing</a:t>
            </a:r>
          </a:p>
        </p:txBody>
      </p:sp>
      <p:sp>
        <p:nvSpPr>
          <p:cNvPr id="18" name="">
            <a:extLst xmlns:a="http://schemas.openxmlformats.org/drawingml/2006/main">
              <a:ext uri="{FF2B5EF4-FFF2-40B4-BE49-F238E27FC236}">
                <a16:creationId xmlns:a16="http://schemas.microsoft.com/office/drawing/2014/main" id="{518CC763-A0BB-43DF-82A3-BB1143EA3FD7}"/>
              </a:ext>
            </a:extLst>
          </p:cNvPr>
          <p:cNvSpPr>
            <a:spLocks xmlns:a="http://schemas.openxmlformats.org/drawingml/2006/main" noGrp="1"/>
          </p:cNvSpPr>
          <p:nvPr/>
        </p:nvSpPr>
        <p:spPr>
          <a:xfrm xmlns:a="http://schemas.openxmlformats.org/drawingml/2006/main">
            <a:off x="6057900" y="31051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Are they finished?</a:t>
            </a:r>
          </a:p>
        </p:txBody>
      </p:sp>
      <p:sp>
        <p:nvSpPr>
          <p:cNvPr id="19" name="">
            <a:extLst xmlns:a="http://schemas.openxmlformats.org/drawingml/2006/main">
              <a:ext uri="{FF2B5EF4-FFF2-40B4-BE49-F238E27FC236}">
                <a16:creationId xmlns:a16="http://schemas.microsoft.com/office/drawing/2014/main" id="{36D28DF7-CFC2-4B9C-86F8-A67A18A0F500}"/>
              </a:ext>
            </a:extLst>
          </p:cNvPr>
          <p:cNvSpPr>
            <a:spLocks xmlns:a="http://schemas.openxmlformats.org/drawingml/2006/main" noGrp="1"/>
          </p:cNvSpPr>
          <p:nvPr/>
        </p:nvSpPr>
        <p:spPr>
          <a:xfrm xmlns:a="http://schemas.openxmlformats.org/drawingml/2006/main">
            <a:off x="876300" y="36004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LLM TTFT</a:t>
            </a:r>
          </a:p>
        </p:txBody>
      </p:sp>
      <p:sp>
        <p:nvSpPr>
          <p:cNvPr id="20" name="">
            <a:extLst xmlns:a="http://schemas.openxmlformats.org/drawingml/2006/main">
              <a:ext uri="{FF2B5EF4-FFF2-40B4-BE49-F238E27FC236}">
                <a16:creationId xmlns:a16="http://schemas.microsoft.com/office/drawing/2014/main" id="{1B6CBF96-3676-4F94-BEE3-75C18D9FB9DA}"/>
              </a:ext>
            </a:extLst>
          </p:cNvPr>
          <p:cNvSpPr>
            <a:spLocks xmlns:a="http://schemas.openxmlformats.org/drawingml/2006/main" noGrp="1"/>
          </p:cNvSpPr>
          <p:nvPr/>
        </p:nvSpPr>
        <p:spPr>
          <a:xfrm xmlns:a="http://schemas.openxmlformats.org/drawingml/2006/main">
            <a:off x="2895600" y="36004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Large-language-model time to first token</a:t>
            </a:r>
          </a:p>
        </p:txBody>
      </p:sp>
      <p:sp>
        <p:nvSpPr>
          <p:cNvPr id="21" name="">
            <a:extLst xmlns:a="http://schemas.openxmlformats.org/drawingml/2006/main">
              <a:ext uri="{FF2B5EF4-FFF2-40B4-BE49-F238E27FC236}">
                <a16:creationId xmlns:a16="http://schemas.microsoft.com/office/drawing/2014/main" id="{6E3EFBF9-C554-4CE6-98A7-B9FCD532F328}"/>
              </a:ext>
            </a:extLst>
          </p:cNvPr>
          <p:cNvSpPr>
            <a:spLocks xmlns:a="http://schemas.openxmlformats.org/drawingml/2006/main" noGrp="1"/>
          </p:cNvSpPr>
          <p:nvPr/>
        </p:nvSpPr>
        <p:spPr>
          <a:xfrm xmlns:a="http://schemas.openxmlformats.org/drawingml/2006/main">
            <a:off x="6057900" y="36004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does thinking begin?</a:t>
            </a:r>
          </a:p>
        </p:txBody>
      </p:sp>
      <p:sp>
        <p:nvSpPr>
          <p:cNvPr id="22" name="">
            <a:extLst xmlns:a="http://schemas.openxmlformats.org/drawingml/2006/main">
              <a:ext uri="{FF2B5EF4-FFF2-40B4-BE49-F238E27FC236}">
                <a16:creationId xmlns:a16="http://schemas.microsoft.com/office/drawing/2014/main" id="{0FFB2058-6818-4C87-811C-9C81EFEB2D80}"/>
              </a:ext>
            </a:extLst>
          </p:cNvPr>
          <p:cNvSpPr>
            <a:spLocks xmlns:a="http://schemas.openxmlformats.org/drawingml/2006/main" noGrp="1"/>
          </p:cNvSpPr>
          <p:nvPr/>
        </p:nvSpPr>
        <p:spPr>
          <a:xfrm xmlns:a="http://schemas.openxmlformats.org/drawingml/2006/main">
            <a:off x="876300" y="40957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TTS TTFB</a:t>
            </a:r>
          </a:p>
        </p:txBody>
      </p:sp>
      <p:sp>
        <p:nvSpPr>
          <p:cNvPr id="23" name="">
            <a:extLst xmlns:a="http://schemas.openxmlformats.org/drawingml/2006/main">
              <a:ext uri="{FF2B5EF4-FFF2-40B4-BE49-F238E27FC236}">
                <a16:creationId xmlns:a16="http://schemas.microsoft.com/office/drawing/2014/main" id="{F5DFFD08-54B2-4EE4-A4FB-1BF4D0C0CB8D}"/>
              </a:ext>
            </a:extLst>
          </p:cNvPr>
          <p:cNvSpPr>
            <a:spLocks xmlns:a="http://schemas.openxmlformats.org/drawingml/2006/main" noGrp="1"/>
          </p:cNvSpPr>
          <p:nvPr/>
        </p:nvSpPr>
        <p:spPr>
          <a:xfrm xmlns:a="http://schemas.openxmlformats.org/drawingml/2006/main">
            <a:off x="2895600" y="40957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Text-to-speech time to first byte</a:t>
            </a:r>
          </a:p>
        </p:txBody>
      </p:sp>
      <p:sp>
        <p:nvSpPr>
          <p:cNvPr id="24" name="">
            <a:extLst xmlns:a="http://schemas.openxmlformats.org/drawingml/2006/main">
              <a:ext uri="{FF2B5EF4-FFF2-40B4-BE49-F238E27FC236}">
                <a16:creationId xmlns:a16="http://schemas.microsoft.com/office/drawing/2014/main" id="{65B44EE3-4534-4886-9D08-F9A70DFB606B}"/>
              </a:ext>
            </a:extLst>
          </p:cNvPr>
          <p:cNvSpPr>
            <a:spLocks xmlns:a="http://schemas.openxmlformats.org/drawingml/2006/main" noGrp="1"/>
          </p:cNvSpPr>
          <p:nvPr/>
        </p:nvSpPr>
        <p:spPr>
          <a:xfrm xmlns:a="http://schemas.openxmlformats.org/drawingml/2006/main">
            <a:off x="6057900" y="40957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When can speech begin?</a:t>
            </a:r>
          </a:p>
        </p:txBody>
      </p:sp>
      <p:sp>
        <p:nvSpPr>
          <p:cNvPr id="25" name="">
            <a:extLst xmlns:a="http://schemas.openxmlformats.org/drawingml/2006/main">
              <a:ext uri="{FF2B5EF4-FFF2-40B4-BE49-F238E27FC236}">
                <a16:creationId xmlns:a16="http://schemas.microsoft.com/office/drawing/2014/main" id="{9AE512CA-9B45-422C-B879-E880CD76089C}"/>
              </a:ext>
            </a:extLst>
          </p:cNvPr>
          <p:cNvSpPr>
            <a:spLocks xmlns:a="http://schemas.openxmlformats.org/drawingml/2006/main" noGrp="1"/>
          </p:cNvSpPr>
          <p:nvPr/>
        </p:nvSpPr>
        <p:spPr>
          <a:xfrm xmlns:a="http://schemas.openxmlformats.org/drawingml/2006/main">
            <a:off x="876300" y="4591050"/>
            <a:ext cx="1771650" cy="3810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Barge-in</a:t>
            </a:r>
          </a:p>
        </p:txBody>
      </p:sp>
      <p:sp>
        <p:nvSpPr>
          <p:cNvPr id="26" name="">
            <a:extLst xmlns:a="http://schemas.openxmlformats.org/drawingml/2006/main">
              <a:ext uri="{FF2B5EF4-FFF2-40B4-BE49-F238E27FC236}">
                <a16:creationId xmlns:a16="http://schemas.microsoft.com/office/drawing/2014/main" id="{C3D89B92-EC01-4BB2-BC9C-452C51CCF31A}"/>
              </a:ext>
            </a:extLst>
          </p:cNvPr>
          <p:cNvSpPr>
            <a:spLocks xmlns:a="http://schemas.openxmlformats.org/drawingml/2006/main" noGrp="1"/>
          </p:cNvSpPr>
          <p:nvPr/>
        </p:nvSpPr>
        <p:spPr>
          <a:xfrm xmlns:a="http://schemas.openxmlformats.org/drawingml/2006/main">
            <a:off x="2895600" y="45910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Interruption detection and recovery</a:t>
            </a:r>
          </a:p>
        </p:txBody>
      </p:sp>
      <p:sp>
        <p:nvSpPr>
          <p:cNvPr id="27" name="">
            <a:extLst xmlns:a="http://schemas.openxmlformats.org/drawingml/2006/main">
              <a:ext uri="{FF2B5EF4-FFF2-40B4-BE49-F238E27FC236}">
                <a16:creationId xmlns:a16="http://schemas.microsoft.com/office/drawing/2014/main" id="{18951E15-4336-4C40-8C2D-AC6B9E26E7B4}"/>
              </a:ext>
            </a:extLst>
          </p:cNvPr>
          <p:cNvSpPr>
            <a:spLocks xmlns:a="http://schemas.openxmlformats.org/drawingml/2006/main" noGrp="1"/>
          </p:cNvSpPr>
          <p:nvPr/>
        </p:nvSpPr>
        <p:spPr>
          <a:xfrm xmlns:a="http://schemas.openxmlformats.org/drawingml/2006/main">
            <a:off x="6057900" y="45910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the caller take the floor?</a:t>
            </a:r>
          </a:p>
        </p:txBody>
      </p:sp>
      <p:sp>
        <p:nvSpPr>
          <p:cNvPr id="28" name="">
            <a:extLst xmlns:a="http://schemas.openxmlformats.org/drawingml/2006/main">
              <a:ext uri="{FF2B5EF4-FFF2-40B4-BE49-F238E27FC236}">
                <a16:creationId xmlns:a16="http://schemas.microsoft.com/office/drawing/2014/main" id="{EFFB7613-4016-401C-B754-3A66830C81D7}"/>
              </a:ext>
            </a:extLst>
          </p:cNvPr>
          <p:cNvSpPr>
            <a:spLocks xmlns:a="http://schemas.openxmlformats.org/drawingml/2006/main" noGrp="1"/>
          </p:cNvSpPr>
          <p:nvPr/>
        </p:nvSpPr>
        <p:spPr>
          <a:xfrm xmlns:a="http://schemas.openxmlformats.org/drawingml/2006/main">
            <a:off x="876300" y="5086350"/>
            <a:ext cx="1771650" cy="3810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RTF</a:t>
            </a:r>
          </a:p>
        </p:txBody>
      </p:sp>
      <p:sp>
        <p:nvSpPr>
          <p:cNvPr id="29" name="">
            <a:extLst xmlns:a="http://schemas.openxmlformats.org/drawingml/2006/main">
              <a:ext uri="{FF2B5EF4-FFF2-40B4-BE49-F238E27FC236}">
                <a16:creationId xmlns:a16="http://schemas.microsoft.com/office/drawing/2014/main" id="{58A565C8-D095-4416-AC13-18F3931B9987}"/>
              </a:ext>
            </a:extLst>
          </p:cNvPr>
          <p:cNvSpPr>
            <a:spLocks xmlns:a="http://schemas.openxmlformats.org/drawingml/2006/main" noGrp="1"/>
          </p:cNvSpPr>
          <p:nvPr/>
        </p:nvSpPr>
        <p:spPr>
          <a:xfrm xmlns:a="http://schemas.openxmlformats.org/drawingml/2006/main">
            <a:off x="2895600" y="5086350"/>
            <a:ext cx="2857500" cy="381000"/>
          </a:xfrm>
          <a:prstGeom xmlns:a="http://schemas.openxmlformats.org/drawingml/2006/main" prst="roundRect">
            <a:avLst>
              <a:gd name="adj" fmla="val 35000"/>
            </a:avLst>
          </a:prstGeom>
          <a:solidFill xmlns:a="http://schemas.openxmlformats.org/drawingml/2006/main">
            <a:srgbClr val="FFFFFF">
              <a:alpha val="60000"/>
            </a:srgbClr>
          </a:solidFill>
          <a:ln xmlns:a="http://schemas.openxmlformats.org/drawingml/2006/main" w="9525">
            <a:solidFill>
              <a:srgbClr val="8EBBD0"/>
            </a:solidFill>
            <a:prstDash val="solid"/>
          </a:ln>
        </p:spPr>
        <p:txBody>
          <a:bodyPr xmlns:a="http://schemas.openxmlformats.org/drawingml/2006/main" lIns="133350" tIns="0" rIns="95250" bIns="0" anchor="ctr">
            <a:normAutofit fontScale="100000"/>
          </a:bodyPr>
          <a:lstStyle xmlns:a="http://schemas.openxmlformats.org/drawingml/2006/main"/>
          <a:p xmlns:a="http://schemas.openxmlformats.org/drawingml/2006/main">
            <a:pPr algn="l">
              <a:defRPr sz="1050" b="0">
                <a:solidFill>
                  <a:srgbClr val="102A43"/>
                </a:solidFill>
                <a:latin typeface="Aptos"/>
                <a:ea typeface="Aptos"/>
                <a:cs typeface="Aptos"/>
              </a:defRPr>
            </a:pPr>
            <a:r>
              <a:rPr sz="1050" b="0">
                <a:solidFill>
                  <a:srgbClr val="102A43"/>
                </a:solidFill>
                <a:latin typeface="Aptos"/>
                <a:ea typeface="Aptos"/>
                <a:cs typeface="Aptos"/>
              </a:rPr>
              <a:t>Real-time factor</a:t>
            </a:r>
          </a:p>
        </p:txBody>
      </p:sp>
      <p:sp>
        <p:nvSpPr>
          <p:cNvPr id="30" name="">
            <a:extLst xmlns:a="http://schemas.openxmlformats.org/drawingml/2006/main">
              <a:ext uri="{FF2B5EF4-FFF2-40B4-BE49-F238E27FC236}">
                <a16:creationId xmlns:a16="http://schemas.microsoft.com/office/drawing/2014/main" id="{FAE6F969-1A6D-48F2-8F15-ADCF0F439231}"/>
              </a:ext>
            </a:extLst>
          </p:cNvPr>
          <p:cNvSpPr>
            <a:spLocks xmlns:a="http://schemas.openxmlformats.org/drawingml/2006/main" noGrp="1"/>
          </p:cNvSpPr>
          <p:nvPr/>
        </p:nvSpPr>
        <p:spPr>
          <a:xfrm xmlns:a="http://schemas.openxmlformats.org/drawingml/2006/main">
            <a:off x="6057900" y="5086350"/>
            <a:ext cx="4229100" cy="381000"/>
          </a:xfrm>
          <a:prstGeom xmlns:a="http://schemas.openxmlformats.org/drawingml/2006/main" prst="roundRect">
            <a:avLst>
              <a:gd name="adj" fmla="val 35000"/>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9525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Can inference keep up with speech?</a:t>
            </a:r>
          </a:p>
        </p:txBody>
      </p:sp>
      <p:sp>
        <p:nvSpPr>
          <p:cNvPr id="31" name="">
            <a:extLst xmlns:a="http://schemas.openxmlformats.org/drawingml/2006/main">
              <a:ext uri="{FF2B5EF4-FFF2-40B4-BE49-F238E27FC236}">
                <a16:creationId xmlns:a16="http://schemas.microsoft.com/office/drawing/2014/main" id="{8342B56C-B4C9-439E-868B-2E27A7F4288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2070749279"/>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ec171f0cd0f471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9A48B91-0AC0-4E21-BBB1-2B5B5B8C3FF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057E15F-B3EA-498B-A3AB-536CDED08F5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132F58A8-FDC8-46CE-93C8-65686F3DEC0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30D9DA2-5092-4BE4-9D90-AC4BFBD5067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23542A2D-8A6A-4C60-8EB8-15C8FCAFA09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EDE2877-1344-49CE-9B68-3B3D4CE965CD}"/>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FFE41F4F-2096-495C-8757-7C604D241066}"/>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1D3F73C2-0B5D-448C-AA3A-EF16BC291744}"/>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5EF2228E-DEFE-4B17-9B08-7DD363719C44}"/>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4189B0E0-92E5-4ABC-9566-ABB71CBD41DA}"/>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C64CE29E-F5E5-4485-8E51-416A800F3EB6}"/>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224E9941-4C03-4CA2-B708-9C58A8E4922D}"/>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DC46E12D-771A-4BE9-AF93-E08E576EA43B}"/>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F2848DB6-6BD7-4DBF-B5AC-F68D0DDE858B}"/>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4F558D6E-8670-4DE7-9710-8CA3589DF56A}"/>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83CF5841-785B-4F2A-A4AD-35DC29FD780B}"/>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BC51B8E-6A1A-444C-AC5C-91E79A72FE35}"/>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D458AA3C-1C77-4BC9-9292-8454CB246D5A}"/>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967E16A-C136-45D5-B1E3-29C6E30E4C99}"/>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1F0944F-5817-4F7D-B98F-ED0257A2C281}"/>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C78D89CF-0556-48CD-B98B-75421E0A3E24}"/>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47600ECF-D00B-40E6-A7C4-719BAAD4C5E4}"/>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22B194B3-0373-4D62-B7FC-59F256A8EEF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E75C5D6-FEC5-441D-8077-BC25B3BE0C19}"/>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4C0CE5A2-1B30-4CAE-9375-94B41FB66CE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405082733"/>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729c0b59ef474a1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2441A18-E51E-47BF-B059-6F8A900D4AD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0A0FE2D-0A33-4870-9ABA-5599435E395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DFE169BF-42F2-4E4F-BDCE-F50F9942045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B637EEF-AB88-4543-A78E-E115223CDF9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B421F49-7732-484C-9575-D719A59AE53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F2E6094-F775-4A86-B698-F428ED6A27FE}"/>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3324E9D0-E2DE-4A07-A324-7A9941BE3307}"/>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AECB3A6E-B06E-48AA-B9B0-F713B6CF7969}"/>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6F3250B4-DE59-4FC7-8C97-B9794BE33452}"/>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8F72C828-D89B-4E13-9A70-6DF352266866}"/>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FBC038D0-221A-440A-815B-17A204180776}"/>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EE63A4AF-43D6-4B67-AE8F-7FF7964B8783}"/>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2D3AAEA2-47B5-4334-B0B5-466FAE508692}"/>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BDF7E127-3402-4A34-B9B8-6DD6EC5EEBFD}"/>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99D2CCB9-1954-46DF-86EB-27C9278E8A74}"/>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CB9752E1-E737-476D-BAAD-B4F2E2AAD100}"/>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F36161EA-3248-4933-B465-55E48C85BD59}"/>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01927BAF-6F8A-4B46-BEF2-5B95DF5E7460}"/>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F96784D4-F0A0-4220-B52E-7DFBA18F799E}"/>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D665C191-8812-4E53-A2EE-D6B7A61BCFF4}"/>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7E82A335-FFC2-4164-869E-2196DA1B331C}"/>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799A4CB7-6703-4307-9DA3-FAEEBAABEAFA}"/>
              </a:ext>
            </a:extLst>
          </p:cNvPr>
          <p:cNvSpPr>
            <a:spLocks xmlns:a="http://schemas.openxmlformats.org/drawingml/2006/main" noGrp="1"/>
          </p:cNvSpPr>
          <p:nvPr/>
        </p:nvSpPr>
        <p:spPr>
          <a:xfrm xmlns:a="http://schemas.openxmlformats.org/drawingml/2006/main">
            <a:off x="10096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enough</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silence to hand off</a:t>
            </a:r>
          </a:p>
        </p:txBody>
      </p:sp>
      <p:sp>
        <p:nvSpPr>
          <p:cNvPr id="24" name="">
            <a:extLst xmlns:a="http://schemas.openxmlformats.org/drawingml/2006/main">
              <a:ext uri="{FF2B5EF4-FFF2-40B4-BE49-F238E27FC236}">
                <a16:creationId xmlns:a16="http://schemas.microsoft.com/office/drawing/2014/main" id="{122E6BD6-CF5F-41B9-99FF-3CEDA03A4F89}"/>
              </a:ext>
            </a:extLst>
          </p:cNvPr>
          <p:cNvSpPr>
            <a:spLocks xmlns:a="http://schemas.openxmlformats.org/drawingml/2006/main" noGrp="1"/>
          </p:cNvSpPr>
          <p:nvPr/>
        </p:nvSpPr>
        <p:spPr>
          <a:xfrm xmlns:a="http://schemas.openxmlformats.org/drawingml/2006/main">
            <a:off x="37338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stable intent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verified facts</a:t>
            </a:r>
          </a:p>
        </p:txBody>
      </p:sp>
      <p:sp>
        <p:nvSpPr>
          <p:cNvPr id="25" name="">
            <a:extLst xmlns:a="http://schemas.openxmlformats.org/drawingml/2006/main">
              <a:ext uri="{FF2B5EF4-FFF2-40B4-BE49-F238E27FC236}">
                <a16:creationId xmlns:a16="http://schemas.microsoft.com/office/drawing/2014/main" id="{C4A95B20-C2F4-49B2-B2D6-18E8129BB8CF}"/>
              </a:ext>
            </a:extLst>
          </p:cNvPr>
          <p:cNvSpPr>
            <a:spLocks xmlns:a="http://schemas.openxmlformats.org/drawingml/2006/main" noGrp="1"/>
          </p:cNvSpPr>
          <p:nvPr/>
        </p:nvSpPr>
        <p:spPr>
          <a:xfrm xmlns:a="http://schemas.openxmlformats.org/drawingml/2006/main">
            <a:off x="645795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a safe</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first clause</a:t>
            </a:r>
          </a:p>
        </p:txBody>
      </p:sp>
      <p:sp>
        <p:nvSpPr>
          <p:cNvPr id="26" name="">
            <a:extLst xmlns:a="http://schemas.openxmlformats.org/drawingml/2006/main">
              <a:ext uri="{FF2B5EF4-FFF2-40B4-BE49-F238E27FC236}">
                <a16:creationId xmlns:a16="http://schemas.microsoft.com/office/drawing/2014/main" id="{00908654-2A91-4ED1-B69E-4451316196EB}"/>
              </a:ext>
            </a:extLst>
          </p:cNvPr>
          <p:cNvSpPr>
            <a:spLocks xmlns:a="http://schemas.openxmlformats.org/drawingml/2006/main" noGrp="1"/>
          </p:cNvSpPr>
          <p:nvPr/>
        </p:nvSpPr>
        <p:spPr>
          <a:xfrm xmlns:a="http://schemas.openxmlformats.org/drawingml/2006/main">
            <a:off x="9182100" y="3200400"/>
            <a:ext cx="1809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transport</a:t>
            </a:r>
          </a:p>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and device buffer</a:t>
            </a:r>
          </a:p>
        </p:txBody>
      </p:sp>
      <p:sp>
        <p:nvSpPr>
          <p:cNvPr id="27" name="">
            <a:extLst xmlns:a="http://schemas.openxmlformats.org/drawingml/2006/main">
              <a:ext uri="{FF2B5EF4-FFF2-40B4-BE49-F238E27FC236}">
                <a16:creationId xmlns:a16="http://schemas.microsoft.com/office/drawing/2014/main" id="{0F51989D-441F-4C7A-A252-57DE22B77A2A}"/>
              </a:ext>
            </a:extLst>
          </p:cNvPr>
          <p:cNvSpPr>
            <a:spLocks xmlns:a="http://schemas.openxmlformats.org/drawingml/2006/main" noGrp="1"/>
          </p:cNvSpPr>
          <p:nvPr/>
        </p:nvSpPr>
        <p:spPr>
          <a:xfrm xmlns:a="http://schemas.openxmlformats.org/drawingml/2006/main">
            <a:off x="1524000" y="4552950"/>
            <a:ext cx="914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1">
                <a:solidFill>
                  <a:srgbClr val="D96C5F"/>
                </a:solidFill>
                <a:latin typeface="Aptos"/>
                <a:ea typeface="Aptos"/>
                <a:cs typeface="Aptos"/>
              </a:defRPr>
            </a:pPr>
            <a:r>
              <a:rPr sz="825" b="1">
                <a:solidFill>
                  <a:srgbClr val="D96C5F"/>
                </a:solidFill>
                <a:latin typeface="Aptos"/>
                <a:ea typeface="Aptos"/>
                <a:cs typeface="Aptos"/>
              </a:rPr>
              <a:t>FAST MODELS LOSE AT THE HANDOFF</a:t>
            </a:r>
          </a:p>
        </p:txBody>
      </p:sp>
      <p:sp>
        <p:nvSpPr>
          <p:cNvPr id="28" name="">
            <a:extLst xmlns:a="http://schemas.openxmlformats.org/drawingml/2006/main">
              <a:ext uri="{FF2B5EF4-FFF2-40B4-BE49-F238E27FC236}">
                <a16:creationId xmlns:a16="http://schemas.microsoft.com/office/drawing/2014/main" id="{5DEAFDF8-92D8-43A6-9782-83D20F10CE12}"/>
              </a:ext>
            </a:extLst>
          </p:cNvPr>
          <p:cNvSpPr>
            <a:spLocks xmlns:a="http://schemas.openxmlformats.org/drawingml/2006/main" noGrp="1"/>
          </p:cNvSpPr>
          <p:nvPr/>
        </p:nvSpPr>
        <p:spPr>
          <a:xfrm xmlns:a="http://schemas.openxmlformats.org/drawingml/2006/main">
            <a:off x="1428750" y="4810125"/>
            <a:ext cx="933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7532"/>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Each component can be fast in isolation. The conversation waits until the next decision is safe to commit.</a:t>
            </a:r>
          </a:p>
        </p:txBody>
      </p:sp>
      <p:sp>
        <p:nvSpPr>
          <p:cNvPr id="29" name="">
            <a:extLst xmlns:a="http://schemas.openxmlformats.org/drawingml/2006/main">
              <a:ext uri="{FF2B5EF4-FFF2-40B4-BE49-F238E27FC236}">
                <a16:creationId xmlns:a16="http://schemas.microsoft.com/office/drawing/2014/main" id="{CA619E0C-A15F-4118-9AC8-D1850C9C81A3}"/>
              </a:ext>
            </a:extLst>
          </p:cNvPr>
          <p:cNvSpPr>
            <a:spLocks xmlns:a="http://schemas.openxmlformats.org/drawingml/2006/main" noGrp="1"/>
          </p:cNvSpPr>
          <p:nvPr/>
        </p:nvSpPr>
        <p:spPr>
          <a:xfrm xmlns:a="http://schemas.openxmlformats.org/drawingml/2006/main">
            <a:off x="15811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caller finished</a:t>
            </a:r>
          </a:p>
        </p:txBody>
      </p:sp>
      <p:sp>
        <p:nvSpPr>
          <p:cNvPr id="30" name="">
            <a:extLst xmlns:a="http://schemas.openxmlformats.org/drawingml/2006/main">
              <a:ext uri="{FF2B5EF4-FFF2-40B4-BE49-F238E27FC236}">
                <a16:creationId xmlns:a16="http://schemas.microsoft.com/office/drawing/2014/main" id="{4433A665-44FD-4C51-85CA-298ABCDE4C22}"/>
              </a:ext>
            </a:extLst>
          </p:cNvPr>
          <p:cNvSpPr>
            <a:spLocks xmlns:a="http://schemas.openxmlformats.org/drawingml/2006/main" noGrp="1"/>
          </p:cNvSpPr>
          <p:nvPr/>
        </p:nvSpPr>
        <p:spPr>
          <a:xfrm xmlns:a="http://schemas.openxmlformats.org/drawingml/2006/main">
            <a:off x="34480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1" name="">
            <a:extLst xmlns:a="http://schemas.openxmlformats.org/drawingml/2006/main">
              <a:ext uri="{FF2B5EF4-FFF2-40B4-BE49-F238E27FC236}">
                <a16:creationId xmlns:a16="http://schemas.microsoft.com/office/drawing/2014/main" id="{3966EF6D-7C64-41BF-81FA-C1423A724825}"/>
              </a:ext>
            </a:extLst>
          </p:cNvPr>
          <p:cNvSpPr>
            <a:spLocks xmlns:a="http://schemas.openxmlformats.org/drawingml/2006/main" noGrp="1"/>
          </p:cNvSpPr>
          <p:nvPr/>
        </p:nvSpPr>
        <p:spPr>
          <a:xfrm xmlns:a="http://schemas.openxmlformats.org/drawingml/2006/main">
            <a:off x="39243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meaning stable</a:t>
            </a:r>
          </a:p>
        </p:txBody>
      </p:sp>
      <p:sp>
        <p:nvSpPr>
          <p:cNvPr id="32" name="">
            <a:extLst xmlns:a="http://schemas.openxmlformats.org/drawingml/2006/main">
              <a:ext uri="{FF2B5EF4-FFF2-40B4-BE49-F238E27FC236}">
                <a16:creationId xmlns:a16="http://schemas.microsoft.com/office/drawing/2014/main" id="{9EA1E704-7ABD-4EEC-8882-DEC419786CA1}"/>
              </a:ext>
            </a:extLst>
          </p:cNvPr>
          <p:cNvSpPr>
            <a:spLocks xmlns:a="http://schemas.openxmlformats.org/drawingml/2006/main" noGrp="1"/>
          </p:cNvSpPr>
          <p:nvPr/>
        </p:nvSpPr>
        <p:spPr>
          <a:xfrm xmlns:a="http://schemas.openxmlformats.org/drawingml/2006/main">
            <a:off x="579120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3" name="">
            <a:extLst xmlns:a="http://schemas.openxmlformats.org/drawingml/2006/main">
              <a:ext uri="{FF2B5EF4-FFF2-40B4-BE49-F238E27FC236}">
                <a16:creationId xmlns:a16="http://schemas.microsoft.com/office/drawing/2014/main" id="{24D8F526-460B-4C9D-88B9-BDF490FDCFF4}"/>
              </a:ext>
            </a:extLst>
          </p:cNvPr>
          <p:cNvSpPr>
            <a:spLocks xmlns:a="http://schemas.openxmlformats.org/drawingml/2006/main" noGrp="1"/>
          </p:cNvSpPr>
          <p:nvPr/>
        </p:nvSpPr>
        <p:spPr>
          <a:xfrm xmlns:a="http://schemas.openxmlformats.org/drawingml/2006/main">
            <a:off x="626745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safe first clause</a:t>
            </a:r>
          </a:p>
        </p:txBody>
      </p:sp>
      <p:sp>
        <p:nvSpPr>
          <p:cNvPr id="34" name="">
            <a:extLst xmlns:a="http://schemas.openxmlformats.org/drawingml/2006/main">
              <a:ext uri="{FF2B5EF4-FFF2-40B4-BE49-F238E27FC236}">
                <a16:creationId xmlns:a16="http://schemas.microsoft.com/office/drawing/2014/main" id="{62279A3D-9CE1-4214-B38B-14CBFEF7A732}"/>
              </a:ext>
            </a:extLst>
          </p:cNvPr>
          <p:cNvSpPr>
            <a:spLocks xmlns:a="http://schemas.openxmlformats.org/drawingml/2006/main" noGrp="1"/>
          </p:cNvSpPr>
          <p:nvPr/>
        </p:nvSpPr>
        <p:spPr>
          <a:xfrm xmlns:a="http://schemas.openxmlformats.org/drawingml/2006/main">
            <a:off x="8134350" y="5238750"/>
            <a:ext cx="3238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725" b="1">
                <a:solidFill>
                  <a:srgbClr val="D96C5F"/>
                </a:solidFill>
                <a:latin typeface="Aptos"/>
                <a:ea typeface="Aptos"/>
                <a:cs typeface="Aptos"/>
              </a:defRPr>
            </a:pPr>
            <a:r>
              <a:rPr sz="1725" b="1">
                <a:solidFill>
                  <a:srgbClr val="D96C5F"/>
                </a:solidFill>
                <a:latin typeface="Aptos"/>
                <a:ea typeface="Aptos"/>
                <a:cs typeface="Aptos"/>
              </a:rPr>
              <a:t>→</a:t>
            </a:r>
          </a:p>
        </p:txBody>
      </p:sp>
      <p:sp>
        <p:nvSpPr>
          <p:cNvPr id="35" name="">
            <a:extLst xmlns:a="http://schemas.openxmlformats.org/drawingml/2006/main">
              <a:ext uri="{FF2B5EF4-FFF2-40B4-BE49-F238E27FC236}">
                <a16:creationId xmlns:a16="http://schemas.microsoft.com/office/drawing/2014/main" id="{A4781026-A491-4CBC-B008-DFDCE19510FC}"/>
              </a:ext>
            </a:extLst>
          </p:cNvPr>
          <p:cNvSpPr>
            <a:spLocks xmlns:a="http://schemas.openxmlformats.org/drawingml/2006/main" noGrp="1"/>
          </p:cNvSpPr>
          <p:nvPr/>
        </p:nvSpPr>
        <p:spPr>
          <a:xfrm xmlns:a="http://schemas.openxmlformats.org/drawingml/2006/main">
            <a:off x="8610600" y="5267325"/>
            <a:ext cx="1790700" cy="323850"/>
          </a:xfrm>
          <a:prstGeom xmlns:a="http://schemas.openxmlformats.org/drawingml/2006/main" prst="roundRect">
            <a:avLst>
              <a:gd name="adj" fmla="val 44118"/>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playable audio</a:t>
            </a:r>
          </a:p>
        </p:txBody>
      </p:sp>
      <p:sp>
        <p:nvSpPr>
          <p:cNvPr id="36" name="">
            <a:extLst xmlns:a="http://schemas.openxmlformats.org/drawingml/2006/main">
              <a:ext uri="{FF2B5EF4-FFF2-40B4-BE49-F238E27FC236}">
                <a16:creationId xmlns:a16="http://schemas.microsoft.com/office/drawing/2014/main" id="{9E727ABB-E8CF-432E-987C-E04FD7D35685}"/>
              </a:ext>
            </a:extLst>
          </p:cNvPr>
          <p:cNvSpPr>
            <a:spLocks xmlns:a="http://schemas.openxmlformats.org/drawingml/2006/main" noGrp="1"/>
          </p:cNvSpPr>
          <p:nvPr/>
        </p:nvSpPr>
        <p:spPr>
          <a:xfrm xmlns:a="http://schemas.openxmlformats.org/drawingml/2006/main">
            <a:off x="1333500" y="56959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0">
                <a:solidFill>
                  <a:srgbClr val="4B687A"/>
                </a:solidFill>
                <a:latin typeface="Aptos"/>
                <a:ea typeface="Aptos"/>
                <a:cs typeface="Aptos"/>
              </a:defRPr>
            </a:pPr>
            <a:r>
              <a:rPr sz="1125" b="0">
                <a:solidFill>
                  <a:srgbClr val="4B687A"/>
                </a:solidFill>
                <a:latin typeface="Aptos"/>
                <a:ea typeface="Aptos"/>
                <a:cs typeface="Aptos"/>
              </a:rPr>
              <a:t>The delay is in the boundary between engines—not only inside the engine.</a:t>
            </a:r>
          </a:p>
        </p:txBody>
      </p:sp>
      <p:sp>
        <p:nvSpPr>
          <p:cNvPr id="37" name="">
            <a:extLst xmlns:a="http://schemas.openxmlformats.org/drawingml/2006/main">
              <a:ext uri="{FF2B5EF4-FFF2-40B4-BE49-F238E27FC236}">
                <a16:creationId xmlns:a16="http://schemas.microsoft.com/office/drawing/2014/main" id="{C8E05A66-BAEB-4C1D-BE3F-5D628A5F4AC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1637723908"/>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6" name=""/>
          <p:cNvPicPr>
            <a:picLocks xmlns:a="http://schemas.openxmlformats.org/drawingml/2006/main" noChangeAspect="1"/>
          </p:cNvPicPr>
          <p:nvPr/>
        </p:nvPicPr>
        <p:blipFill>
          <a:blip xmlns:r="http://schemas.openxmlformats.org/officeDocument/2006/relationships" xmlns:a="http://schemas.openxmlformats.org/drawingml/2006/main" r:embed="Re7de4dc8b23e494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1ABDE0-BF36-4558-A6F3-BD6E6521F8E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2A3F564-2A85-4E52-AE71-804363286FE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F0049F9-F773-479C-98B1-4E569E9AB0E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369E1AC-AB12-4D7E-A03E-C8BEE6A68585}"/>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30CE2A78-F2CB-4D6A-BE67-F0945C1698C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724CDB7-3673-4F4A-9BFE-54B5D1FF8F0A}"/>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F0CD6459-64C8-47BF-A759-E27499FE959F}"/>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B596FF4E-DB49-4DC7-A79B-931839BBBAFF}"/>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1874278D-7CAC-4BA1-8880-A8F29F8F3FAB}"/>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45017410-5AD3-4504-8C12-E5E61675B263}"/>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7CA19867-8203-4011-9A19-422BF008301F}"/>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7C9055AE-7ABF-4D96-A1F5-A2AF351CAE4F}"/>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79E368C-62E8-456E-97BD-66B3941C527C}"/>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64C24CD4-F832-4BCE-85A5-BFC27E33BE0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1740757308"/>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8ae95b5ed314e5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FC2C597-C59D-47D8-8154-B6A12FF16030}"/>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31AF59F-1F33-45B4-936C-0F6D5D2C8F6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439E7CAC-84E8-4708-BF19-910D3141FA7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87D9B4C-52CC-41DC-90F9-CD34E1CF980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0B7283AF-AAED-450A-9286-40621CCC764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F901229D-F1FD-4A52-A9E3-78A2E6A3B590}"/>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EF3D9488-5CC7-416C-BCA4-BA9F56AD1A5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9AE4B199-3105-47B9-8878-2783EFE87708}"/>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6456D23D-1A87-48B8-8515-E185918CC64E}"/>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AC565637-5714-4BCD-9FC9-88AA6D1EB26E}"/>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5C4C0B63-2DAF-4C0D-87B2-A29DE3CC1740}"/>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9E00327E-017B-41F3-B652-941B63D164BB}"/>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003D8CA-EC47-4B56-BB0A-D1CCEC266E32}"/>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E786ECAB-2EED-4BBD-AE7E-C7BF08BFAEA2}"/>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8FD0590C-69D0-4144-BBF2-0044F13B6642}"/>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534F9632-FDDF-4699-98AA-11873BB85786}"/>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97765E90-DA38-4AF4-807D-49770AD44483}"/>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65A5776-3432-4BF8-AF74-764966898E8A}"/>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CB630019-EED5-4450-BD97-58570C056138}"/>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EBF06332-B984-41FA-BC20-111B1F458A91}"/>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55BC9AF1-72C4-48C7-9B6B-4532B0871265}"/>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3F845A96-6C43-4A31-968E-F06B14845351}"/>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D36AD0F2-7D5B-4B50-91EB-2D6D9CCB64DD}"/>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7B7FE4D4-A8DD-4609-9D00-0785A3D9F451}"/>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56936440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9" name=""/>
          <p:cNvPicPr>
            <a:picLocks xmlns:a="http://schemas.openxmlformats.org/drawingml/2006/main" noChangeAspect="1"/>
          </p:cNvPicPr>
          <p:nvPr/>
        </p:nvPicPr>
        <p:blipFill>
          <a:blip xmlns:r="http://schemas.openxmlformats.org/officeDocument/2006/relationships" xmlns:a="http://schemas.openxmlformats.org/drawingml/2006/main" r:embed="R1a325f0c02f14df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AD26A79-F8BB-4B22-B651-C75CB108FC5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EF722D2-38A5-41B9-AC12-73FEF51C73B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25D61DF8-928D-4343-BFBF-B6F5B9238D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A6DF9AD-E367-4B78-9433-EA84EEF6538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D04C49E1-13A4-4535-A1F4-4C01D398840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C298404-E926-428F-94D4-AF5FA7E148CF}"/>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A6FF310-BB7F-447D-9A98-F93C4E0FF8E0}"/>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6C7F8C22-4D46-471E-974D-F551F5EF87C9}"/>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918EB33E-AC62-4A49-9EE8-452F39E9D150}"/>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ED6362B7-9821-4452-80AA-FEED59ECB061}"/>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F219EB67-EE51-4792-AC7C-15A2257F94F3}"/>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BC036BBE-D9DB-484D-98E0-05A426903DCB}"/>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B78AB71B-4ADF-4AD9-A0CD-92D814517D5C}"/>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12150A67-E4C8-4626-8E3C-8939780FF58A}"/>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E796627-F09A-49E5-8CCB-1231EA33459B}"/>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EBD9936C-17D2-4B25-A340-E96A38A0F49D}"/>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19B90D21-1183-4767-9509-1E76B396F2E7}"/>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E13C262B-C134-4AD6-99A4-C2DEC27DED54}"/>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487EC7F1-7E71-4A18-B13C-35E1B56427AE}"/>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DACD335D-CF6C-4BE0-92B7-F1FE19B63335}"/>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F0369C9E-87E1-4BC7-9EB2-F84492EB8DED}"/>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C6440405-A7D6-42D1-9CF7-1197E2EEF4F6}"/>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158B1078-1074-4508-BAF4-DAF6F62A2704}"/>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C2F376C1-D0AB-4F94-AD74-ABAE22C5B574}"/>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02774900-F519-42CC-8ABB-656BDD98773B}"/>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B170E4A2-DFCA-4000-B4FD-7C5ED0B5FAF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99CFB1F2-3441-4229-8C18-EE145EFA955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531180225"/>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8" name=""/>
          <p:cNvPicPr>
            <a:picLocks xmlns:a="http://schemas.openxmlformats.org/drawingml/2006/main" noChangeAspect="1"/>
          </p:cNvPicPr>
          <p:nvPr/>
        </p:nvPicPr>
        <p:blipFill>
          <a:blip xmlns:r="http://schemas.openxmlformats.org/officeDocument/2006/relationships" xmlns:a="http://schemas.openxmlformats.org/drawingml/2006/main" r:embed="R49ff06e7bb9346b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8D4BE90-84E3-438D-AE7E-67F4F283C2A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1B9A9F40-2521-4BE7-A74C-E17D9CA32F3D}"/>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FAA7E636-0894-4761-AE2D-033F851BC78F}"/>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7F7668AB-160B-4E9B-B459-4B7C1EBE4B6D}"/>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D50C4B5B-D7F7-4B03-8C1E-1EB6CB945638}"/>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DD66EC80-8891-4573-AAF6-A778645E9A1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395995819"/>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8" name=""/>
          <p:cNvPicPr>
            <a:picLocks xmlns:a="http://schemas.openxmlformats.org/drawingml/2006/main" noChangeAspect="1"/>
          </p:cNvPicPr>
          <p:nvPr/>
        </p:nvPicPr>
        <p:blipFill>
          <a:blip xmlns:r="http://schemas.openxmlformats.org/officeDocument/2006/relationships" xmlns:a="http://schemas.openxmlformats.org/drawingml/2006/main" r:embed="R6ea372db0c86491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C48D7BC-F09F-49DB-8A0E-0E68941A1CD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DC33FFC-A122-41EB-9669-3EDE9FD0D77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5081AE3E-6242-470F-895C-B7E6430517D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3EA1804-95E4-4B69-9267-756CAFCE0A7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5BE2DB54-737B-452A-852A-6BD5A6D7EC6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E5E0959-896E-4A4C-B6E0-6D70A537F7BA}"/>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BEBDEA1F-28DD-464A-8D67-DA25FE7E942F}"/>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B6360056-7E09-4B92-BEEB-149E5949F9DC}"/>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6E31790-6ACB-4E52-A76A-3448471C1F66}"/>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C4713B4-2513-4711-8301-7ECB7EE61A06}"/>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E3DDECE3-5E1B-47A9-A79D-82672E209565}"/>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A5FA6920-4CAB-456F-B14B-E083D64DFA49}"/>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E8010660-775F-4E20-9009-4F1587702BCC}"/>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D7F91FCE-370F-4821-97A4-88D65EA6B82C}"/>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B2358237-CA6E-47B0-809B-CB1C5A27DADB}"/>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21607E37-3233-4D77-A9FF-80C1280EDB30}"/>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A7966D1-916F-4AF5-8A3E-FC5AB0B59239}"/>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B1C413F0-1A52-44E4-A7A5-C34BAEB993F9}"/>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8F91C605-DA7B-4CAC-8C6F-2EEA610653AC}"/>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5537B170-A2C3-4CD4-87D9-A6886B2B3758}"/>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757F9666-8F13-4F0D-8892-17D57A3169F8}"/>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C3958B63-570F-4374-BEA9-15566E5543BE}"/>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AE2AFF2A-C905-41BA-BAE1-5F31A97CFFFD}"/>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F8EA2E7C-8D85-4B8D-BA8B-D9BB9C49FCF4}"/>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A414FA54-2677-4550-9BAD-4347EF51492D}"/>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A6759384-4C00-48D0-802B-83FBEB0E1ADF}"/>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9C2E9405-7635-4AFE-9723-E2D1DD207337}"/>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FA2E8B2-8E22-4CF1-A4F0-52E3D6616EAC}"/>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88ABD9DA-B376-424A-9C43-CC101CFE4E3D}"/>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D486E91B-35F4-49C3-8F33-91C0935F14B3}"/>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AA1897EB-0640-482E-BA33-957ABBD1C8EA}"/>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9CB92DC8-2A7A-4E02-930D-6889D3D2AE80}"/>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9E18F5C4-D69F-4287-A038-121DFE8463B9}"/>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9051D4CF-6D89-4BD4-8419-E3DCD577B509}"/>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701DC84E-06EE-498E-B243-B2D80A58E296}"/>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0D0D3DAF-826D-4DB4-997F-437522DB3705}"/>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2EF7DC3B-CAA8-40F0-8DFC-91C5595B163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64E3E5EE-14B0-4882-8A8C-62E4CC01ECD5}"/>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0C7D4C5D-27E3-4D5C-BAFC-6DF5FCF0FE82}"/>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E6683E6-AADA-4C69-A5D8-62F405D9D34E}"/>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E9A08BE0-C2E5-4BEB-AF40-67ECBB127AE1}"/>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D8AD6ED1-E9CD-43FD-9D25-86967E1F0FD2}"/>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75E9503C-E00F-4933-A064-BCE124842B12}"/>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44DA282A-E511-423D-ADAD-7F3F8A44F724}"/>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6E772DCD-85BF-45DE-88F6-3BAFDD33FCAC}"/>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E8FD63A4-FE20-4741-9786-A69237D281C0}"/>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F4C662F-4407-4207-A259-DBEAB875DFED}"/>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EC1A766D-A245-42F6-A595-ED2393ED804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3275804E-48A1-4BCE-B2B1-C169E43119F0}"/>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6DC2D40E-4904-4A05-881F-50F2D56B387A}"/>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4474CD44-54D7-4B79-ABCD-6561F9D63B60}"/>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13529430-2DCC-43E7-B7AC-EDFC4D49DFFD}"/>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F80BED10-B0C5-4CA5-9176-34B6CA9AA747}"/>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BF2C9A75-8C5A-4814-87EB-5238C05C807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71E55C0D-637F-4227-B0A0-7285541BF2F4}"/>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C3C6C771-5D30-47E2-A8F9-906E48675187}"/>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1559791B-6336-443E-991D-2AE2B4F95541}"/>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E823996E-37D4-4075-BCAF-8DAB8B726BC1}"/>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4274073-BF07-497D-8C2C-15C18E8042AC}"/>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3E5C53B4-8599-4B56-8C72-D7FC0D32039D}"/>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8E554672-70B1-4E09-8DD4-040E41EB2BAF}"/>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7D658CBB-7620-4750-A82A-5C20E7DDB883}"/>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986D28D2-4518-4F6A-9E66-5BA4761F7EC9}"/>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5C2AE86B-6A86-4C01-AA29-82E875C21198}"/>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6288C7AE-BBE3-49B7-9727-A15EA078E5DD}"/>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CB87298-66BF-4029-8CF0-6299102B9107}"/>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467E1C07-C84F-4FBE-A406-D3352E9A3FF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B7E71D1D-8008-44DA-8FC3-4D66FDADB582}"/>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1D24B6C1-1F47-419D-A24D-B1FE3C547355}"/>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C24E27B6-90E8-4B7C-8E7E-2424D7D87F92}"/>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B8CAC2FE-95D7-4C7D-9B93-95A72811EA92}"/>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18DD858D-3E35-47DB-A617-A851DB0CEF3B}"/>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8779BBC2-F600-4312-8504-1E50F986729D}"/>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7A4B97F-429E-421A-B790-80A1066AE7F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F3BACCF-E095-4FC1-86A9-A1A9B383199F}"/>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7F82B423-9292-4F30-8666-A06A5F371B29}"/>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F38D5F29-BFEF-4457-A03B-1B03A8B3E62D}"/>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48E2EC6C-E8B9-400F-96AD-5574F6CA5653}"/>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DFAF54C3-7D96-4033-909F-8FE1D529F24E}"/>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35B56B0F-4676-4C6E-8551-0564DFB1294B}"/>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4A881C0B-DE5F-4405-83C7-5A66EBC8945C}"/>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9BE605E9-7978-4007-9A72-A4AC5E86BD2D}"/>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7990CC4D-C383-4979-A9C8-E0B84ED54F5F}"/>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936A567E-4CBF-4634-95E9-F5D05103DF7F}"/>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901DEF2F-AFDD-44BD-94D8-2CD33B241983}"/>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56255FD-16A1-48AA-B050-AD4C9B9F1FC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122754708"/>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3100284f78a4f2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94B987-F67C-4764-9969-81293929874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19D09DF-6D9B-4173-9037-36982CB0098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B8FAC220-EEFD-402D-9641-EB6EF92CDA5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0FBE2C4-CDA0-448D-B445-F21E828632F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4D8E02BC-9AE4-4026-ABCE-ECA3D9A5169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5C7AC81-D4A9-49CC-A369-936B7FC21604}"/>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9DFDE6D1-2800-4B2C-9A87-67E7EDA6CE54}"/>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E7AAE868-B22E-429E-92EE-B0CB39D35970}"/>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9E546286-F5CA-4D37-8DAA-E18EE9EC9F5A}"/>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E9E63387-051A-4850-9C45-09A3891A1FB0}"/>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E31EBC38-B6D8-4FDB-BF8E-BE4649DD0C00}"/>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77B0C965-8C8F-4B52-B4DB-2D510E0B87E6}"/>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5F279EB3-4C3F-4514-A367-A6A3102D5ECF}"/>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4019997E-BA3D-4A38-82C7-09BE3AB0397F}"/>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1AC70666-0CFB-439B-905C-47C06D374776}"/>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43429E2F-951A-4DB4-AA5F-52092B3116C3}"/>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6B977EF3-7D21-4E72-A0AB-581193D77437}"/>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121ACAAF-363B-4A77-8911-E16D5BDBA52B}"/>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08AD65F3-FE0A-4791-BB70-E09D4D1954DB}"/>
              </a:ext>
            </a:extLst>
          </p:cNvPr>
          <p:cNvSpPr>
            <a:spLocks xmlns:a="http://schemas.openxmlformats.org/drawingml/2006/main" noGrp="1"/>
          </p:cNvSpPr>
          <p:nvPr/>
        </p:nvSpPr>
        <p:spPr>
          <a:xfrm xmlns:a="http://schemas.openxmlformats.org/drawingml/2006/main">
            <a:off x="1238250" y="5467350"/>
            <a:ext cx="9715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In a noisy call, ASR choice determines what the agent believes before reasoning begins.</a:t>
            </a:r>
          </a:p>
        </p:txBody>
      </p:sp>
      <p:sp>
        <p:nvSpPr>
          <p:cNvPr id="21" name="">
            <a:extLst xmlns:a="http://schemas.openxmlformats.org/drawingml/2006/main">
              <a:ext uri="{FF2B5EF4-FFF2-40B4-BE49-F238E27FC236}">
                <a16:creationId xmlns:a16="http://schemas.microsoft.com/office/drawing/2014/main" id="{68B21B6D-1BA2-4B72-AC53-D99CB066C3CA}"/>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1701138152"/>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b3204fc2e78340c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3A0C037-AB41-44DC-AAC7-4C6C2D8E318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18A4ED6-F955-4985-A8B6-BF4C8F0A44A7}"/>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E22EFE2-A56F-40AB-A364-6BD321D7211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31F4F144-D472-41EF-9C9D-44AFB001A58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E04425BE-26CF-4E80-A631-B3A799872A0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ACDDE11-0CC7-4A79-B679-97B714252A91}"/>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E45F4663-A719-450A-B5B1-F5725AAEAFC9}"/>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5604A76-7265-489C-875D-C23DB009D372}"/>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FCB9AE99-1EA0-4728-A937-5142E208F3C6}"/>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C23333C4-4493-4C89-9239-EC0BA3CA989E}"/>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C649F398-AED8-47EE-B856-ECE40122E046}"/>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62AAD4F2-3C50-45BC-807C-E9EC1F5F7974}"/>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A7DF4180-D6D7-480A-A15A-80944199525C}"/>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AEB15CD3-63F3-4366-89BA-F6FC6A284153}"/>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7AE40A98-400A-4042-91B1-50F8442EE1B3}"/>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CBF2C9CF-6E1D-40B1-977E-8E63F9BA0D77}"/>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21A0B8C7-E805-4D79-8855-3AA663B94DF6}"/>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20DE10B0-B4E1-4070-A930-ACD744350565}"/>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4399F7B0-2F33-4C19-9340-072374C1E8B0}"/>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DC890D5C-DA4E-4838-8343-5F987CAE010F}"/>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B258E207-947F-4B24-ADEE-14A5D9155DFC}"/>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F203A4D0-DCF2-4995-A275-5625AE313724}"/>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52E32682-D35D-4B24-A0C9-DC27E90B43BD}"/>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79B27B3E-D32E-484F-B774-7EBF7C7CB253}"/>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088F7FF6-D4B4-4E4B-8D31-ADC327856979}"/>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3C717110-CBB6-4F18-A0A6-07C9ED00B1ED}"/>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EAAF7D68-99F2-4B45-8966-5366735D0C70}"/>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C4A6D047-AB77-45B6-B3A9-F241DD943604}"/>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B203E5C3-7DCF-4CD4-8A97-0BFC5D297F08}"/>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1279D1C4-8C84-4115-B99F-16284BB41DC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753895958"/>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49" name=""/>
          <p:cNvPicPr>
            <a:picLocks xmlns:a="http://schemas.openxmlformats.org/drawingml/2006/main" noChangeAspect="1"/>
          </p:cNvPicPr>
          <p:nvPr/>
        </p:nvPicPr>
        <p:blipFill>
          <a:blip xmlns:r="http://schemas.openxmlformats.org/officeDocument/2006/relationships" xmlns:a="http://schemas.openxmlformats.org/drawingml/2006/main" r:embed="R8d8b81fcd0a7498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5992AC-87FD-40A7-9674-CEBAE1BB2E4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2BFA921-9A48-4134-AE04-69340E07A1D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6D39CAFC-8A7E-48DE-904D-696827AF406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53D6A362-35EC-472F-8112-9CC701D232B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F1B8EDC3-BAF6-43E6-85F5-8C1507316D1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E2BB1E0-03C9-4E7D-A7C0-D8C4D1FFF7FF}"/>
              </a:ext>
            </a:extLst>
          </p:cNvPr>
          <p:cNvSpPr>
            <a:spLocks xmlns:a="http://schemas.openxmlformats.org/drawingml/2006/main" noGrp="1"/>
          </p:cNvSpPr>
          <p:nvPr/>
        </p:nvSpPr>
        <p:spPr>
          <a:xfrm xmlns:a="http://schemas.openxmlformats.org/drawingml/2006/main">
            <a:off x="742950" y="1924050"/>
            <a:ext cx="685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D96C5F"/>
                </a:solidFill>
                <a:latin typeface="Aptos"/>
                <a:ea typeface="Aptos"/>
                <a:cs typeface="Aptos"/>
              </a:defRPr>
            </a:pPr>
            <a:r>
              <a:rPr sz="825" b="1">
                <a:solidFill>
                  <a:srgbClr val="D96C5F"/>
                </a:solidFill>
                <a:latin typeface="Aptos"/>
                <a:ea typeface="Aptos"/>
                <a:cs typeface="Aptos"/>
              </a:rPr>
              <a:t>MEASURED ON OUR APPLE M5 · NOT A UNIVERSAL MODEL RANKING</a:t>
            </a:r>
          </a:p>
        </p:txBody>
      </p:sp>
      <p:sp>
        <p:nvSpPr>
          <p:cNvPr id="8" name="">
            <a:extLst xmlns:a="http://schemas.openxmlformats.org/drawingml/2006/main">
              <a:ext uri="{FF2B5EF4-FFF2-40B4-BE49-F238E27FC236}">
                <a16:creationId xmlns:a16="http://schemas.microsoft.com/office/drawing/2014/main" id="{CE3C66E7-9A45-4EF0-87F9-D17CB4F19B36}"/>
              </a:ext>
            </a:extLst>
          </p:cNvPr>
          <p:cNvSpPr>
            <a:spLocks xmlns:a="http://schemas.openxmlformats.org/drawingml/2006/main" noGrp="1"/>
          </p:cNvSpPr>
          <p:nvPr/>
        </p:nvSpPr>
        <p:spPr>
          <a:xfrm xmlns:a="http://schemas.openxmlformats.org/drawingml/2006/main">
            <a:off x="742950" y="2171700"/>
            <a:ext cx="1047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0">
                <a:solidFill>
                  <a:srgbClr val="4B687A"/>
                </a:solidFill>
                <a:latin typeface="Aptos"/>
                <a:ea typeface="Aptos"/>
                <a:cs typeface="Aptos"/>
              </a:defRPr>
            </a:pPr>
            <a:r>
              <a:rPr sz="1050" b="0">
                <a:solidFill>
                  <a:srgbClr val="4B687A"/>
                </a:solidFill>
                <a:latin typeface="Aptos"/>
                <a:ea typeface="Aptos"/>
                <a:cs typeface="Aptos"/>
              </a:rPr>
              <a:t>Evidence level: 0 failed control  ·  1 relevant but ungated  ·  2 grounded sample  ·  3 132/136 checks</a:t>
            </a:r>
          </a:p>
        </p:txBody>
      </p:sp>
      <p:sp>
        <p:nvSpPr>
          <p:cNvPr id="9" name="">
            <a:extLst xmlns:a="http://schemas.openxmlformats.org/drawingml/2006/main">
              <a:ext uri="{FF2B5EF4-FFF2-40B4-BE49-F238E27FC236}">
                <a16:creationId xmlns:a16="http://schemas.microsoft.com/office/drawing/2014/main" id="{5241A11C-8726-4EB8-B85E-921320A44726}"/>
              </a:ext>
            </a:extLst>
          </p:cNvPr>
          <p:cNvSpPr>
            <a:spLocks xmlns:a="http://schemas.openxmlformats.org/drawingml/2006/main" noGrp="1"/>
          </p:cNvSpPr>
          <p:nvPr/>
        </p:nvSpPr>
        <p:spPr>
          <a:xfrm xmlns:a="http://schemas.openxmlformats.org/drawingml/2006/main">
            <a:off x="2381250" y="5429250"/>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0" name="">
            <a:extLst xmlns:a="http://schemas.openxmlformats.org/drawingml/2006/main">
              <a:ext uri="{FF2B5EF4-FFF2-40B4-BE49-F238E27FC236}">
                <a16:creationId xmlns:a16="http://schemas.microsoft.com/office/drawing/2014/main" id="{CC9A310B-99FF-4BC1-9BF6-C4A4E7C4E83E}"/>
              </a:ext>
            </a:extLst>
          </p:cNvPr>
          <p:cNvSpPr>
            <a:spLocks xmlns:a="http://schemas.openxmlformats.org/drawingml/2006/main" noGrp="1"/>
          </p:cNvSpPr>
          <p:nvPr/>
        </p:nvSpPr>
        <p:spPr>
          <a:xfrm xmlns:a="http://schemas.openxmlformats.org/drawingml/2006/main">
            <a:off x="1752600" y="5314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0</a:t>
            </a:r>
          </a:p>
        </p:txBody>
      </p:sp>
      <p:sp>
        <p:nvSpPr>
          <p:cNvPr id="11" name="">
            <a:extLst xmlns:a="http://schemas.openxmlformats.org/drawingml/2006/main">
              <a:ext uri="{FF2B5EF4-FFF2-40B4-BE49-F238E27FC236}">
                <a16:creationId xmlns:a16="http://schemas.microsoft.com/office/drawing/2014/main" id="{DE8C311F-A0BC-47FD-8C7F-DF85906F011B}"/>
              </a:ext>
            </a:extLst>
          </p:cNvPr>
          <p:cNvSpPr>
            <a:spLocks xmlns:a="http://schemas.openxmlformats.org/drawingml/2006/main" noGrp="1"/>
          </p:cNvSpPr>
          <p:nvPr/>
        </p:nvSpPr>
        <p:spPr>
          <a:xfrm xmlns:a="http://schemas.openxmlformats.org/drawingml/2006/main">
            <a:off x="2381250" y="4603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35FE981-921B-4DCC-964E-73ABEDABBF7D}"/>
              </a:ext>
            </a:extLst>
          </p:cNvPr>
          <p:cNvSpPr>
            <a:spLocks xmlns:a="http://schemas.openxmlformats.org/drawingml/2006/main" noGrp="1"/>
          </p:cNvSpPr>
          <p:nvPr/>
        </p:nvSpPr>
        <p:spPr>
          <a:xfrm xmlns:a="http://schemas.openxmlformats.org/drawingml/2006/main">
            <a:off x="1752600" y="4489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1</a:t>
            </a:r>
          </a:p>
        </p:txBody>
      </p:sp>
      <p:sp>
        <p:nvSpPr>
          <p:cNvPr id="13" name="">
            <a:extLst xmlns:a="http://schemas.openxmlformats.org/drawingml/2006/main">
              <a:ext uri="{FF2B5EF4-FFF2-40B4-BE49-F238E27FC236}">
                <a16:creationId xmlns:a16="http://schemas.microsoft.com/office/drawing/2014/main" id="{CF3DB85A-41E5-43C4-B182-6BA34DAB7FEB}"/>
              </a:ext>
            </a:extLst>
          </p:cNvPr>
          <p:cNvSpPr>
            <a:spLocks xmlns:a="http://schemas.openxmlformats.org/drawingml/2006/main" noGrp="1"/>
          </p:cNvSpPr>
          <p:nvPr/>
        </p:nvSpPr>
        <p:spPr>
          <a:xfrm xmlns:a="http://schemas.openxmlformats.org/drawingml/2006/main">
            <a:off x="2381250" y="37782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21E51F9B-602B-41C8-91B8-D73108C569A7}"/>
              </a:ext>
            </a:extLst>
          </p:cNvPr>
          <p:cNvSpPr>
            <a:spLocks xmlns:a="http://schemas.openxmlformats.org/drawingml/2006/main" noGrp="1"/>
          </p:cNvSpPr>
          <p:nvPr/>
        </p:nvSpPr>
        <p:spPr>
          <a:xfrm xmlns:a="http://schemas.openxmlformats.org/drawingml/2006/main">
            <a:off x="1752600" y="36639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2</a:t>
            </a:r>
          </a:p>
        </p:txBody>
      </p:sp>
      <p:sp>
        <p:nvSpPr>
          <p:cNvPr id="15" name="">
            <a:extLst xmlns:a="http://schemas.openxmlformats.org/drawingml/2006/main">
              <a:ext uri="{FF2B5EF4-FFF2-40B4-BE49-F238E27FC236}">
                <a16:creationId xmlns:a16="http://schemas.microsoft.com/office/drawing/2014/main" id="{D58DF05F-2545-4FEB-9D81-472AFA022010}"/>
              </a:ext>
            </a:extLst>
          </p:cNvPr>
          <p:cNvSpPr>
            <a:spLocks xmlns:a="http://schemas.openxmlformats.org/drawingml/2006/main" noGrp="1"/>
          </p:cNvSpPr>
          <p:nvPr/>
        </p:nvSpPr>
        <p:spPr>
          <a:xfrm xmlns:a="http://schemas.openxmlformats.org/drawingml/2006/main">
            <a:off x="2381250" y="2952750"/>
            <a:ext cx="83820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F18C1265-98D6-4FBB-B258-4422843950CF}"/>
              </a:ext>
            </a:extLst>
          </p:cNvPr>
          <p:cNvSpPr>
            <a:spLocks xmlns:a="http://schemas.openxmlformats.org/drawingml/2006/main" noGrp="1"/>
          </p:cNvSpPr>
          <p:nvPr/>
        </p:nvSpPr>
        <p:spPr>
          <a:xfrm xmlns:a="http://schemas.openxmlformats.org/drawingml/2006/main">
            <a:off x="1752600" y="2838450"/>
            <a:ext cx="3048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975" b="1">
                <a:solidFill>
                  <a:srgbClr val="102A43"/>
                </a:solidFill>
                <a:latin typeface="Aptos Mono"/>
                <a:ea typeface="Aptos Mono"/>
                <a:cs typeface="Aptos Mono"/>
              </a:defRPr>
            </a:pPr>
            <a:r>
              <a:rPr sz="975" b="1">
                <a:solidFill>
                  <a:srgbClr val="102A43"/>
                </a:solidFill>
                <a:latin typeface="Aptos Mono"/>
                <a:ea typeface="Aptos Mono"/>
                <a:cs typeface="Aptos Mono"/>
              </a:rPr>
              <a:t>3</a:t>
            </a:r>
          </a:p>
        </p:txBody>
      </p:sp>
      <p:sp>
        <p:nvSpPr>
          <p:cNvPr id="17" name="">
            <a:extLst xmlns:a="http://schemas.openxmlformats.org/drawingml/2006/main">
              <a:ext uri="{FF2B5EF4-FFF2-40B4-BE49-F238E27FC236}">
                <a16:creationId xmlns:a16="http://schemas.microsoft.com/office/drawing/2014/main" id="{069BF866-855E-4245-8EE7-EC429C40CD65}"/>
              </a:ext>
            </a:extLst>
          </p:cNvPr>
          <p:cNvSpPr>
            <a:spLocks xmlns:a="http://schemas.openxmlformats.org/drawingml/2006/main" noGrp="1"/>
          </p:cNvSpPr>
          <p:nvPr/>
        </p:nvSpPr>
        <p:spPr>
          <a:xfrm xmlns:a="http://schemas.openxmlformats.org/drawingml/2006/main">
            <a:off x="2381250" y="2952750"/>
            <a:ext cx="0" cy="247650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18" name="">
            <a:extLst xmlns:a="http://schemas.openxmlformats.org/drawingml/2006/main">
              <a:ext uri="{FF2B5EF4-FFF2-40B4-BE49-F238E27FC236}">
                <a16:creationId xmlns:a16="http://schemas.microsoft.com/office/drawing/2014/main" id="{2E0DF0CA-D380-4305-9D32-92E4FE6595BC}"/>
              </a:ext>
            </a:extLst>
          </p:cNvPr>
          <p:cNvSpPr>
            <a:spLocks xmlns:a="http://schemas.openxmlformats.org/drawingml/2006/main" noGrp="1"/>
          </p:cNvSpPr>
          <p:nvPr/>
        </p:nvSpPr>
        <p:spPr>
          <a:xfrm xmlns:a="http://schemas.openxmlformats.org/drawingml/2006/main">
            <a:off x="2381250" y="2705100"/>
            <a:ext cx="2476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GROUNDING / POLICY EVIDENCE ↑</a:t>
            </a:r>
          </a:p>
        </p:txBody>
      </p:sp>
      <p:sp>
        <p:nvSpPr>
          <p:cNvPr id="19" name="">
            <a:extLst xmlns:a="http://schemas.openxmlformats.org/drawingml/2006/main">
              <a:ext uri="{FF2B5EF4-FFF2-40B4-BE49-F238E27FC236}">
                <a16:creationId xmlns:a16="http://schemas.microsoft.com/office/drawing/2014/main" id="{691618A3-846F-4BB3-912C-7367B46523D5}"/>
              </a:ext>
            </a:extLst>
          </p:cNvPr>
          <p:cNvSpPr>
            <a:spLocks xmlns:a="http://schemas.openxmlformats.org/drawingml/2006/main" noGrp="1"/>
          </p:cNvSpPr>
          <p:nvPr/>
        </p:nvSpPr>
        <p:spPr>
          <a:xfrm xmlns:a="http://schemas.openxmlformats.org/drawingml/2006/main">
            <a:off x="742950" y="523875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0  known failure</a:t>
            </a:r>
          </a:p>
        </p:txBody>
      </p:sp>
      <p:sp>
        <p:nvSpPr>
          <p:cNvPr id="20" name="">
            <a:extLst xmlns:a="http://schemas.openxmlformats.org/drawingml/2006/main">
              <a:ext uri="{FF2B5EF4-FFF2-40B4-BE49-F238E27FC236}">
                <a16:creationId xmlns:a16="http://schemas.microsoft.com/office/drawing/2014/main" id="{E74B7B31-6F4D-4111-860E-F84CF6C99CCF}"/>
              </a:ext>
            </a:extLst>
          </p:cNvPr>
          <p:cNvSpPr>
            <a:spLocks xmlns:a="http://schemas.openxmlformats.org/drawingml/2006/main" noGrp="1"/>
          </p:cNvSpPr>
          <p:nvPr/>
        </p:nvSpPr>
        <p:spPr>
          <a:xfrm xmlns:a="http://schemas.openxmlformats.org/drawingml/2006/main">
            <a:off x="742950" y="3009900"/>
            <a:ext cx="1333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0">
                <a:solidFill>
                  <a:srgbClr val="4B687A"/>
                </a:solidFill>
                <a:latin typeface="Aptos"/>
                <a:ea typeface="Aptos"/>
                <a:cs typeface="Aptos"/>
              </a:defRPr>
            </a:pPr>
            <a:r>
              <a:rPr sz="825" b="0">
                <a:solidFill>
                  <a:srgbClr val="4B687A"/>
                </a:solidFill>
                <a:latin typeface="Aptos"/>
                <a:ea typeface="Aptos"/>
                <a:cs typeface="Aptos"/>
              </a:rPr>
              <a:t>3  evaluated gate</a:t>
            </a:r>
          </a:p>
        </p:txBody>
      </p:sp>
      <p:sp>
        <p:nvSpPr>
          <p:cNvPr id="21" name="">
            <a:extLst xmlns:a="http://schemas.openxmlformats.org/drawingml/2006/main">
              <a:ext uri="{FF2B5EF4-FFF2-40B4-BE49-F238E27FC236}">
                <a16:creationId xmlns:a16="http://schemas.microsoft.com/office/drawing/2014/main" id="{4A553CCC-8CA7-468F-9C2B-87CCDCA2E841}"/>
              </a:ext>
            </a:extLst>
          </p:cNvPr>
          <p:cNvSpPr>
            <a:spLocks xmlns:a="http://schemas.openxmlformats.org/drawingml/2006/main" noGrp="1"/>
          </p:cNvSpPr>
          <p:nvPr/>
        </p:nvSpPr>
        <p:spPr>
          <a:xfrm xmlns:a="http://schemas.openxmlformats.org/drawingml/2006/main">
            <a:off x="2381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2" name="">
            <a:extLst xmlns:a="http://schemas.openxmlformats.org/drawingml/2006/main">
              <a:ext uri="{FF2B5EF4-FFF2-40B4-BE49-F238E27FC236}">
                <a16:creationId xmlns:a16="http://schemas.microsoft.com/office/drawing/2014/main" id="{A8DFF99F-417F-4CFC-9B48-982DAFFECC06}"/>
              </a:ext>
            </a:extLst>
          </p:cNvPr>
          <p:cNvSpPr>
            <a:spLocks xmlns:a="http://schemas.openxmlformats.org/drawingml/2006/main" noGrp="1"/>
          </p:cNvSpPr>
          <p:nvPr/>
        </p:nvSpPr>
        <p:spPr>
          <a:xfrm xmlns:a="http://schemas.openxmlformats.org/drawingml/2006/main">
            <a:off x="1962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23" name="">
            <a:extLst xmlns:a="http://schemas.openxmlformats.org/drawingml/2006/main">
              <a:ext uri="{FF2B5EF4-FFF2-40B4-BE49-F238E27FC236}">
                <a16:creationId xmlns:a16="http://schemas.microsoft.com/office/drawing/2014/main" id="{7605CF47-44A4-4344-9A8D-314B17478D1E}"/>
              </a:ext>
            </a:extLst>
          </p:cNvPr>
          <p:cNvSpPr>
            <a:spLocks xmlns:a="http://schemas.openxmlformats.org/drawingml/2006/main" noGrp="1"/>
          </p:cNvSpPr>
          <p:nvPr/>
        </p:nvSpPr>
        <p:spPr>
          <a:xfrm xmlns:a="http://schemas.openxmlformats.org/drawingml/2006/main">
            <a:off x="4476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4" name="">
            <a:extLst xmlns:a="http://schemas.openxmlformats.org/drawingml/2006/main">
              <a:ext uri="{FF2B5EF4-FFF2-40B4-BE49-F238E27FC236}">
                <a16:creationId xmlns:a16="http://schemas.microsoft.com/office/drawing/2014/main" id="{2706DA71-F3D8-4DD3-A06E-15ED13BE5A1C}"/>
              </a:ext>
            </a:extLst>
          </p:cNvPr>
          <p:cNvSpPr>
            <a:spLocks xmlns:a="http://schemas.openxmlformats.org/drawingml/2006/main" noGrp="1"/>
          </p:cNvSpPr>
          <p:nvPr/>
        </p:nvSpPr>
        <p:spPr>
          <a:xfrm xmlns:a="http://schemas.openxmlformats.org/drawingml/2006/main">
            <a:off x="4057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800 ms</a:t>
            </a:r>
          </a:p>
        </p:txBody>
      </p:sp>
      <p:sp>
        <p:nvSpPr>
          <p:cNvPr id="25" name="">
            <a:extLst xmlns:a="http://schemas.openxmlformats.org/drawingml/2006/main">
              <a:ext uri="{FF2B5EF4-FFF2-40B4-BE49-F238E27FC236}">
                <a16:creationId xmlns:a16="http://schemas.microsoft.com/office/drawing/2014/main" id="{386F4242-64CF-45B7-A5DC-8BE7D45BCFB9}"/>
              </a:ext>
            </a:extLst>
          </p:cNvPr>
          <p:cNvSpPr>
            <a:spLocks xmlns:a="http://schemas.openxmlformats.org/drawingml/2006/main" noGrp="1"/>
          </p:cNvSpPr>
          <p:nvPr/>
        </p:nvSpPr>
        <p:spPr>
          <a:xfrm xmlns:a="http://schemas.openxmlformats.org/drawingml/2006/main">
            <a:off x="6572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6" name="">
            <a:extLst xmlns:a="http://schemas.openxmlformats.org/drawingml/2006/main">
              <a:ext uri="{FF2B5EF4-FFF2-40B4-BE49-F238E27FC236}">
                <a16:creationId xmlns:a16="http://schemas.microsoft.com/office/drawing/2014/main" id="{CD8ED53D-2A80-4EBD-A4C9-2C6B13BD9958}"/>
              </a:ext>
            </a:extLst>
          </p:cNvPr>
          <p:cNvSpPr>
            <a:spLocks xmlns:a="http://schemas.openxmlformats.org/drawingml/2006/main" noGrp="1"/>
          </p:cNvSpPr>
          <p:nvPr/>
        </p:nvSpPr>
        <p:spPr>
          <a:xfrm xmlns:a="http://schemas.openxmlformats.org/drawingml/2006/main">
            <a:off x="6153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1,600 ms</a:t>
            </a:r>
          </a:p>
        </p:txBody>
      </p:sp>
      <p:sp>
        <p:nvSpPr>
          <p:cNvPr id="27" name="">
            <a:extLst xmlns:a="http://schemas.openxmlformats.org/drawingml/2006/main">
              <a:ext uri="{FF2B5EF4-FFF2-40B4-BE49-F238E27FC236}">
                <a16:creationId xmlns:a16="http://schemas.microsoft.com/office/drawing/2014/main" id="{03A7F939-4724-48D3-B893-FD8EAB1C190F}"/>
              </a:ext>
            </a:extLst>
          </p:cNvPr>
          <p:cNvSpPr>
            <a:spLocks xmlns:a="http://schemas.openxmlformats.org/drawingml/2006/main" noGrp="1"/>
          </p:cNvSpPr>
          <p:nvPr/>
        </p:nvSpPr>
        <p:spPr>
          <a:xfrm xmlns:a="http://schemas.openxmlformats.org/drawingml/2006/main">
            <a:off x="86677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28" name="">
            <a:extLst xmlns:a="http://schemas.openxmlformats.org/drawingml/2006/main">
              <a:ext uri="{FF2B5EF4-FFF2-40B4-BE49-F238E27FC236}">
                <a16:creationId xmlns:a16="http://schemas.microsoft.com/office/drawing/2014/main" id="{C070270D-6708-4B58-BC29-F187381112DC}"/>
              </a:ext>
            </a:extLst>
          </p:cNvPr>
          <p:cNvSpPr>
            <a:spLocks xmlns:a="http://schemas.openxmlformats.org/drawingml/2006/main" noGrp="1"/>
          </p:cNvSpPr>
          <p:nvPr/>
        </p:nvSpPr>
        <p:spPr>
          <a:xfrm xmlns:a="http://schemas.openxmlformats.org/drawingml/2006/main">
            <a:off x="82486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2,400 ms</a:t>
            </a:r>
          </a:p>
        </p:txBody>
      </p:sp>
      <p:sp>
        <p:nvSpPr>
          <p:cNvPr id="29" name="">
            <a:extLst xmlns:a="http://schemas.openxmlformats.org/drawingml/2006/main">
              <a:ext uri="{FF2B5EF4-FFF2-40B4-BE49-F238E27FC236}">
                <a16:creationId xmlns:a16="http://schemas.microsoft.com/office/drawing/2014/main" id="{1688CFF4-80F8-448E-B07D-85CEEE617C2B}"/>
              </a:ext>
            </a:extLst>
          </p:cNvPr>
          <p:cNvSpPr>
            <a:spLocks xmlns:a="http://schemas.openxmlformats.org/drawingml/2006/main" noGrp="1"/>
          </p:cNvSpPr>
          <p:nvPr/>
        </p:nvSpPr>
        <p:spPr>
          <a:xfrm xmlns:a="http://schemas.openxmlformats.org/drawingml/2006/main">
            <a:off x="10763250" y="5429250"/>
            <a:ext cx="0" cy="76200"/>
          </a:xfrm>
          <a:prstGeom xmlns:a="http://schemas.openxmlformats.org/drawingml/2006/main" prst="line">
            <a:avLst/>
          </a:prstGeom>
          <a:noFill xmlns:a="http://schemas.openxmlformats.org/drawingml/2006/main"/>
          <a:ln xmlns:a="http://schemas.openxmlformats.org/drawingml/2006/main" w="9525">
            <a:solidFill>
              <a:srgbClr val="102A43"/>
            </a:solidFill>
            <a:prstDash val="solid"/>
          </a:ln>
        </p:spPr>
      </p:sp>
      <p:sp>
        <p:nvSpPr>
          <p:cNvPr id="30" name="">
            <a:extLst xmlns:a="http://schemas.openxmlformats.org/drawingml/2006/main">
              <a:ext uri="{FF2B5EF4-FFF2-40B4-BE49-F238E27FC236}">
                <a16:creationId xmlns:a16="http://schemas.microsoft.com/office/drawing/2014/main" id="{B3AE2C81-8020-4802-A6D8-38059DA23B7C}"/>
              </a:ext>
            </a:extLst>
          </p:cNvPr>
          <p:cNvSpPr>
            <a:spLocks xmlns:a="http://schemas.openxmlformats.org/drawingml/2006/main" noGrp="1"/>
          </p:cNvSpPr>
          <p:nvPr/>
        </p:nvSpPr>
        <p:spPr>
          <a:xfrm xmlns:a="http://schemas.openxmlformats.org/drawingml/2006/main">
            <a:off x="10344150" y="5543550"/>
            <a:ext cx="8382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3,200 ms</a:t>
            </a:r>
          </a:p>
        </p:txBody>
      </p:sp>
      <p:sp>
        <p:nvSpPr>
          <p:cNvPr id="31" name="">
            <a:extLst xmlns:a="http://schemas.openxmlformats.org/drawingml/2006/main">
              <a:ext uri="{FF2B5EF4-FFF2-40B4-BE49-F238E27FC236}">
                <a16:creationId xmlns:a16="http://schemas.microsoft.com/office/drawing/2014/main" id="{35F7D915-011B-4FC8-AE5F-D1C899DAFAB3}"/>
              </a:ext>
            </a:extLst>
          </p:cNvPr>
          <p:cNvSpPr>
            <a:spLocks xmlns:a="http://schemas.openxmlformats.org/drawingml/2006/main" noGrp="1"/>
          </p:cNvSpPr>
          <p:nvPr/>
        </p:nvSpPr>
        <p:spPr>
          <a:xfrm xmlns:a="http://schemas.openxmlformats.org/drawingml/2006/main">
            <a:off x="7410450" y="5791200"/>
            <a:ext cx="3352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825" b="1">
                <a:solidFill>
                  <a:srgbClr val="288DC1"/>
                </a:solidFill>
                <a:latin typeface="Aptos"/>
                <a:ea typeface="Aptos"/>
                <a:cs typeface="Aptos"/>
              </a:defRPr>
            </a:pPr>
            <a:r>
              <a:rPr sz="825" b="1">
                <a:solidFill>
                  <a:srgbClr val="288DC1"/>
                </a:solidFill>
                <a:latin typeface="Aptos"/>
                <a:ea typeface="Aptos"/>
                <a:cs typeface="Aptos"/>
              </a:rPr>
              <a:t>FIRST-PLAN LATENCY →</a:t>
            </a:r>
          </a:p>
        </p:txBody>
      </p:sp>
      <p:sp>
        <p:nvSpPr>
          <p:cNvPr id="32" name="">
            <a:extLst xmlns:a="http://schemas.openxmlformats.org/drawingml/2006/main">
              <a:ext uri="{FF2B5EF4-FFF2-40B4-BE49-F238E27FC236}">
                <a16:creationId xmlns:a16="http://schemas.microsoft.com/office/drawing/2014/main" id="{C04D199E-9E0E-4C36-B1F9-C3B64EC93C90}"/>
              </a:ext>
            </a:extLst>
          </p:cNvPr>
          <p:cNvSpPr>
            <a:spLocks xmlns:a="http://schemas.openxmlformats.org/drawingml/2006/main" noGrp="1"/>
          </p:cNvSpPr>
          <p:nvPr/>
        </p:nvSpPr>
        <p:spPr>
          <a:xfrm xmlns:a="http://schemas.openxmlformats.org/drawingml/2006/main">
            <a:off x="2696289"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3" name="">
            <a:extLst xmlns:a="http://schemas.openxmlformats.org/drawingml/2006/main">
              <a:ext uri="{FF2B5EF4-FFF2-40B4-BE49-F238E27FC236}">
                <a16:creationId xmlns:a16="http://schemas.microsoft.com/office/drawing/2014/main" id="{B628E3DE-F805-4DAB-BB82-DCFA440EFAEE}"/>
              </a:ext>
            </a:extLst>
          </p:cNvPr>
          <p:cNvSpPr>
            <a:spLocks xmlns:a="http://schemas.openxmlformats.org/drawingml/2006/main" noGrp="1"/>
          </p:cNvSpPr>
          <p:nvPr/>
        </p:nvSpPr>
        <p:spPr>
          <a:xfrm xmlns:a="http://schemas.openxmlformats.org/drawingml/2006/main">
            <a:off x="2877264" y="5029200"/>
            <a:ext cx="185737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0.8B</a:t>
            </a:r>
          </a:p>
        </p:txBody>
      </p:sp>
      <p:sp>
        <p:nvSpPr>
          <p:cNvPr id="34" name="">
            <a:extLst xmlns:a="http://schemas.openxmlformats.org/drawingml/2006/main">
              <a:ext uri="{FF2B5EF4-FFF2-40B4-BE49-F238E27FC236}">
                <a16:creationId xmlns:a16="http://schemas.microsoft.com/office/drawing/2014/main" id="{EA7D3CE2-E2DD-41D5-9113-E808FB034358}"/>
              </a:ext>
            </a:extLst>
          </p:cNvPr>
          <p:cNvSpPr>
            <a:spLocks xmlns:a="http://schemas.openxmlformats.org/drawingml/2006/main" noGrp="1"/>
          </p:cNvSpPr>
          <p:nvPr/>
        </p:nvSpPr>
        <p:spPr>
          <a:xfrm xmlns:a="http://schemas.openxmlformats.org/drawingml/2006/main">
            <a:off x="2877264" y="5219700"/>
            <a:ext cx="1857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153 ms · fabricated facts</a:t>
            </a:r>
          </a:p>
        </p:txBody>
      </p:sp>
      <p:sp>
        <p:nvSpPr>
          <p:cNvPr id="35" name="">
            <a:extLst xmlns:a="http://schemas.openxmlformats.org/drawingml/2006/main">
              <a:ext uri="{FF2B5EF4-FFF2-40B4-BE49-F238E27FC236}">
                <a16:creationId xmlns:a16="http://schemas.microsoft.com/office/drawing/2014/main" id="{EF781697-D0F9-4394-B7BC-39A798D1F05F}"/>
              </a:ext>
            </a:extLst>
          </p:cNvPr>
          <p:cNvSpPr>
            <a:spLocks xmlns:a="http://schemas.openxmlformats.org/drawingml/2006/main" noGrp="1"/>
          </p:cNvSpPr>
          <p:nvPr/>
        </p:nvSpPr>
        <p:spPr>
          <a:xfrm xmlns:a="http://schemas.openxmlformats.org/drawingml/2006/main">
            <a:off x="5582841" y="5343525"/>
            <a:ext cx="171450" cy="171450"/>
          </a:xfrm>
          <a:prstGeom xmlns:a="http://schemas.openxmlformats.org/drawingml/2006/main" prst="ellipse">
            <a:avLst/>
          </a:prstGeom>
          <a:solidFill xmlns:a="http://schemas.openxmlformats.org/drawingml/2006/main">
            <a:srgbClr val="D96C5F"/>
          </a:solidFill>
          <a:ln xmlns:a="http://schemas.openxmlformats.org/drawingml/2006/main" w="14288">
            <a:solidFill>
              <a:srgbClr val="FFF8EA"/>
            </a:solidFill>
            <a:prstDash val="solid"/>
          </a:ln>
        </p:spPr>
      </p:sp>
      <p:sp>
        <p:nvSpPr>
          <p:cNvPr id="36" name="">
            <a:extLst xmlns:a="http://schemas.openxmlformats.org/drawingml/2006/main">
              <a:ext uri="{FF2B5EF4-FFF2-40B4-BE49-F238E27FC236}">
                <a16:creationId xmlns:a16="http://schemas.microsoft.com/office/drawing/2014/main" id="{F8C5EB5D-8186-458A-BC7E-526A8693EA1F}"/>
              </a:ext>
            </a:extLst>
          </p:cNvPr>
          <p:cNvSpPr>
            <a:spLocks xmlns:a="http://schemas.openxmlformats.org/drawingml/2006/main" noGrp="1"/>
          </p:cNvSpPr>
          <p:nvPr/>
        </p:nvSpPr>
        <p:spPr>
          <a:xfrm xmlns:a="http://schemas.openxmlformats.org/drawingml/2006/main">
            <a:off x="4201716" y="47625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1B</a:t>
            </a:r>
          </a:p>
        </p:txBody>
      </p:sp>
      <p:sp>
        <p:nvSpPr>
          <p:cNvPr id="37" name="">
            <a:extLst xmlns:a="http://schemas.openxmlformats.org/drawingml/2006/main">
              <a:ext uri="{FF2B5EF4-FFF2-40B4-BE49-F238E27FC236}">
                <a16:creationId xmlns:a16="http://schemas.microsoft.com/office/drawing/2014/main" id="{ED220F0E-5912-41B1-9ACC-21B1975550A1}"/>
              </a:ext>
            </a:extLst>
          </p:cNvPr>
          <p:cNvSpPr>
            <a:spLocks xmlns:a="http://schemas.openxmlformats.org/drawingml/2006/main" noGrp="1"/>
          </p:cNvSpPr>
          <p:nvPr/>
        </p:nvSpPr>
        <p:spPr>
          <a:xfrm xmlns:a="http://schemas.openxmlformats.org/drawingml/2006/main">
            <a:off x="4201716" y="49530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760–1,750 ms · schema/policy fails</a:t>
            </a:r>
          </a:p>
        </p:txBody>
      </p:sp>
      <p:sp>
        <p:nvSpPr>
          <p:cNvPr id="38" name="">
            <a:extLst xmlns:a="http://schemas.openxmlformats.org/drawingml/2006/main">
              <a:ext uri="{FF2B5EF4-FFF2-40B4-BE49-F238E27FC236}">
                <a16:creationId xmlns:a16="http://schemas.microsoft.com/office/drawing/2014/main" id="{9104D47C-7375-469A-8CED-240330A8C906}"/>
              </a:ext>
            </a:extLst>
          </p:cNvPr>
          <p:cNvSpPr>
            <a:spLocks xmlns:a="http://schemas.openxmlformats.org/drawingml/2006/main" noGrp="1"/>
          </p:cNvSpPr>
          <p:nvPr/>
        </p:nvSpPr>
        <p:spPr>
          <a:xfrm xmlns:a="http://schemas.openxmlformats.org/drawingml/2006/main">
            <a:off x="6546771" y="4518025"/>
            <a:ext cx="171450" cy="171450"/>
          </a:xfrm>
          <a:prstGeom xmlns:a="http://schemas.openxmlformats.org/drawingml/2006/main" prst="ellipse">
            <a:avLst/>
          </a:prstGeom>
          <a:solidFill xmlns:a="http://schemas.openxmlformats.org/drawingml/2006/main">
            <a:srgbClr val="288DC1"/>
          </a:solidFill>
          <a:ln xmlns:a="http://schemas.openxmlformats.org/drawingml/2006/main" w="14288">
            <a:solidFill>
              <a:srgbClr val="FFF8EA"/>
            </a:solidFill>
            <a:prstDash val="solid"/>
          </a:ln>
        </p:spPr>
      </p:sp>
      <p:sp>
        <p:nvSpPr>
          <p:cNvPr id="39" name="">
            <a:extLst xmlns:a="http://schemas.openxmlformats.org/drawingml/2006/main">
              <a:ext uri="{FF2B5EF4-FFF2-40B4-BE49-F238E27FC236}">
                <a16:creationId xmlns:a16="http://schemas.microsoft.com/office/drawing/2014/main" id="{F21ABC10-AA18-4B44-9302-0B7AA86A823C}"/>
              </a:ext>
            </a:extLst>
          </p:cNvPr>
          <p:cNvSpPr>
            <a:spLocks xmlns:a="http://schemas.openxmlformats.org/drawingml/2006/main" noGrp="1"/>
          </p:cNvSpPr>
          <p:nvPr/>
        </p:nvSpPr>
        <p:spPr>
          <a:xfrm xmlns:a="http://schemas.openxmlformats.org/drawingml/2006/main">
            <a:off x="6727746" y="4127500"/>
            <a:ext cx="2143125"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Qwen 4B</a:t>
            </a:r>
          </a:p>
        </p:txBody>
      </p:sp>
      <p:sp>
        <p:nvSpPr>
          <p:cNvPr id="40" name="">
            <a:extLst xmlns:a="http://schemas.openxmlformats.org/drawingml/2006/main">
              <a:ext uri="{FF2B5EF4-FFF2-40B4-BE49-F238E27FC236}">
                <a16:creationId xmlns:a16="http://schemas.microsoft.com/office/drawing/2014/main" id="{FEA2B41D-7E6E-405D-BDB4-1F51BC7ECFF7}"/>
              </a:ext>
            </a:extLst>
          </p:cNvPr>
          <p:cNvSpPr>
            <a:spLocks xmlns:a="http://schemas.openxmlformats.org/drawingml/2006/main" noGrp="1"/>
          </p:cNvSpPr>
          <p:nvPr/>
        </p:nvSpPr>
        <p:spPr>
          <a:xfrm xmlns:a="http://schemas.openxmlformats.org/drawingml/2006/main">
            <a:off x="6727746" y="4318000"/>
            <a:ext cx="214312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1,623 ms · relevant, ungated</a:t>
            </a:r>
          </a:p>
        </p:txBody>
      </p:sp>
      <p:sp>
        <p:nvSpPr>
          <p:cNvPr id="41" name="">
            <a:extLst xmlns:a="http://schemas.openxmlformats.org/drawingml/2006/main">
              <a:ext uri="{FF2B5EF4-FFF2-40B4-BE49-F238E27FC236}">
                <a16:creationId xmlns:a16="http://schemas.microsoft.com/office/drawing/2014/main" id="{FDDB1C1C-6ECC-4796-AEDF-E3B48065AC03}"/>
              </a:ext>
            </a:extLst>
          </p:cNvPr>
          <p:cNvSpPr>
            <a:spLocks xmlns:a="http://schemas.openxmlformats.org/drawingml/2006/main" noGrp="1"/>
          </p:cNvSpPr>
          <p:nvPr/>
        </p:nvSpPr>
        <p:spPr>
          <a:xfrm xmlns:a="http://schemas.openxmlformats.org/drawingml/2006/main">
            <a:off x="10153650" y="3692525"/>
            <a:ext cx="171450" cy="171450"/>
          </a:xfrm>
          <a:prstGeom xmlns:a="http://schemas.openxmlformats.org/drawingml/2006/main" prst="ellipse">
            <a:avLst/>
          </a:prstGeom>
          <a:solidFill xmlns:a="http://schemas.openxmlformats.org/drawingml/2006/main">
            <a:srgbClr val="268C82"/>
          </a:solidFill>
          <a:ln xmlns:a="http://schemas.openxmlformats.org/drawingml/2006/main" w="14288">
            <a:solidFill>
              <a:srgbClr val="FFF8EA"/>
            </a:solidFill>
            <a:prstDash val="solid"/>
          </a:ln>
        </p:spPr>
      </p:sp>
      <p:sp>
        <p:nvSpPr>
          <p:cNvPr id="42" name="">
            <a:extLst xmlns:a="http://schemas.openxmlformats.org/drawingml/2006/main">
              <a:ext uri="{FF2B5EF4-FFF2-40B4-BE49-F238E27FC236}">
                <a16:creationId xmlns:a16="http://schemas.microsoft.com/office/drawing/2014/main" id="{46E59826-7D18-4A44-B008-8739A6AC40CB}"/>
              </a:ext>
            </a:extLst>
          </p:cNvPr>
          <p:cNvSpPr>
            <a:spLocks xmlns:a="http://schemas.openxmlformats.org/drawingml/2006/main" noGrp="1"/>
          </p:cNvSpPr>
          <p:nvPr/>
        </p:nvSpPr>
        <p:spPr>
          <a:xfrm xmlns:a="http://schemas.openxmlformats.org/drawingml/2006/main">
            <a:off x="7877175" y="3349625"/>
            <a:ext cx="2286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Gemma 4B</a:t>
            </a:r>
          </a:p>
        </p:txBody>
      </p:sp>
      <p:sp>
        <p:nvSpPr>
          <p:cNvPr id="43" name="">
            <a:extLst xmlns:a="http://schemas.openxmlformats.org/drawingml/2006/main">
              <a:ext uri="{FF2B5EF4-FFF2-40B4-BE49-F238E27FC236}">
                <a16:creationId xmlns:a16="http://schemas.microsoft.com/office/drawing/2014/main" id="{B5CDE017-A1BB-4E13-BBFB-8B027093BA46}"/>
              </a:ext>
            </a:extLst>
          </p:cNvPr>
          <p:cNvSpPr>
            <a:spLocks xmlns:a="http://schemas.openxmlformats.org/drawingml/2006/main" noGrp="1"/>
          </p:cNvSpPr>
          <p:nvPr/>
        </p:nvSpPr>
        <p:spPr>
          <a:xfrm xmlns:a="http://schemas.openxmlformats.org/drawingml/2006/main">
            <a:off x="7877175" y="3540125"/>
            <a:ext cx="2286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2,858–3,142 ms · grounded sample</a:t>
            </a:r>
          </a:p>
        </p:txBody>
      </p:sp>
      <p:sp>
        <p:nvSpPr>
          <p:cNvPr id="44" name="">
            <a:extLst xmlns:a="http://schemas.openxmlformats.org/drawingml/2006/main">
              <a:ext uri="{FF2B5EF4-FFF2-40B4-BE49-F238E27FC236}">
                <a16:creationId xmlns:a16="http://schemas.microsoft.com/office/drawing/2014/main" id="{67023A11-8C13-4FD2-8EDF-69EAAB5E7CE5}"/>
              </a:ext>
            </a:extLst>
          </p:cNvPr>
          <p:cNvSpPr>
            <a:spLocks xmlns:a="http://schemas.openxmlformats.org/drawingml/2006/main" noGrp="1"/>
          </p:cNvSpPr>
          <p:nvPr/>
        </p:nvSpPr>
        <p:spPr>
          <a:xfrm xmlns:a="http://schemas.openxmlformats.org/drawingml/2006/main">
            <a:off x="5191125" y="2828925"/>
            <a:ext cx="247650" cy="247650"/>
          </a:xfrm>
          <a:prstGeom xmlns:a="http://schemas.openxmlformats.org/drawingml/2006/main" prst="ellipse">
            <a:avLst/>
          </a:prstGeom>
          <a:solidFill xmlns:a="http://schemas.openxmlformats.org/drawingml/2006/main">
            <a:srgbClr val="268C82"/>
          </a:solidFill>
          <a:ln xmlns:a="http://schemas.openxmlformats.org/drawingml/2006/main" w="28575">
            <a:solidFill>
              <a:srgbClr val="FFF8EA"/>
            </a:solidFill>
            <a:prstDash val="solid"/>
          </a:ln>
        </p:spPr>
      </p:sp>
      <p:sp>
        <p:nvSpPr>
          <p:cNvPr id="45" name="">
            <a:extLst xmlns:a="http://schemas.openxmlformats.org/drawingml/2006/main">
              <a:ext uri="{FF2B5EF4-FFF2-40B4-BE49-F238E27FC236}">
                <a16:creationId xmlns:a16="http://schemas.microsoft.com/office/drawing/2014/main" id="{02F4217C-A3EA-4E82-8DAE-8CC5313321FC}"/>
              </a:ext>
            </a:extLst>
          </p:cNvPr>
          <p:cNvSpPr>
            <a:spLocks xmlns:a="http://schemas.openxmlformats.org/drawingml/2006/main" noGrp="1"/>
          </p:cNvSpPr>
          <p:nvPr/>
        </p:nvSpPr>
        <p:spPr>
          <a:xfrm xmlns:a="http://schemas.openxmlformats.org/drawingml/2006/main">
            <a:off x="5448300" y="2590800"/>
            <a:ext cx="2476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a:ea typeface="Aptos"/>
                <a:cs typeface="Aptos"/>
              </a:defRPr>
            </a:pPr>
            <a:r>
              <a:rPr sz="1125" b="1">
                <a:solidFill>
                  <a:srgbClr val="102A43"/>
                </a:solidFill>
                <a:latin typeface="Aptos"/>
                <a:ea typeface="Aptos"/>
                <a:cs typeface="Aptos"/>
              </a:rPr>
              <a:t>Gemini Flash Lite</a:t>
            </a:r>
          </a:p>
        </p:txBody>
      </p:sp>
      <p:sp>
        <p:nvSpPr>
          <p:cNvPr id="46" name="">
            <a:extLst xmlns:a="http://schemas.openxmlformats.org/drawingml/2006/main">
              <a:ext uri="{FF2B5EF4-FFF2-40B4-BE49-F238E27FC236}">
                <a16:creationId xmlns:a16="http://schemas.microsoft.com/office/drawing/2014/main" id="{D762BD02-B5A4-4DB4-BE9E-9F3A7E6B645E}"/>
              </a:ext>
            </a:extLst>
          </p:cNvPr>
          <p:cNvSpPr>
            <a:spLocks xmlns:a="http://schemas.openxmlformats.org/drawingml/2006/main" noGrp="1"/>
          </p:cNvSpPr>
          <p:nvPr/>
        </p:nvSpPr>
        <p:spPr>
          <a:xfrm xmlns:a="http://schemas.openxmlformats.org/drawingml/2006/main">
            <a:off x="5448300" y="27813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a:ea typeface="Aptos"/>
                <a:cs typeface="Aptos"/>
              </a:defRPr>
            </a:pPr>
            <a:r>
              <a:rPr sz="900" b="0">
                <a:solidFill>
                  <a:srgbClr val="4B687A"/>
                </a:solidFill>
                <a:latin typeface="Aptos"/>
                <a:ea typeface="Aptos"/>
                <a:cs typeface="Aptos"/>
              </a:rPr>
              <a:t>1,120 ms · 132/136 checks</a:t>
            </a:r>
          </a:p>
        </p:txBody>
      </p:sp>
      <p:sp>
        <p:nvSpPr>
          <p:cNvPr id="47" name="">
            <a:extLst xmlns:a="http://schemas.openxmlformats.org/drawingml/2006/main">
              <a:ext uri="{FF2B5EF4-FFF2-40B4-BE49-F238E27FC236}">
                <a16:creationId xmlns:a16="http://schemas.microsoft.com/office/drawing/2014/main" id="{96A87BF8-3376-424F-90AB-FDA648B4BE26}"/>
              </a:ext>
            </a:extLst>
          </p:cNvPr>
          <p:cNvSpPr>
            <a:spLocks xmlns:a="http://schemas.openxmlformats.org/drawingml/2006/main" noGrp="1"/>
          </p:cNvSpPr>
          <p:nvPr/>
        </p:nvSpPr>
        <p:spPr>
          <a:xfrm xmlns:a="http://schemas.openxmlformats.org/drawingml/2006/main">
            <a:off x="1485900" y="6019800"/>
            <a:ext cx="9220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Gemini was the only option that paired ~1.1 s planning with a gated grounded-response eval.</a:t>
            </a:r>
          </a:p>
        </p:txBody>
      </p:sp>
      <p:sp>
        <p:nvSpPr>
          <p:cNvPr id="48" name="">
            <a:extLst xmlns:a="http://schemas.openxmlformats.org/drawingml/2006/main">
              <a:ext uri="{FF2B5EF4-FFF2-40B4-BE49-F238E27FC236}">
                <a16:creationId xmlns:a16="http://schemas.microsoft.com/office/drawing/2014/main" id="{3C922FB1-1362-4D83-8FCC-842E12BA7BF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9055120"/>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ab9c07f1e4d94c1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83D783C-9E2B-4A9A-8A41-81FB7D1339F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8C9E71E-D416-4787-A0BE-50DBCC9EAAE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5DE7E2F6-2743-4677-BDA2-EDB359924BA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8309C53-9864-40AF-A24E-EC2229EB70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151E15FF-E8E1-4726-83B2-D5AB218BD19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7A3F553-E8CF-4D1E-9942-468D6DD24462}"/>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087FBA70-E4A6-4A1E-9B2D-B07FAD2AB85E}"/>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FIRST-PLAN LATENCY</a:t>
            </a:r>
          </a:p>
        </p:txBody>
      </p:sp>
      <p:sp>
        <p:nvSpPr>
          <p:cNvPr id="9" name="">
            <a:extLst xmlns:a="http://schemas.openxmlformats.org/drawingml/2006/main">
              <a:ext uri="{FF2B5EF4-FFF2-40B4-BE49-F238E27FC236}">
                <a16:creationId xmlns:a16="http://schemas.microsoft.com/office/drawing/2014/main" id="{36573C0A-1AF7-4304-B615-8913CF975C6B}"/>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D6498F5E-867A-4EE9-9EE4-079E3052D9D6}"/>
              </a:ext>
            </a:extLst>
          </p:cNvPr>
          <p:cNvSpPr>
            <a:spLocks xmlns:a="http://schemas.openxmlformats.org/drawingml/2006/main" noGrp="1"/>
          </p:cNvSpPr>
          <p:nvPr/>
        </p:nvSpPr>
        <p:spPr>
          <a:xfrm xmlns:a="http://schemas.openxmlformats.org/drawingml/2006/main">
            <a:off x="781050" y="23431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ED0AB8CB-F1C7-427C-A4B2-D9F3E2EA7098}"/>
              </a:ext>
            </a:extLst>
          </p:cNvPr>
          <p:cNvSpPr>
            <a:spLocks xmlns:a="http://schemas.openxmlformats.org/drawingml/2006/main" noGrp="1"/>
          </p:cNvSpPr>
          <p:nvPr/>
        </p:nvSpPr>
        <p:spPr>
          <a:xfrm xmlns:a="http://schemas.openxmlformats.org/drawingml/2006/main">
            <a:off x="952500" y="2343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50AEAEAE-5C70-4412-A96D-BF0496EF7F16}"/>
              </a:ext>
            </a:extLst>
          </p:cNvPr>
          <p:cNvSpPr>
            <a:spLocks xmlns:a="http://schemas.openxmlformats.org/drawingml/2006/main" noGrp="1"/>
          </p:cNvSpPr>
          <p:nvPr/>
        </p:nvSpPr>
        <p:spPr>
          <a:xfrm xmlns:a="http://schemas.openxmlformats.org/drawingml/2006/main">
            <a:off x="3886200" y="2343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713FBCD0-FDE7-45B8-AF3E-64DEA8B5F820}"/>
              </a:ext>
            </a:extLst>
          </p:cNvPr>
          <p:cNvSpPr>
            <a:spLocks xmlns:a="http://schemas.openxmlformats.org/drawingml/2006/main" noGrp="1"/>
          </p:cNvSpPr>
          <p:nvPr/>
        </p:nvSpPr>
        <p:spPr>
          <a:xfrm xmlns:a="http://schemas.openxmlformats.org/drawingml/2006/main">
            <a:off x="5953125" y="2343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fast, invented facts</a:t>
            </a:r>
          </a:p>
        </p:txBody>
      </p:sp>
      <p:sp>
        <p:nvSpPr>
          <p:cNvPr id="14" name="">
            <a:extLst xmlns:a="http://schemas.openxmlformats.org/drawingml/2006/main">
              <a:ext uri="{FF2B5EF4-FFF2-40B4-BE49-F238E27FC236}">
                <a16:creationId xmlns:a16="http://schemas.microsoft.com/office/drawing/2014/main" id="{94B2FE63-B18C-4B15-A77D-8CA9866B6285}"/>
              </a:ext>
            </a:extLst>
          </p:cNvPr>
          <p:cNvSpPr>
            <a:spLocks xmlns:a="http://schemas.openxmlformats.org/drawingml/2006/main" noGrp="1"/>
          </p:cNvSpPr>
          <p:nvPr/>
        </p:nvSpPr>
        <p:spPr>
          <a:xfrm xmlns:a="http://schemas.openxmlformats.org/drawingml/2006/main">
            <a:off x="781050" y="30099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D73C1D5-6444-497A-AFB3-6F94237F9773}"/>
              </a:ext>
            </a:extLst>
          </p:cNvPr>
          <p:cNvSpPr>
            <a:spLocks xmlns:a="http://schemas.openxmlformats.org/drawingml/2006/main" noGrp="1"/>
          </p:cNvSpPr>
          <p:nvPr/>
        </p:nvSpPr>
        <p:spPr>
          <a:xfrm xmlns:a="http://schemas.openxmlformats.org/drawingml/2006/main">
            <a:off x="952500" y="30099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D7F9058B-5BC7-4C01-A4DD-F584DDEEDCAD}"/>
              </a:ext>
            </a:extLst>
          </p:cNvPr>
          <p:cNvSpPr>
            <a:spLocks xmlns:a="http://schemas.openxmlformats.org/drawingml/2006/main" noGrp="1"/>
          </p:cNvSpPr>
          <p:nvPr/>
        </p:nvSpPr>
        <p:spPr>
          <a:xfrm xmlns:a="http://schemas.openxmlformats.org/drawingml/2006/main">
            <a:off x="3886200" y="30099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F79AAB1C-FBF6-4448-A02F-34CE45B87FA9}"/>
              </a:ext>
            </a:extLst>
          </p:cNvPr>
          <p:cNvSpPr>
            <a:spLocks xmlns:a="http://schemas.openxmlformats.org/drawingml/2006/main" noGrp="1"/>
          </p:cNvSpPr>
          <p:nvPr/>
        </p:nvSpPr>
        <p:spPr>
          <a:xfrm xmlns:a="http://schemas.openxmlformats.org/drawingml/2006/main">
            <a:off x="5953125" y="30099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1E03C4B1-97BA-4D40-8930-D8C195F47951}"/>
              </a:ext>
            </a:extLst>
          </p:cNvPr>
          <p:cNvSpPr>
            <a:spLocks xmlns:a="http://schemas.openxmlformats.org/drawingml/2006/main" noGrp="1"/>
          </p:cNvSpPr>
          <p:nvPr/>
        </p:nvSpPr>
        <p:spPr>
          <a:xfrm xmlns:a="http://schemas.openxmlformats.org/drawingml/2006/main">
            <a:off x="781050" y="367665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B8AFE9D0-959E-43F8-8586-B6E02D158987}"/>
              </a:ext>
            </a:extLst>
          </p:cNvPr>
          <p:cNvSpPr>
            <a:spLocks xmlns:a="http://schemas.openxmlformats.org/drawingml/2006/main" noGrp="1"/>
          </p:cNvSpPr>
          <p:nvPr/>
        </p:nvSpPr>
        <p:spPr>
          <a:xfrm xmlns:a="http://schemas.openxmlformats.org/drawingml/2006/main">
            <a:off x="952500" y="36766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E73137C6-417A-4A97-9185-F06348E71E80}"/>
              </a:ext>
            </a:extLst>
          </p:cNvPr>
          <p:cNvSpPr>
            <a:spLocks xmlns:a="http://schemas.openxmlformats.org/drawingml/2006/main" noGrp="1"/>
          </p:cNvSpPr>
          <p:nvPr/>
        </p:nvSpPr>
        <p:spPr>
          <a:xfrm xmlns:a="http://schemas.openxmlformats.org/drawingml/2006/main">
            <a:off x="3886200" y="36766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1C038C64-4165-42CF-A43C-93C83145120B}"/>
              </a:ext>
            </a:extLst>
          </p:cNvPr>
          <p:cNvSpPr>
            <a:spLocks xmlns:a="http://schemas.openxmlformats.org/drawingml/2006/main" noGrp="1"/>
          </p:cNvSpPr>
          <p:nvPr/>
        </p:nvSpPr>
        <p:spPr>
          <a:xfrm xmlns:a="http://schemas.openxmlformats.org/drawingml/2006/main">
            <a:off x="5953125" y="36766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D96C5F"/>
                </a:solidFill>
                <a:latin typeface="Aptos"/>
                <a:ea typeface="Aptos"/>
                <a:cs typeface="Aptos"/>
              </a:defRPr>
            </a:pPr>
            <a:r>
              <a:rPr sz="120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60060B7F-1BDB-4012-A16F-70A1E70CBDDC}"/>
              </a:ext>
            </a:extLst>
          </p:cNvPr>
          <p:cNvSpPr>
            <a:spLocks xmlns:a="http://schemas.openxmlformats.org/drawingml/2006/main" noGrp="1"/>
          </p:cNvSpPr>
          <p:nvPr/>
        </p:nvSpPr>
        <p:spPr>
          <a:xfrm xmlns:a="http://schemas.openxmlformats.org/drawingml/2006/main">
            <a:off x="781050" y="4343400"/>
            <a:ext cx="10648950" cy="552450"/>
          </a:xfrm>
          <a:prstGeom xmlns:a="http://schemas.openxmlformats.org/drawingml/2006/main" prst="roundRect">
            <a:avLst>
              <a:gd name="adj" fmla="val 24138"/>
            </a:avLst>
          </a:prstGeom>
          <a:solidFill xmlns:a="http://schemas.openxmlformats.org/drawingml/2006/main">
            <a:srgbClr val="FFF8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0065F0F7-FE05-4912-A1B6-78CE81AA58E7}"/>
              </a:ext>
            </a:extLst>
          </p:cNvPr>
          <p:cNvSpPr>
            <a:spLocks xmlns:a="http://schemas.openxmlformats.org/drawingml/2006/main" noGrp="1"/>
          </p:cNvSpPr>
          <p:nvPr/>
        </p:nvSpPr>
        <p:spPr>
          <a:xfrm xmlns:a="http://schemas.openxmlformats.org/drawingml/2006/main">
            <a:off x="952500" y="434340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102A43"/>
                </a:solidFill>
                <a:latin typeface="Aptos"/>
                <a:ea typeface="Aptos"/>
                <a:cs typeface="Aptos"/>
              </a:defRPr>
            </a:pPr>
            <a:r>
              <a:rPr sz="120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245E42E7-CE90-421E-A480-FC1798D1507E}"/>
              </a:ext>
            </a:extLst>
          </p:cNvPr>
          <p:cNvSpPr>
            <a:spLocks xmlns:a="http://schemas.openxmlformats.org/drawingml/2006/main" noGrp="1"/>
          </p:cNvSpPr>
          <p:nvPr/>
        </p:nvSpPr>
        <p:spPr>
          <a:xfrm xmlns:a="http://schemas.openxmlformats.org/drawingml/2006/main">
            <a:off x="3886200" y="434340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102A43"/>
                </a:solidFill>
                <a:latin typeface="Aptos Mono"/>
                <a:ea typeface="Aptos Mono"/>
                <a:cs typeface="Aptos Mono"/>
              </a:defRPr>
            </a:pPr>
            <a:r>
              <a:rPr sz="112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D942359B-1998-4506-9936-FC96689B9CEA}"/>
              </a:ext>
            </a:extLst>
          </p:cNvPr>
          <p:cNvSpPr>
            <a:spLocks xmlns:a="http://schemas.openxmlformats.org/drawingml/2006/main" noGrp="1"/>
          </p:cNvSpPr>
          <p:nvPr/>
        </p:nvSpPr>
        <p:spPr>
          <a:xfrm xmlns:a="http://schemas.openxmlformats.org/drawingml/2006/main">
            <a:off x="5953125" y="434340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0">
                <a:solidFill>
                  <a:srgbClr val="102A43"/>
                </a:solidFill>
                <a:latin typeface="Aptos"/>
                <a:ea typeface="Aptos"/>
                <a:cs typeface="Aptos"/>
              </a:defRPr>
            </a:pPr>
            <a:r>
              <a:rPr sz="1200" b="0">
                <a:solidFill>
                  <a:srgbClr val="102A43"/>
                </a:solidFill>
                <a:latin typeface="Aptos"/>
                <a:ea typeface="Aptos"/>
                <a:cs typeface="Aptos"/>
              </a:rPr>
              <a:t>grounded sample, slower than Gemini</a:t>
            </a:r>
          </a:p>
        </p:txBody>
      </p:sp>
      <p:sp>
        <p:nvSpPr>
          <p:cNvPr id="26" name="">
            <a:extLst xmlns:a="http://schemas.openxmlformats.org/drawingml/2006/main">
              <a:ext uri="{FF2B5EF4-FFF2-40B4-BE49-F238E27FC236}">
                <a16:creationId xmlns:a16="http://schemas.microsoft.com/office/drawing/2014/main" id="{254CA8FF-E8B1-448F-A448-146B3FEDB617}"/>
              </a:ext>
            </a:extLst>
          </p:cNvPr>
          <p:cNvSpPr>
            <a:spLocks xmlns:a="http://schemas.openxmlformats.org/drawingml/2006/main" noGrp="1"/>
          </p:cNvSpPr>
          <p:nvPr/>
        </p:nvSpPr>
        <p:spPr>
          <a:xfrm xmlns:a="http://schemas.openxmlformats.org/drawingml/2006/main">
            <a:off x="781050" y="5010150"/>
            <a:ext cx="10648950" cy="552450"/>
          </a:xfrm>
          <a:prstGeom xmlns:a="http://schemas.openxmlformats.org/drawingml/2006/main" prst="roundRect">
            <a:avLst>
              <a:gd name="adj" fmla="val 24138"/>
            </a:avLst>
          </a:prstGeom>
          <a:solidFill xmlns:a="http://schemas.openxmlformats.org/drawingml/2006/main">
            <a:srgbClr val="DDEEEA"/>
          </a:solidFill>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3C1FE4E2-556D-4CEA-B96B-B3A85823C598}"/>
              </a:ext>
            </a:extLst>
          </p:cNvPr>
          <p:cNvSpPr>
            <a:spLocks xmlns:a="http://schemas.openxmlformats.org/drawingml/2006/main" noGrp="1"/>
          </p:cNvSpPr>
          <p:nvPr/>
        </p:nvSpPr>
        <p:spPr>
          <a:xfrm xmlns:a="http://schemas.openxmlformats.org/drawingml/2006/main">
            <a:off x="952500" y="5010150"/>
            <a:ext cx="26289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Gemini Flash Lite</a:t>
            </a:r>
          </a:p>
        </p:txBody>
      </p:sp>
      <p:sp>
        <p:nvSpPr>
          <p:cNvPr id="28" name="">
            <a:extLst xmlns:a="http://schemas.openxmlformats.org/drawingml/2006/main">
              <a:ext uri="{FF2B5EF4-FFF2-40B4-BE49-F238E27FC236}">
                <a16:creationId xmlns:a16="http://schemas.microsoft.com/office/drawing/2014/main" id="{A33196F4-F9CF-45DC-A3DF-B35CCD4D2C2C}"/>
              </a:ext>
            </a:extLst>
          </p:cNvPr>
          <p:cNvSpPr>
            <a:spLocks xmlns:a="http://schemas.openxmlformats.org/drawingml/2006/main" noGrp="1"/>
          </p:cNvSpPr>
          <p:nvPr/>
        </p:nvSpPr>
        <p:spPr>
          <a:xfrm xmlns:a="http://schemas.openxmlformats.org/drawingml/2006/main">
            <a:off x="3886200" y="5010150"/>
            <a:ext cx="171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68C82"/>
                </a:solidFill>
                <a:latin typeface="Aptos Mono"/>
                <a:ea typeface="Aptos Mono"/>
                <a:cs typeface="Aptos Mono"/>
              </a:defRPr>
            </a:pPr>
            <a:r>
              <a:rPr sz="1125" b="1">
                <a:solidFill>
                  <a:srgbClr val="268C82"/>
                </a:solidFill>
                <a:latin typeface="Aptos Mono"/>
                <a:ea typeface="Aptos Mono"/>
                <a:cs typeface="Aptos Mono"/>
              </a:rPr>
              <a:t>1,120 ms</a:t>
            </a:r>
          </a:p>
        </p:txBody>
      </p:sp>
      <p:sp>
        <p:nvSpPr>
          <p:cNvPr id="29" name="">
            <a:extLst xmlns:a="http://schemas.openxmlformats.org/drawingml/2006/main">
              <a:ext uri="{FF2B5EF4-FFF2-40B4-BE49-F238E27FC236}">
                <a16:creationId xmlns:a16="http://schemas.microsoft.com/office/drawing/2014/main" id="{E6BA0CCD-EF1D-4E0B-A120-66E7CB385FA7}"/>
              </a:ext>
            </a:extLst>
          </p:cNvPr>
          <p:cNvSpPr>
            <a:spLocks xmlns:a="http://schemas.openxmlformats.org/drawingml/2006/main" noGrp="1"/>
          </p:cNvSpPr>
          <p:nvPr/>
        </p:nvSpPr>
        <p:spPr>
          <a:xfrm xmlns:a="http://schemas.openxmlformats.org/drawingml/2006/main">
            <a:off x="5953125" y="5010150"/>
            <a:ext cx="5238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00" b="1">
                <a:solidFill>
                  <a:srgbClr val="268C82"/>
                </a:solidFill>
                <a:latin typeface="Aptos"/>
                <a:ea typeface="Aptos"/>
                <a:cs typeface="Aptos"/>
              </a:defRPr>
            </a:pPr>
            <a:r>
              <a:rPr sz="1200" b="1">
                <a:solidFill>
                  <a:srgbClr val="268C82"/>
                </a:solidFill>
                <a:latin typeface="Aptos"/>
                <a:ea typeface="Aptos"/>
                <a:cs typeface="Aptos"/>
              </a:rPr>
              <a:t>132/136 grounded-policy checks · chosen</a:t>
            </a:r>
          </a:p>
        </p:txBody>
      </p:sp>
      <p:sp>
        <p:nvSpPr>
          <p:cNvPr id="30" name="">
            <a:extLst xmlns:a="http://schemas.openxmlformats.org/drawingml/2006/main">
              <a:ext uri="{FF2B5EF4-FFF2-40B4-BE49-F238E27FC236}">
                <a16:creationId xmlns:a16="http://schemas.microsoft.com/office/drawing/2014/main" id="{25FECB95-94D3-42E3-A05F-B9896CCC8D0D}"/>
              </a:ext>
            </a:extLst>
          </p:cNvPr>
          <p:cNvSpPr>
            <a:spLocks xmlns:a="http://schemas.openxmlformats.org/drawingml/2006/main" noGrp="1"/>
          </p:cNvSpPr>
          <p:nvPr/>
        </p:nvSpPr>
        <p:spPr>
          <a:xfrm xmlns:a="http://schemas.openxmlformats.org/drawingml/2006/main">
            <a:off x="1428750" y="5867400"/>
            <a:ext cx="933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268C82"/>
                </a:solidFill>
                <a:latin typeface="Aptos"/>
                <a:ea typeface="Aptos"/>
                <a:cs typeface="Aptos"/>
              </a:defRPr>
            </a:pPr>
            <a:r>
              <a:rPr sz="1200" b="1">
                <a:solidFill>
                  <a:srgbClr val="268C82"/>
                </a:solidFill>
                <a:latin typeface="Aptos"/>
                <a:ea typeface="Aptos"/>
                <a:cs typeface="Aptos"/>
              </a:rPr>
              <a:t>Chosen: ~1.1 s planning + 132/136 grounded-policy checks.</a:t>
            </a:r>
          </a:p>
        </p:txBody>
      </p:sp>
      <p:sp>
        <p:nvSpPr>
          <p:cNvPr id="31" name="">
            <a:extLst xmlns:a="http://schemas.openxmlformats.org/drawingml/2006/main">
              <a:ext uri="{FF2B5EF4-FFF2-40B4-BE49-F238E27FC236}">
                <a16:creationId xmlns:a16="http://schemas.microsoft.com/office/drawing/2014/main" id="{92C6566E-E596-48F1-88AB-5CF5DA07659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Local model measurements · Decisions 0021–0022</a:t>
            </a:r>
          </a:p>
        </p:txBody>
      </p:sp>
    </p:spTree>
    <p:extLst>
      <p:ext uri="{BB962C8B-B14F-4D97-AF65-F5344CB8AC3E}">
        <p14:creationId xmlns:p14="http://schemas.microsoft.com/office/powerpoint/2010/main" val="758475520"/>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474e99dacc7c474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4564A6B-C945-4DEE-80C2-E1D6DD1F9061}"/>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13CAAF8-5C9B-4758-A4D3-63794CAC5CB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9D57B6F8-BA81-4100-9841-895E10383FC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2C52C4C-E54D-46D3-A04D-F5C04B2FC05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BE7E8AA-ACA9-49DA-BFE0-64B3D433EDB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46253878-BCDE-4A32-B7CE-5BFB4B8EF054}"/>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0154F770-D28D-40C3-B86D-D03218210A90}"/>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507B7845-6E70-46C0-B1D2-08E461ADFC3C}"/>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5F5377F8-3410-42CB-B56B-682CC348D935}"/>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D98B6F64-FE5F-4878-B19C-A8A337F988F7}"/>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9666A242-241D-4953-AE07-F027BB448F27}"/>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8644252F-A110-42B7-83B2-50B5CF0E21BE}"/>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ED82E5DF-E928-46BD-A348-861307EA5BDD}"/>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AB3DDFD8-EE4D-4BE4-828B-4002EB19DC4C}"/>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4388F39-A46E-4FCA-A407-588A4C7BC2FA}"/>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2FC378E1-B8A3-42E4-8081-CE0CDDF5DAB7}"/>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FAC4C68A-0505-4DEE-AC6A-F50F7CB1458E}"/>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31970668-CBC7-4D85-8B31-21047824F4DE}"/>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FA2181BC-53B1-47DB-9905-FAD62E963772}"/>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8425C2C9-7B95-434E-993F-F2D8A5039CB2}"/>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8D2C0C48-BA7C-48D0-BCCE-773097B386F9}"/>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9004BB41-EEC2-44EB-A233-831F6D38A96E}"/>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5D834396-84AA-431D-9FFE-8C6DCD991F9C}"/>
              </a:ext>
            </a:extLst>
          </p:cNvPr>
          <p:cNvSpPr>
            <a:spLocks xmlns:a="http://schemas.openxmlformats.org/drawingml/2006/main" noGrp="1"/>
          </p:cNvSpPr>
          <p:nvPr/>
        </p:nvSpPr>
        <p:spPr>
          <a:xfrm xmlns:a="http://schemas.openxmlformats.org/drawingml/2006/main">
            <a:off x="1524000" y="5924550"/>
            <a:ext cx="9144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In simple terms: it answered quickly, but often spoke at the wrong time.</a:t>
            </a:r>
          </a:p>
        </p:txBody>
      </p:sp>
      <p:sp>
        <p:nvSpPr>
          <p:cNvPr id="25" name="">
            <a:extLst xmlns:a="http://schemas.openxmlformats.org/drawingml/2006/main">
              <a:ext uri="{FF2B5EF4-FFF2-40B4-BE49-F238E27FC236}">
                <a16:creationId xmlns:a16="http://schemas.microsoft.com/office/drawing/2014/main" id="{17CA7CB0-FE8D-4A02-9CFB-DD0D578F6A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737609742"/>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9b76e7fd487c4a3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3E88385-1BF1-45E0-BC4E-DD6319A4632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8537A6F-017D-401D-901C-1AAF10A0AC1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244289D3-BF56-443C-99FE-91A88129F20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EBDE8805-A0B5-4556-A2DC-7717DF18D31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did not prove speed</a:t>
            </a:r>
          </a:p>
        </p:txBody>
      </p:sp>
      <p:sp>
        <p:nvSpPr>
          <p:cNvPr id="6" name="">
            <a:extLst xmlns:a="http://schemas.openxmlformats.org/drawingml/2006/main">
              <a:ext uri="{FF2B5EF4-FFF2-40B4-BE49-F238E27FC236}">
                <a16:creationId xmlns:a16="http://schemas.microsoft.com/office/drawing/2014/main" id="{8773E60D-6871-4CE4-8ED6-4304940FFA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5D23E31-DACF-4360-AB48-EEEF0EF8DAB5}"/>
              </a:ext>
            </a:extLst>
          </p:cNvPr>
          <p:cNvSpPr>
            <a:spLocks xmlns:a="http://schemas.openxmlformats.org/drawingml/2006/main" noGrp="1"/>
          </p:cNvSpPr>
          <p:nvPr/>
        </p:nvSpPr>
        <p:spPr>
          <a:xfrm xmlns:a="http://schemas.openxmlformats.org/drawingml/2006/main">
            <a:off x="781050" y="2000250"/>
            <a:ext cx="5105400" cy="1028700"/>
          </a:xfrm>
          <a:prstGeom xmlns:a="http://schemas.openxmlformats.org/drawingml/2006/main" prst="roundRect">
            <a:avLst>
              <a:gd name="adj" fmla="val 14815"/>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A63BDA7-1FA3-4FA4-BE9C-63097BED7087}"/>
              </a:ext>
            </a:extLst>
          </p:cNvPr>
          <p:cNvSpPr>
            <a:spLocks xmlns:a="http://schemas.openxmlformats.org/drawingml/2006/main" noGrp="1"/>
          </p:cNvSpPr>
          <p:nvPr/>
        </p:nvSpPr>
        <p:spPr>
          <a:xfrm xmlns:a="http://schemas.openxmlformats.org/drawingml/2006/main">
            <a:off x="1009650" y="2171700"/>
            <a:ext cx="1714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THE THESIS</a:t>
            </a:r>
          </a:p>
        </p:txBody>
      </p:sp>
      <p:sp>
        <p:nvSpPr>
          <p:cNvPr id="9" name="">
            <a:extLst xmlns:a="http://schemas.openxmlformats.org/drawingml/2006/main">
              <a:ext uri="{FF2B5EF4-FFF2-40B4-BE49-F238E27FC236}">
                <a16:creationId xmlns:a16="http://schemas.microsoft.com/office/drawing/2014/main" id="{AAD067D0-AED7-4BC5-A1C5-5A5E5B84AA90}"/>
              </a:ext>
            </a:extLst>
          </p:cNvPr>
          <p:cNvSpPr>
            <a:spLocks xmlns:a="http://schemas.openxmlformats.org/drawingml/2006/main" noGrp="1"/>
          </p:cNvSpPr>
          <p:nvPr/>
        </p:nvSpPr>
        <p:spPr>
          <a:xfrm xmlns:a="http://schemas.openxmlformats.org/drawingml/2006/main">
            <a:off x="10096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Start reasoning after two stable words, rather than wait for four.</a:t>
            </a:r>
          </a:p>
        </p:txBody>
      </p:sp>
      <p:sp>
        <p:nvSpPr>
          <p:cNvPr id="10" name="">
            <a:extLst xmlns:a="http://schemas.openxmlformats.org/drawingml/2006/main">
              <a:ext uri="{FF2B5EF4-FFF2-40B4-BE49-F238E27FC236}">
                <a16:creationId xmlns:a16="http://schemas.microsoft.com/office/drawing/2014/main" id="{9DED02D0-5432-4B64-B28C-6CDCBE7F37DC}"/>
              </a:ext>
            </a:extLst>
          </p:cNvPr>
          <p:cNvSpPr>
            <a:spLocks xmlns:a="http://schemas.openxmlformats.org/drawingml/2006/main" noGrp="1"/>
          </p:cNvSpPr>
          <p:nvPr/>
        </p:nvSpPr>
        <p:spPr>
          <a:xfrm xmlns:a="http://schemas.openxmlformats.org/drawingml/2006/main">
            <a:off x="6305550" y="2000250"/>
            <a:ext cx="5105400" cy="1028700"/>
          </a:xfrm>
          <a:prstGeom xmlns:a="http://schemas.openxmlformats.org/drawingml/2006/main" prst="roundRect">
            <a:avLst>
              <a:gd name="adj" fmla="val 14815"/>
            </a:avLst>
          </a:prstGeom>
          <a:solidFill xmlns:a="http://schemas.openxmlformats.org/drawingml/2006/main">
            <a:srgbClr val="E8F3F6"/>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69E1C17E-AD28-4EEB-B559-65AD1167D6ED}"/>
              </a:ext>
            </a:extLst>
          </p:cNvPr>
          <p:cNvSpPr>
            <a:spLocks xmlns:a="http://schemas.openxmlformats.org/drawingml/2006/main" noGrp="1"/>
          </p:cNvSpPr>
          <p:nvPr/>
        </p:nvSpPr>
        <p:spPr>
          <a:xfrm xmlns:a="http://schemas.openxmlformats.org/drawingml/2006/main">
            <a:off x="6534150" y="217170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WHAT WE EXPECTED</a:t>
            </a:r>
          </a:p>
        </p:txBody>
      </p:sp>
      <p:sp>
        <p:nvSpPr>
          <p:cNvPr id="12" name="">
            <a:extLst xmlns:a="http://schemas.openxmlformats.org/drawingml/2006/main">
              <a:ext uri="{FF2B5EF4-FFF2-40B4-BE49-F238E27FC236}">
                <a16:creationId xmlns:a16="http://schemas.microsoft.com/office/drawing/2014/main" id="{CC4E6474-444C-4A63-B3EF-75A4597B3335}"/>
              </a:ext>
            </a:extLst>
          </p:cNvPr>
          <p:cNvSpPr>
            <a:spLocks xmlns:a="http://schemas.openxmlformats.org/drawingml/2006/main" noGrp="1"/>
          </p:cNvSpPr>
          <p:nvPr/>
        </p:nvSpPr>
        <p:spPr>
          <a:xfrm xmlns:a="http://schemas.openxmlformats.org/drawingml/2006/main">
            <a:off x="6534150" y="2419350"/>
            <a:ext cx="45339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The reply should begin meaningfully sooner.</a:t>
            </a:r>
          </a:p>
        </p:txBody>
      </p:sp>
      <p:sp>
        <p:nvSpPr>
          <p:cNvPr id="13" name="">
            <a:extLst xmlns:a="http://schemas.openxmlformats.org/drawingml/2006/main">
              <a:ext uri="{FF2B5EF4-FFF2-40B4-BE49-F238E27FC236}">
                <a16:creationId xmlns:a16="http://schemas.microsoft.com/office/drawing/2014/main" id="{4F79DDDE-CD39-4A59-A66B-83366DE460B0}"/>
              </a:ext>
            </a:extLst>
          </p:cNvPr>
          <p:cNvSpPr>
            <a:spLocks xmlns:a="http://schemas.openxmlformats.org/drawingml/2006/main" noGrp="1"/>
          </p:cNvSpPr>
          <p:nvPr/>
        </p:nvSpPr>
        <p:spPr>
          <a:xfrm xmlns:a="http://schemas.openxmlformats.org/drawingml/2006/main">
            <a:off x="781050" y="3333750"/>
            <a:ext cx="10629900" cy="1600200"/>
          </a:xfrm>
          <a:prstGeom xmlns:a="http://schemas.openxmlformats.org/drawingml/2006/main" prst="roundRect">
            <a:avLst>
              <a:gd name="adj" fmla="val 10714"/>
            </a:avLst>
          </a:prstGeom>
          <a:solidFill xmlns:a="http://schemas.openxmlformats.org/drawingml/2006/main">
            <a:srgbClr val="F6FBFC"/>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A760E0E0-2AC4-433E-818C-DC0FEC1957EE}"/>
              </a:ext>
            </a:extLst>
          </p:cNvPr>
          <p:cNvSpPr>
            <a:spLocks xmlns:a="http://schemas.openxmlformats.org/drawingml/2006/main" noGrp="1"/>
          </p:cNvSpPr>
          <p:nvPr/>
        </p:nvSpPr>
        <p:spPr>
          <a:xfrm xmlns:a="http://schemas.openxmlformats.org/drawingml/2006/main">
            <a:off x="1066800" y="3562350"/>
            <a:ext cx="2095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4B687A"/>
                </a:solidFill>
                <a:latin typeface="Aptos"/>
                <a:ea typeface="Aptos"/>
                <a:cs typeface="Aptos"/>
              </a:defRPr>
            </a:pPr>
            <a:r>
              <a:rPr sz="900" b="1">
                <a:solidFill>
                  <a:srgbClr val="4B687A"/>
                </a:solidFill>
                <a:latin typeface="Aptos"/>
                <a:ea typeface="Aptos"/>
                <a:cs typeface="Aptos"/>
              </a:rPr>
              <a:t>BASELINE</a:t>
            </a:r>
          </a:p>
        </p:txBody>
      </p:sp>
      <p:sp>
        <p:nvSpPr>
          <p:cNvPr id="15" name="">
            <a:extLst xmlns:a="http://schemas.openxmlformats.org/drawingml/2006/main">
              <a:ext uri="{FF2B5EF4-FFF2-40B4-BE49-F238E27FC236}">
                <a16:creationId xmlns:a16="http://schemas.microsoft.com/office/drawing/2014/main" id="{DA2AFDE5-302D-4D16-A680-718199B59AE6}"/>
              </a:ext>
            </a:extLst>
          </p:cNvPr>
          <p:cNvSpPr>
            <a:spLocks xmlns:a="http://schemas.openxmlformats.org/drawingml/2006/main" noGrp="1"/>
          </p:cNvSpPr>
          <p:nvPr/>
        </p:nvSpPr>
        <p:spPr>
          <a:xfrm xmlns:a="http://schemas.openxmlformats.org/drawingml/2006/main">
            <a:off x="106680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102A43"/>
                </a:solidFill>
                <a:latin typeface="Aptos Mono"/>
                <a:ea typeface="Aptos Mono"/>
                <a:cs typeface="Aptos Mono"/>
              </a:defRPr>
            </a:pPr>
            <a:r>
              <a:rPr sz="2250" b="1">
                <a:solidFill>
                  <a:srgbClr val="102A43"/>
                </a:solidFill>
                <a:latin typeface="Aptos Mono"/>
                <a:ea typeface="Aptos Mono"/>
                <a:cs typeface="Aptos Mono"/>
              </a:rPr>
              <a:t>1,943 ms</a:t>
            </a:r>
          </a:p>
        </p:txBody>
      </p:sp>
      <p:sp>
        <p:nvSpPr>
          <p:cNvPr id="16" name="">
            <a:extLst xmlns:a="http://schemas.openxmlformats.org/drawingml/2006/main">
              <a:ext uri="{FF2B5EF4-FFF2-40B4-BE49-F238E27FC236}">
                <a16:creationId xmlns:a16="http://schemas.microsoft.com/office/drawing/2014/main" id="{2E1224CA-687C-4F31-8138-EC19F70401D0}"/>
              </a:ext>
            </a:extLst>
          </p:cNvPr>
          <p:cNvSpPr>
            <a:spLocks xmlns:a="http://schemas.openxmlformats.org/drawingml/2006/main" noGrp="1"/>
          </p:cNvSpPr>
          <p:nvPr/>
        </p:nvSpPr>
        <p:spPr>
          <a:xfrm xmlns:a="http://schemas.openxmlformats.org/drawingml/2006/main">
            <a:off x="1066800" y="4305300"/>
            <a:ext cx="3048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wait for four stable words</a:t>
            </a:r>
          </a:p>
        </p:txBody>
      </p:sp>
      <p:sp>
        <p:nvSpPr>
          <p:cNvPr id="17" name="">
            <a:extLst xmlns:a="http://schemas.openxmlformats.org/drawingml/2006/main">
              <a:ext uri="{FF2B5EF4-FFF2-40B4-BE49-F238E27FC236}">
                <a16:creationId xmlns:a16="http://schemas.microsoft.com/office/drawing/2014/main" id="{E4A2C10A-3B79-41B6-824C-C4C6B2D6603B}"/>
              </a:ext>
            </a:extLst>
          </p:cNvPr>
          <p:cNvSpPr>
            <a:spLocks xmlns:a="http://schemas.openxmlformats.org/drawingml/2006/main" noGrp="1"/>
          </p:cNvSpPr>
          <p:nvPr/>
        </p:nvSpPr>
        <p:spPr>
          <a:xfrm xmlns:a="http://schemas.openxmlformats.org/drawingml/2006/main">
            <a:off x="5029200" y="3600450"/>
            <a:ext cx="0" cy="106680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0998712-FF0E-4712-8F87-DB9762F9757B}"/>
              </a:ext>
            </a:extLst>
          </p:cNvPr>
          <p:cNvSpPr>
            <a:spLocks xmlns:a="http://schemas.openxmlformats.org/drawingml/2006/main" noGrp="1"/>
          </p:cNvSpPr>
          <p:nvPr/>
        </p:nvSpPr>
        <p:spPr>
          <a:xfrm xmlns:a="http://schemas.openxmlformats.org/drawingml/2006/main">
            <a:off x="5391150" y="3562350"/>
            <a:ext cx="25717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TWO-WORD SPECULATION</a:t>
            </a:r>
          </a:p>
        </p:txBody>
      </p:sp>
      <p:sp>
        <p:nvSpPr>
          <p:cNvPr id="19" name="">
            <a:extLst xmlns:a="http://schemas.openxmlformats.org/drawingml/2006/main">
              <a:ext uri="{FF2B5EF4-FFF2-40B4-BE49-F238E27FC236}">
                <a16:creationId xmlns:a16="http://schemas.microsoft.com/office/drawing/2014/main" id="{0A97FC94-75CF-4EF7-9AFC-250D0A06F745}"/>
              </a:ext>
            </a:extLst>
          </p:cNvPr>
          <p:cNvSpPr>
            <a:spLocks xmlns:a="http://schemas.openxmlformats.org/drawingml/2006/main" noGrp="1"/>
          </p:cNvSpPr>
          <p:nvPr/>
        </p:nvSpPr>
        <p:spPr>
          <a:xfrm xmlns:a="http://schemas.openxmlformats.org/drawingml/2006/main">
            <a:off x="5391150" y="3829050"/>
            <a:ext cx="2857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250" b="1">
                <a:solidFill>
                  <a:srgbClr val="268C82"/>
                </a:solidFill>
                <a:latin typeface="Aptos Mono"/>
                <a:ea typeface="Aptos Mono"/>
                <a:cs typeface="Aptos Mono"/>
              </a:defRPr>
            </a:pPr>
            <a:r>
              <a:rPr sz="2250" b="1">
                <a:solidFill>
                  <a:srgbClr val="268C82"/>
                </a:solidFill>
                <a:latin typeface="Aptos Mono"/>
                <a:ea typeface="Aptos Mono"/>
                <a:cs typeface="Aptos Mono"/>
              </a:rPr>
              <a:t>1,912 ms</a:t>
            </a:r>
          </a:p>
        </p:txBody>
      </p:sp>
      <p:sp>
        <p:nvSpPr>
          <p:cNvPr id="20" name="">
            <a:extLst xmlns:a="http://schemas.openxmlformats.org/drawingml/2006/main">
              <a:ext uri="{FF2B5EF4-FFF2-40B4-BE49-F238E27FC236}">
                <a16:creationId xmlns:a16="http://schemas.microsoft.com/office/drawing/2014/main" id="{8D3965A8-7373-4ED9-9FEA-598FAD7B23B1}"/>
              </a:ext>
            </a:extLst>
          </p:cNvPr>
          <p:cNvSpPr>
            <a:spLocks xmlns:a="http://schemas.openxmlformats.org/drawingml/2006/main" noGrp="1"/>
          </p:cNvSpPr>
          <p:nvPr/>
        </p:nvSpPr>
        <p:spPr>
          <a:xfrm xmlns:a="http://schemas.openxmlformats.org/drawingml/2006/main">
            <a:off x="5391150" y="4305300"/>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0">
                <a:solidFill>
                  <a:srgbClr val="4B687A"/>
                </a:solidFill>
                <a:latin typeface="Aptos"/>
                <a:ea typeface="Aptos"/>
                <a:cs typeface="Aptos"/>
              </a:defRPr>
            </a:pPr>
            <a:r>
              <a:rPr sz="1125" b="0">
                <a:solidFill>
                  <a:srgbClr val="4B687A"/>
                </a:solidFill>
                <a:latin typeface="Aptos"/>
                <a:ea typeface="Aptos"/>
                <a:cs typeface="Aptos"/>
              </a:rPr>
              <a:t>start from two stable words</a:t>
            </a:r>
          </a:p>
        </p:txBody>
      </p:sp>
      <p:sp>
        <p:nvSpPr>
          <p:cNvPr id="21" name="">
            <a:extLst xmlns:a="http://schemas.openxmlformats.org/drawingml/2006/main">
              <a:ext uri="{FF2B5EF4-FFF2-40B4-BE49-F238E27FC236}">
                <a16:creationId xmlns:a16="http://schemas.microsoft.com/office/drawing/2014/main" id="{D4D58836-6A7D-4BB9-8CFC-64719578F0EF}"/>
              </a:ext>
            </a:extLst>
          </p:cNvPr>
          <p:cNvSpPr>
            <a:spLocks xmlns:a="http://schemas.openxmlformats.org/drawingml/2006/main" noGrp="1"/>
          </p:cNvSpPr>
          <p:nvPr/>
        </p:nvSpPr>
        <p:spPr>
          <a:xfrm xmlns:a="http://schemas.openxmlformats.org/drawingml/2006/main">
            <a:off x="8858250" y="3714750"/>
            <a:ext cx="1905000" cy="381000"/>
          </a:xfrm>
          <a:prstGeom xmlns:a="http://schemas.openxmlformats.org/drawingml/2006/main" prst="roundRect">
            <a:avLst>
              <a:gd name="adj" fmla="val 40000"/>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91153"/>
          </a:bodyPr>
          <a:lstStyle xmlns:a="http://schemas.openxmlformats.org/drawingml/2006/main"/>
          <a:p xmlns:a="http://schemas.openxmlformats.org/drawingml/2006/main">
            <a:pPr algn="ctr">
              <a:defRPr sz="2100" b="1">
                <a:solidFill>
                  <a:srgbClr val="D96C5F"/>
                </a:solidFill>
                <a:latin typeface="Aptos Mono"/>
                <a:ea typeface="Aptos Mono"/>
                <a:cs typeface="Aptos Mono"/>
              </a:defRPr>
            </a:pPr>
            <a:r>
              <a:rPr sz="2100" b="1">
                <a:solidFill>
                  <a:srgbClr val="D96C5F"/>
                </a:solidFill>
                <a:latin typeface="Aptos Mono"/>
                <a:ea typeface="Aptos Mono"/>
                <a:cs typeface="Aptos Mono"/>
              </a:rPr>
              <a:t>31 ms</a:t>
            </a:r>
          </a:p>
        </p:txBody>
      </p:sp>
      <p:sp>
        <p:nvSpPr>
          <p:cNvPr id="22" name="">
            <a:extLst xmlns:a="http://schemas.openxmlformats.org/drawingml/2006/main">
              <a:ext uri="{FF2B5EF4-FFF2-40B4-BE49-F238E27FC236}">
                <a16:creationId xmlns:a16="http://schemas.microsoft.com/office/drawing/2014/main" id="{64A8D584-DC7E-4BCE-9D42-6D70C4F31F9A}"/>
              </a:ext>
            </a:extLst>
          </p:cNvPr>
          <p:cNvSpPr>
            <a:spLocks xmlns:a="http://schemas.openxmlformats.org/drawingml/2006/main" noGrp="1"/>
          </p:cNvSpPr>
          <p:nvPr/>
        </p:nvSpPr>
        <p:spPr>
          <a:xfrm xmlns:a="http://schemas.openxmlformats.org/drawingml/2006/main">
            <a:off x="8477250" y="4171950"/>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4B687A"/>
                </a:solidFill>
                <a:latin typeface="Aptos"/>
                <a:ea typeface="Aptos"/>
                <a:cs typeface="Aptos"/>
              </a:defRPr>
            </a:pPr>
            <a:r>
              <a:rPr sz="1050" b="1">
                <a:solidFill>
                  <a:srgbClr val="4B687A"/>
                </a:solidFill>
                <a:latin typeface="Aptos"/>
                <a:ea typeface="Aptos"/>
                <a:cs typeface="Aptos"/>
              </a:rPr>
              <a:t>31 ms difference across two live runs.</a:t>
            </a:r>
          </a:p>
        </p:txBody>
      </p:sp>
      <p:sp>
        <p:nvSpPr>
          <p:cNvPr id="23" name="">
            <a:extLst xmlns:a="http://schemas.openxmlformats.org/drawingml/2006/main">
              <a:ext uri="{FF2B5EF4-FFF2-40B4-BE49-F238E27FC236}">
                <a16:creationId xmlns:a16="http://schemas.microsoft.com/office/drawing/2014/main" id="{F8B2568D-7D1F-40B2-BE62-AF68821513BE}"/>
              </a:ext>
            </a:extLst>
          </p:cNvPr>
          <p:cNvSpPr>
            <a:spLocks xmlns:a="http://schemas.openxmlformats.org/drawingml/2006/main" noGrp="1"/>
          </p:cNvSpPr>
          <p:nvPr/>
        </p:nvSpPr>
        <p:spPr>
          <a:xfrm xmlns:a="http://schemas.openxmlformats.org/drawingml/2006/main">
            <a:off x="1809750" y="5314950"/>
            <a:ext cx="8572500" cy="609600"/>
          </a:xfrm>
          <a:prstGeom xmlns:a="http://schemas.openxmlformats.org/drawingml/2006/main" prst="roundRect">
            <a:avLst>
              <a:gd name="adj" fmla="val 25000"/>
            </a:avLst>
          </a:prstGeom>
          <a:solidFill xmlns:a="http://schemas.openxmlformats.org/drawingml/2006/main">
            <a:srgbClr val="FCEAE6"/>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E7AFAE0-FD14-4E47-8CBE-6C3F2BF0AE35}"/>
              </a:ext>
            </a:extLst>
          </p:cNvPr>
          <p:cNvSpPr>
            <a:spLocks xmlns:a="http://schemas.openxmlformats.org/drawingml/2006/main" noGrp="1"/>
          </p:cNvSpPr>
          <p:nvPr/>
        </p:nvSpPr>
        <p:spPr>
          <a:xfrm xmlns:a="http://schemas.openxmlformats.org/drawingml/2006/main">
            <a:off x="2038350" y="5486400"/>
            <a:ext cx="1524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D96C5F"/>
                </a:solidFill>
                <a:latin typeface="Aptos"/>
                <a:ea typeface="Aptos"/>
                <a:cs typeface="Aptos"/>
              </a:defRPr>
            </a:pPr>
            <a:r>
              <a:rPr sz="900" b="1">
                <a:solidFill>
                  <a:srgbClr val="D96C5F"/>
                </a:solidFill>
                <a:latin typeface="Aptos"/>
                <a:ea typeface="Aptos"/>
                <a:cs typeface="Aptos"/>
              </a:rPr>
              <a:t>HONEST VERDICT</a:t>
            </a:r>
          </a:p>
        </p:txBody>
      </p:sp>
      <p:sp>
        <p:nvSpPr>
          <p:cNvPr id="25" name="">
            <a:extLst xmlns:a="http://schemas.openxmlformats.org/drawingml/2006/main">
              <a:ext uri="{FF2B5EF4-FFF2-40B4-BE49-F238E27FC236}">
                <a16:creationId xmlns:a16="http://schemas.microsoft.com/office/drawing/2014/main" id="{2FD9D37C-05B2-4633-AD4B-0F8BC6F85250}"/>
              </a:ext>
            </a:extLst>
          </p:cNvPr>
          <p:cNvSpPr>
            <a:spLocks xmlns:a="http://schemas.openxmlformats.org/drawingml/2006/main" noGrp="1"/>
          </p:cNvSpPr>
          <p:nvPr/>
        </p:nvSpPr>
        <p:spPr>
          <a:xfrm xmlns:a="http://schemas.openxmlformats.org/drawingml/2006/main">
            <a:off x="3733800" y="5429250"/>
            <a:ext cx="628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Too small and too few runs: noise, not a proven speedup.</a:t>
            </a:r>
          </a:p>
        </p:txBody>
      </p:sp>
      <p:sp>
        <p:nvSpPr>
          <p:cNvPr id="26" name="">
            <a:extLst xmlns:a="http://schemas.openxmlformats.org/drawingml/2006/main">
              <a:ext uri="{FF2B5EF4-FFF2-40B4-BE49-F238E27FC236}">
                <a16:creationId xmlns:a16="http://schemas.microsoft.com/office/drawing/2014/main" id="{94B28506-26D2-4D97-9CCA-7F29A2AF520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1957245113"/>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7eb522357cd485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45B85B2-FA52-4FA3-BD88-B2997ED1562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EB3DED-F0D4-43CA-AFB5-81B9B56FD30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A112571A-A2A9-41F5-9D23-E207EDB2547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B79F356-2B29-497D-87B2-6D8C4ED02A0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F17B9CAA-A49C-4EE2-B649-24C475F958D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BF73EC4-20C9-4309-92C8-7D56637B01EB}"/>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FCBE3DC6-0A3F-4C20-87CC-2A6F7E0E2CF7}"/>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16B64291-933E-4C03-AB0C-C43B087D5E41}"/>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38376ED4-AE3B-46D3-9897-3E144766EB4B}"/>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96CB7296-B425-4004-AD30-E644D32874F4}"/>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A7D425AF-3493-4AF7-9E59-B89D2A1606ED}"/>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00729FAB-7CB1-4292-B504-9BA02EB1DA62}"/>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2A506B5C-268B-4705-9772-503A9DEC5D50}"/>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F7BC9A0-B3C0-4106-B059-B1573A9389F6}"/>
              </a:ext>
            </a:extLst>
          </p:cNvPr>
          <p:cNvSpPr>
            <a:spLocks xmlns:a="http://schemas.openxmlformats.org/drawingml/2006/main" noGrp="1"/>
          </p:cNvSpPr>
          <p:nvPr/>
        </p:nvSpPr>
        <p:spPr>
          <a:xfrm xmlns:a="http://schemas.openxmlformats.org/drawingml/2006/main">
            <a:off x="1524000" y="5410200"/>
            <a:ext cx="914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In simple terms: we made the bot wait less; it interrupted people more often.</a:t>
            </a:r>
          </a:p>
        </p:txBody>
      </p:sp>
      <p:sp>
        <p:nvSpPr>
          <p:cNvPr id="16" name="">
            <a:extLst xmlns:a="http://schemas.openxmlformats.org/drawingml/2006/main">
              <a:ext uri="{FF2B5EF4-FFF2-40B4-BE49-F238E27FC236}">
                <a16:creationId xmlns:a16="http://schemas.microsoft.com/office/drawing/2014/main" id="{8C750FC2-FFDC-4BE0-88C6-C6CA79D0F9CC}"/>
              </a:ext>
            </a:extLst>
          </p:cNvPr>
          <p:cNvSpPr>
            <a:spLocks xmlns:a="http://schemas.openxmlformats.org/drawingml/2006/main" noGrp="1"/>
          </p:cNvSpPr>
          <p:nvPr/>
        </p:nvSpPr>
        <p:spPr>
          <a:xfrm xmlns:a="http://schemas.openxmlformats.org/drawingml/2006/main">
            <a:off x="1524000" y="5829300"/>
            <a:ext cx="9144000" cy="285750"/>
          </a:xfrm>
          <a:prstGeom xmlns:a="http://schemas.openxmlformats.org/drawingml/2006/main" prst="roundRect">
            <a:avLst>
              <a:gd name="adj" fmla="val 46667"/>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68C82"/>
                </a:solidFill>
                <a:latin typeface="Aptos"/>
                <a:ea typeface="Aptos"/>
                <a:cs typeface="Aptos"/>
              </a:defRPr>
            </a:pPr>
            <a:r>
              <a:rPr sz="1125" b="1">
                <a:solidFill>
                  <a:srgbClr val="268C82"/>
                </a:solidFill>
                <a:latin typeface="Aptos"/>
                <a:ea typeface="Aptos"/>
                <a:cs typeface="Aptos"/>
              </a:rPr>
              <a:t>EVAL RULE  ·  Eval the behaviour you care about—not the proxy that flatters your optimization.</a:t>
            </a:r>
          </a:p>
        </p:txBody>
      </p:sp>
      <p:sp>
        <p:nvSpPr>
          <p:cNvPr id="17" name="">
            <a:extLst xmlns:a="http://schemas.openxmlformats.org/drawingml/2006/main">
              <a:ext uri="{FF2B5EF4-FFF2-40B4-BE49-F238E27FC236}">
                <a16:creationId xmlns:a16="http://schemas.microsoft.com/office/drawing/2014/main" id="{08491771-B75D-4A05-B75A-75FA52EE40E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74848205"/>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c90665781d049d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BA7F3CD-5113-469C-8CAF-836FDA21F43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17DB22A-D793-485E-9B96-3BD663AB405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CF6179A-176C-4964-A7F8-BF1D5D2B5DC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990ABEE-983F-4EEF-ADF0-2242D5B11BB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FD9AF05C-9599-4BAE-BA7D-E987238468F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96732A9-561B-4394-B378-5572ECA033EA}"/>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0A80C5F9-7E85-4D96-A87A-52693C666D35}"/>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021F4C90-B142-4335-BB89-90E934185F2E}"/>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D63CC417-FFF4-45B8-B26E-EEE4EB4946E3}"/>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53013717-3A9C-4576-8421-7052E24A00FF}"/>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458EAD7-B929-426F-8D17-6822DC0632E3}"/>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2A73D679-AB2E-46CA-9EB6-39598473887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7B7201A-6279-4684-A2F1-6B404E5A9A08}"/>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0B09A8F5-FC30-4253-BB39-5984DD57A41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23B05D44-455F-4C5F-94B6-8182B65772C3}"/>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E5123FFB-9B54-4320-BE95-9DA29C1B339F}"/>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7371BA31-2C0E-4DC7-B002-2816DBBAA0A7}"/>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443F894-D4BB-4EF4-B1EC-CE21AB1C7F10}"/>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E84EAD26-5DA2-48A7-8C1F-7F96649AB4FF}"/>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376B47E8-A0B4-45BC-A3D0-DAD6B3EA2DCD}"/>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08BC7F49-51E0-4D1C-A18B-134001E955DD}"/>
              </a:ext>
            </a:extLst>
          </p:cNvPr>
          <p:cNvSpPr>
            <a:spLocks xmlns:a="http://schemas.openxmlformats.org/drawingml/2006/main" noGrp="1"/>
          </p:cNvSpPr>
          <p:nvPr/>
        </p:nvSpPr>
        <p:spPr>
          <a:xfrm xmlns:a="http://schemas.openxmlformats.org/drawingml/2006/main">
            <a:off x="1619250" y="5619750"/>
            <a:ext cx="8953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Why: live calls reveal failures a prompt cannot. We made each one a repeatable test.</a:t>
            </a:r>
          </a:p>
        </p:txBody>
      </p:sp>
      <p:sp>
        <p:nvSpPr>
          <p:cNvPr id="23" name="">
            <a:extLst xmlns:a="http://schemas.openxmlformats.org/drawingml/2006/main">
              <a:ext uri="{FF2B5EF4-FFF2-40B4-BE49-F238E27FC236}">
                <a16:creationId xmlns:a16="http://schemas.microsoft.com/office/drawing/2014/main" id="{301EB1B9-33A9-42CA-944D-DBF92CFA5D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514525820"/>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4667dae1c8144ed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D7D609E-F73B-499C-903A-11865F9AA88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F91F86D-2D29-4623-9C92-90CD2A8994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0BF605D0-A353-4C0C-9B18-C9525A2FD1E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6370F0D-E618-4C9C-81C2-5D30868BB90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3F1CA6B2-884F-4CB3-B1E1-6FC84B597CD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1BA7300-2292-4509-8DAE-178EB0279998}"/>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ABAF412F-F96C-4D30-AC5B-5C66F6B0C41B}"/>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AC13EC62-5A47-4903-890B-EC632D53787A}"/>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046F921-0247-4CB7-BD0B-88EDDF8402CF}"/>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D9D001BE-BA51-4A28-B482-D10C780402DB}"/>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4B41ABCF-73D9-4EE1-82AB-D240D63F8E56}"/>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BBF9F732-C169-4775-BEEF-0B42E2093396}"/>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5F7C6D6F-B3FB-4CAB-8AB8-2AB5CF29EFC5}"/>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77EDB8C-7108-473A-8394-4C7CD000D7FD}"/>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A6ABA304-2A48-4888-947A-DCFFCAE4A783}"/>
              </a:ext>
            </a:extLst>
          </p:cNvPr>
          <p:cNvSpPr>
            <a:spLocks xmlns:a="http://schemas.openxmlformats.org/drawingml/2006/main" noGrp="1"/>
          </p:cNvSpPr>
          <p:nvPr/>
        </p:nvSpPr>
        <p:spPr>
          <a:xfrm xmlns:a="http://schemas.openxmlformats.org/drawingml/2006/main">
            <a:off x="1428750" y="5848350"/>
            <a:ext cx="9334500" cy="3048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Why: models can be wrong. They propose; deterministic code verifies consent, facts and permissions before speech or action.</a:t>
            </a:r>
          </a:p>
        </p:txBody>
      </p:sp>
      <p:sp>
        <p:nvSpPr>
          <p:cNvPr id="17" name="">
            <a:extLst xmlns:a="http://schemas.openxmlformats.org/drawingml/2006/main">
              <a:ext uri="{FF2B5EF4-FFF2-40B4-BE49-F238E27FC236}">
                <a16:creationId xmlns:a16="http://schemas.microsoft.com/office/drawing/2014/main" id="{BA82EBD4-8432-4FA6-88C8-53FE87FE8D2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44256902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42" name=""/>
          <p:cNvPicPr>
            <a:picLocks xmlns:a="http://schemas.openxmlformats.org/drawingml/2006/main" noChangeAspect="1"/>
          </p:cNvPicPr>
          <p:nvPr/>
        </p:nvPicPr>
        <p:blipFill>
          <a:blip xmlns:r="http://schemas.openxmlformats.org/officeDocument/2006/relationships" xmlns:a="http://schemas.openxmlformats.org/drawingml/2006/main" r:embed="R658a907a123b43b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33B752D-3C5C-4FD7-BB38-89E418F626E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F373747-C4F5-4AAC-B94C-37702CD5174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665CEAB0-66A1-4ED3-9093-FAF8F5B72D2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57C04DC-67BF-4ACA-AE8B-53287202466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E349A27A-085F-4995-A22E-E739A2D20D3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19C4DF1-90C9-4BD9-B4F1-8CDCB03A4504}"/>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E5872471-97FB-4067-8CE1-C29326DAE1C8}"/>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CA6CB9D7-0D4F-4711-A4D7-45EC4979649A}"/>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C43DDB23-42BF-4179-A3C8-5CBFADF1F747}"/>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8E74B074-E635-4C45-9F63-83BD19A8B48F}"/>
              </a:ext>
            </a:extLst>
          </p:cNvPr>
          <p:cNvSpPr>
            <a:spLocks xmlns:a="http://schemas.openxmlformats.org/drawingml/2006/main" noGrp="1"/>
          </p:cNvSpPr>
          <p:nvPr/>
        </p:nvSpPr>
        <p:spPr>
          <a:xfrm xmlns:a="http://schemas.openxmlformats.org/drawingml/2006/main">
            <a:off x="110490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68C82"/>
                </a:solidFill>
                <a:latin typeface="Aptos"/>
                <a:ea typeface="Aptos"/>
                <a:cs typeface="Aptos"/>
              </a:defRPr>
            </a:pPr>
            <a:r>
              <a:rPr sz="90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698C7617-28CD-43C1-ABE6-D3ED93509708}"/>
              </a:ext>
            </a:extLst>
          </p:cNvPr>
          <p:cNvSpPr>
            <a:spLocks xmlns:a="http://schemas.openxmlformats.org/drawingml/2006/main" noGrp="1"/>
          </p:cNvSpPr>
          <p:nvPr/>
        </p:nvSpPr>
        <p:spPr>
          <a:xfrm xmlns:a="http://schemas.openxmlformats.org/drawingml/2006/main">
            <a:off x="110490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6CBD2FC6-E934-4967-B007-81EC2923CE04}"/>
              </a:ext>
            </a:extLst>
          </p:cNvPr>
          <p:cNvSpPr>
            <a:spLocks xmlns:a="http://schemas.openxmlformats.org/drawingml/2006/main" noGrp="1"/>
          </p:cNvSpPr>
          <p:nvPr/>
        </p:nvSpPr>
        <p:spPr>
          <a:xfrm xmlns:a="http://schemas.openxmlformats.org/drawingml/2006/main">
            <a:off x="110490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replay model + tool decisions.</a:t>
            </a:r>
          </a:p>
        </p:txBody>
      </p:sp>
      <p:sp>
        <p:nvSpPr>
          <p:cNvPr id="14" name="">
            <a:extLst xmlns:a="http://schemas.openxmlformats.org/drawingml/2006/main">
              <a:ext uri="{FF2B5EF4-FFF2-40B4-BE49-F238E27FC236}">
                <a16:creationId xmlns:a16="http://schemas.microsoft.com/office/drawing/2014/main" id="{42FED62E-2992-44EC-AB17-42258E26E00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097BC86F-80AA-4F10-BE0B-5E96D87BE485}"/>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6" name="">
            <a:extLst xmlns:a="http://schemas.openxmlformats.org/drawingml/2006/main">
              <a:ext uri="{FF2B5EF4-FFF2-40B4-BE49-F238E27FC236}">
                <a16:creationId xmlns:a16="http://schemas.microsoft.com/office/drawing/2014/main" id="{19F95E03-E13D-4A0B-A20B-B941DD2E8B74}"/>
              </a:ext>
            </a:extLst>
          </p:cNvPr>
          <p:cNvSpPr>
            <a:spLocks xmlns:a="http://schemas.openxmlformats.org/drawingml/2006/main" noGrp="1"/>
          </p:cNvSpPr>
          <p:nvPr/>
        </p:nvSpPr>
        <p:spPr>
          <a:xfrm xmlns:a="http://schemas.openxmlformats.org/drawingml/2006/main">
            <a:off x="7943850" y="223837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02</a:t>
            </a:r>
          </a:p>
        </p:txBody>
      </p:sp>
      <p:sp>
        <p:nvSpPr>
          <p:cNvPr id="17" name="">
            <a:extLst xmlns:a="http://schemas.openxmlformats.org/drawingml/2006/main">
              <a:ext uri="{FF2B5EF4-FFF2-40B4-BE49-F238E27FC236}">
                <a16:creationId xmlns:a16="http://schemas.microsoft.com/office/drawing/2014/main" id="{93E10B58-754C-43C8-95DD-76AF6C19BF51}"/>
              </a:ext>
            </a:extLst>
          </p:cNvPr>
          <p:cNvSpPr>
            <a:spLocks xmlns:a="http://schemas.openxmlformats.org/drawingml/2006/main" noGrp="1"/>
          </p:cNvSpPr>
          <p:nvPr/>
        </p:nvSpPr>
        <p:spPr>
          <a:xfrm xmlns:a="http://schemas.openxmlformats.org/drawingml/2006/main">
            <a:off x="7943850" y="250507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Prometheus + Grafana</a:t>
            </a:r>
          </a:p>
        </p:txBody>
      </p:sp>
      <p:sp>
        <p:nvSpPr>
          <p:cNvPr id="18" name="">
            <a:extLst xmlns:a="http://schemas.openxmlformats.org/drawingml/2006/main">
              <a:ext uri="{FF2B5EF4-FFF2-40B4-BE49-F238E27FC236}">
                <a16:creationId xmlns:a16="http://schemas.microsoft.com/office/drawing/2014/main" id="{4E4475F9-BBAF-4B0C-B753-A873E773BA19}"/>
              </a:ext>
            </a:extLst>
          </p:cNvPr>
          <p:cNvSpPr>
            <a:spLocks xmlns:a="http://schemas.openxmlformats.org/drawingml/2006/main" noGrp="1"/>
          </p:cNvSpPr>
          <p:nvPr/>
        </p:nvSpPr>
        <p:spPr>
          <a:xfrm xmlns:a="http://schemas.openxmlformats.org/drawingml/2006/main">
            <a:off x="7943850" y="283845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spot latency + error regressions.</a:t>
            </a:r>
          </a:p>
        </p:txBody>
      </p:sp>
      <p:sp>
        <p:nvSpPr>
          <p:cNvPr id="19" name="">
            <a:extLst xmlns:a="http://schemas.openxmlformats.org/drawingml/2006/main">
              <a:ext uri="{FF2B5EF4-FFF2-40B4-BE49-F238E27FC236}">
                <a16:creationId xmlns:a16="http://schemas.microsoft.com/office/drawing/2014/main" id="{6B57B022-8735-447F-B3B0-C0A296547173}"/>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C7597E01-69BD-4032-BB81-9147EDB4028D}"/>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D6D1E6D5-845E-4137-ABD3-4FD88D80CC6C}"/>
              </a:ext>
            </a:extLst>
          </p:cNvPr>
          <p:cNvSpPr>
            <a:spLocks xmlns:a="http://schemas.openxmlformats.org/drawingml/2006/main" noGrp="1"/>
          </p:cNvSpPr>
          <p:nvPr/>
        </p:nvSpPr>
        <p:spPr>
          <a:xfrm xmlns:a="http://schemas.openxmlformats.org/drawingml/2006/main">
            <a:off x="110490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03</a:t>
            </a:r>
          </a:p>
        </p:txBody>
      </p:sp>
      <p:sp>
        <p:nvSpPr>
          <p:cNvPr id="22" name="">
            <a:extLst xmlns:a="http://schemas.openxmlformats.org/drawingml/2006/main">
              <a:ext uri="{FF2B5EF4-FFF2-40B4-BE49-F238E27FC236}">
                <a16:creationId xmlns:a16="http://schemas.microsoft.com/office/drawing/2014/main" id="{EABA1F08-C380-49EE-AA90-6C468B453C3F}"/>
              </a:ext>
            </a:extLst>
          </p:cNvPr>
          <p:cNvSpPr>
            <a:spLocks xmlns:a="http://schemas.openxmlformats.org/drawingml/2006/main" noGrp="1"/>
          </p:cNvSpPr>
          <p:nvPr/>
        </p:nvSpPr>
        <p:spPr>
          <a:xfrm xmlns:a="http://schemas.openxmlformats.org/drawingml/2006/main">
            <a:off x="110490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Postgres</a:t>
            </a:r>
          </a:p>
        </p:txBody>
      </p:sp>
      <p:sp>
        <p:nvSpPr>
          <p:cNvPr id="23" name="">
            <a:extLst xmlns:a="http://schemas.openxmlformats.org/drawingml/2006/main">
              <a:ext uri="{FF2B5EF4-FFF2-40B4-BE49-F238E27FC236}">
                <a16:creationId xmlns:a16="http://schemas.microsoft.com/office/drawing/2014/main" id="{2C7078CB-014D-4A4C-A214-AAD768FDD50F}"/>
              </a:ext>
            </a:extLst>
          </p:cNvPr>
          <p:cNvSpPr>
            <a:spLocks xmlns:a="http://schemas.openxmlformats.org/drawingml/2006/main" noGrp="1"/>
          </p:cNvSpPr>
          <p:nvPr/>
        </p:nvSpPr>
        <p:spPr>
          <a:xfrm xmlns:a="http://schemas.openxmlformats.org/drawingml/2006/main">
            <a:off x="110490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join turns, actions + outcomes.</a:t>
            </a:r>
          </a:p>
        </p:txBody>
      </p:sp>
      <p:sp>
        <p:nvSpPr>
          <p:cNvPr id="24" name="">
            <a:extLst xmlns:a="http://schemas.openxmlformats.org/drawingml/2006/main">
              <a:ext uri="{FF2B5EF4-FFF2-40B4-BE49-F238E27FC236}">
                <a16:creationId xmlns:a16="http://schemas.microsoft.com/office/drawing/2014/main" id="{420A7DC9-EF73-4191-BAF8-7B425FA919C8}"/>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5" name="">
            <a:extLst xmlns:a="http://schemas.openxmlformats.org/drawingml/2006/main">
              <a:ext uri="{FF2B5EF4-FFF2-40B4-BE49-F238E27FC236}">
                <a16:creationId xmlns:a16="http://schemas.microsoft.com/office/drawing/2014/main" id="{284E2D7C-2C1B-49A7-9A99-94BBE3327C54}"/>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6" name="">
            <a:extLst xmlns:a="http://schemas.openxmlformats.org/drawingml/2006/main">
              <a:ext uri="{FF2B5EF4-FFF2-40B4-BE49-F238E27FC236}">
                <a16:creationId xmlns:a16="http://schemas.microsoft.com/office/drawing/2014/main" id="{D44C4AA5-B52D-45B7-96C4-A2A3EF87C5D2}"/>
              </a:ext>
            </a:extLst>
          </p:cNvPr>
          <p:cNvSpPr>
            <a:spLocks xmlns:a="http://schemas.openxmlformats.org/drawingml/2006/main" noGrp="1"/>
          </p:cNvSpPr>
          <p:nvPr/>
        </p:nvSpPr>
        <p:spPr>
          <a:xfrm xmlns:a="http://schemas.openxmlformats.org/drawingml/2006/main">
            <a:off x="7943850" y="4619625"/>
            <a:ext cx="3619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1">
                <a:solidFill>
                  <a:srgbClr val="288DC1"/>
                </a:solidFill>
                <a:latin typeface="Aptos"/>
                <a:ea typeface="Aptos"/>
                <a:cs typeface="Aptos"/>
              </a:defRPr>
            </a:pPr>
            <a:r>
              <a:rPr sz="900" b="1">
                <a:solidFill>
                  <a:srgbClr val="288DC1"/>
                </a:solidFill>
                <a:latin typeface="Aptos"/>
                <a:ea typeface="Aptos"/>
                <a:cs typeface="Aptos"/>
              </a:rPr>
              <a:t>04</a:t>
            </a:r>
          </a:p>
        </p:txBody>
      </p:sp>
      <p:sp>
        <p:nvSpPr>
          <p:cNvPr id="27" name="">
            <a:extLst xmlns:a="http://schemas.openxmlformats.org/drawingml/2006/main">
              <a:ext uri="{FF2B5EF4-FFF2-40B4-BE49-F238E27FC236}">
                <a16:creationId xmlns:a16="http://schemas.microsoft.com/office/drawing/2014/main" id="{A87B2F7D-0A0F-4025-8F29-0AED1C300CB7}"/>
              </a:ext>
            </a:extLst>
          </p:cNvPr>
          <p:cNvSpPr>
            <a:spLocks xmlns:a="http://schemas.openxmlformats.org/drawingml/2006/main" noGrp="1"/>
          </p:cNvSpPr>
          <p:nvPr/>
        </p:nvSpPr>
        <p:spPr>
          <a:xfrm xmlns:a="http://schemas.openxmlformats.org/drawingml/2006/main">
            <a:off x="7943850" y="4886325"/>
            <a:ext cx="2400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350" b="1">
                <a:solidFill>
                  <a:srgbClr val="102A43"/>
                </a:solidFill>
                <a:latin typeface="Aptos"/>
                <a:ea typeface="Aptos"/>
                <a:cs typeface="Aptos"/>
              </a:defRPr>
            </a:pPr>
            <a:r>
              <a:rPr sz="1350" b="1">
                <a:solidFill>
                  <a:srgbClr val="102A43"/>
                </a:solidFill>
                <a:latin typeface="Aptos"/>
                <a:ea typeface="Aptos"/>
                <a:cs typeface="Aptos"/>
              </a:rPr>
              <a:t>JSONL / Loki</a:t>
            </a:r>
          </a:p>
        </p:txBody>
      </p:sp>
      <p:sp>
        <p:nvSpPr>
          <p:cNvPr id="28" name="">
            <a:extLst xmlns:a="http://schemas.openxmlformats.org/drawingml/2006/main">
              <a:ext uri="{FF2B5EF4-FFF2-40B4-BE49-F238E27FC236}">
                <a16:creationId xmlns:a16="http://schemas.microsoft.com/office/drawing/2014/main" id="{86A18E6C-4C6A-4CD9-9AE8-BF88C1CC5D93}"/>
              </a:ext>
            </a:extLst>
          </p:cNvPr>
          <p:cNvSpPr>
            <a:spLocks xmlns:a="http://schemas.openxmlformats.org/drawingml/2006/main" noGrp="1"/>
          </p:cNvSpPr>
          <p:nvPr/>
        </p:nvSpPr>
        <p:spPr>
          <a:xfrm xmlns:a="http://schemas.openxmlformats.org/drawingml/2006/main">
            <a:off x="7943850" y="5219700"/>
            <a:ext cx="24003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75" b="1">
                <a:solidFill>
                  <a:srgbClr val="4B687A"/>
                </a:solidFill>
                <a:latin typeface="Aptos"/>
                <a:ea typeface="Aptos"/>
                <a:cs typeface="Aptos"/>
              </a:defRPr>
            </a:pPr>
            <a:r>
              <a:rPr sz="975" b="1">
                <a:solidFill>
                  <a:srgbClr val="4B687A"/>
                </a:solidFill>
                <a:latin typeface="Aptos"/>
                <a:ea typeface="Aptos"/>
                <a:cs typeface="Aptos"/>
              </a:rPr>
              <a:t>Why: diagnose event-level failures.</a:t>
            </a:r>
          </a:p>
        </p:txBody>
      </p:sp>
      <p:sp>
        <p:nvSpPr>
          <p:cNvPr id="29" name="">
            <a:extLst xmlns:a="http://schemas.openxmlformats.org/drawingml/2006/main">
              <a:ext uri="{FF2B5EF4-FFF2-40B4-BE49-F238E27FC236}">
                <a16:creationId xmlns:a16="http://schemas.microsoft.com/office/drawing/2014/main" id="{2472B32E-B947-4CDB-857F-6A4D59CB9AB7}"/>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F3607D62-A4B3-42BC-9D36-1754DF042036}"/>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103DFF73-6D0C-48C1-860D-6C6F197FF854}"/>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A7D2BD58-0EF8-4A97-BE9C-9E48CB061F5A}"/>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F8731880-93D4-41B0-98E0-6E288FA9B8EF}"/>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C450E79A-224A-496D-85A1-2428B7A160A8}"/>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FD67B2D-0598-47B8-A44B-3EC23B563B91}"/>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7D6EBB1B-DA13-40B0-860F-41DA6DB97A50}"/>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7" name="">
            <a:extLst xmlns:a="http://schemas.openxmlformats.org/drawingml/2006/main">
              <a:ext uri="{FF2B5EF4-FFF2-40B4-BE49-F238E27FC236}">
                <a16:creationId xmlns:a16="http://schemas.microsoft.com/office/drawing/2014/main" id="{4A5A422B-2A70-4649-B5CF-38D9F37B4070}"/>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8" name="">
            <a:extLst xmlns:a="http://schemas.openxmlformats.org/drawingml/2006/main">
              <a:ext uri="{FF2B5EF4-FFF2-40B4-BE49-F238E27FC236}">
                <a16:creationId xmlns:a16="http://schemas.microsoft.com/office/drawing/2014/main" id="{51E09FF5-CCEE-4442-9E81-6E19A0E54EE2}"/>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9" name="">
            <a:extLst xmlns:a="http://schemas.openxmlformats.org/drawingml/2006/main">
              <a:ext uri="{FF2B5EF4-FFF2-40B4-BE49-F238E27FC236}">
                <a16:creationId xmlns:a16="http://schemas.microsoft.com/office/drawing/2014/main" id="{9ECC3356-239B-4D82-A17B-9877434B51AB}"/>
              </a:ext>
            </a:extLst>
          </p:cNvPr>
          <p:cNvSpPr>
            <a:spLocks xmlns:a="http://schemas.openxmlformats.org/drawingml/2006/main" noGrp="1"/>
          </p:cNvSpPr>
          <p:nvPr/>
        </p:nvSpPr>
        <p:spPr>
          <a:xfrm xmlns:a="http://schemas.openxmlformats.org/drawingml/2006/main">
            <a:off x="1428750" y="5619750"/>
            <a:ext cx="9334500" cy="26670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Observability closes the loop: real failures become better eval cases before the next release.</a:t>
            </a:r>
          </a:p>
        </p:txBody>
      </p:sp>
      <p:sp>
        <p:nvSpPr>
          <p:cNvPr id="40" name="">
            <a:extLst xmlns:a="http://schemas.openxmlformats.org/drawingml/2006/main">
              <a:ext uri="{FF2B5EF4-FFF2-40B4-BE49-F238E27FC236}">
                <a16:creationId xmlns:a16="http://schemas.microsoft.com/office/drawing/2014/main" id="{F2120949-3280-4F27-9B95-0C652414D1E0}"/>
              </a:ext>
            </a:extLst>
          </p:cNvPr>
          <p:cNvSpPr>
            <a:spLocks xmlns:a="http://schemas.openxmlformats.org/drawingml/2006/main" noGrp="1"/>
          </p:cNvSpPr>
          <p:nvPr/>
        </p:nvSpPr>
        <p:spPr>
          <a:xfrm xmlns:a="http://schemas.openxmlformats.org/drawingml/2006/main">
            <a:off x="2857500" y="5962650"/>
            <a:ext cx="647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975" b="1">
                <a:solidFill>
                  <a:srgbClr val="4B687A"/>
                </a:solidFill>
                <a:latin typeface="Aptos"/>
                <a:ea typeface="Aptos"/>
                <a:cs typeface="Aptos"/>
              </a:defRPr>
            </a:pPr>
            <a:r>
              <a:rPr sz="975" b="1">
                <a:solidFill>
                  <a:srgbClr val="4B687A"/>
                </a:solidFill>
                <a:latin typeface="Aptos"/>
                <a:ea typeface="Aptos"/>
                <a:cs typeface="Aptos"/>
              </a:rPr>
              <a:t>Asynchronous telemetry—never on the audio path.</a:t>
            </a:r>
          </a:p>
        </p:txBody>
      </p:sp>
      <p:sp>
        <p:nvSpPr>
          <p:cNvPr id="41" name="">
            <a:extLst xmlns:a="http://schemas.openxmlformats.org/drawingml/2006/main">
              <a:ext uri="{FF2B5EF4-FFF2-40B4-BE49-F238E27FC236}">
                <a16:creationId xmlns:a16="http://schemas.microsoft.com/office/drawing/2014/main" id="{2CC21AB6-5F52-4460-8DC7-88DCA21834C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326798649"/>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b3945d3bf500480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C2C32BA-14D8-4408-9CAF-14448F854F8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E5336F5-AB81-4545-B5E9-730A8A97DE8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861F8C37-C38D-4138-A4ED-2A4A7FC8F57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7A84B06-2AFD-4F24-8FA6-269A6DD341B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Latest Aira run: a replayable live session</a:t>
            </a:r>
          </a:p>
        </p:txBody>
      </p:sp>
      <p:sp>
        <p:nvSpPr>
          <p:cNvPr id="6" name="">
            <a:extLst xmlns:a="http://schemas.openxmlformats.org/drawingml/2006/main">
              <a:ext uri="{FF2B5EF4-FFF2-40B4-BE49-F238E27FC236}">
                <a16:creationId xmlns:a16="http://schemas.microsoft.com/office/drawing/2014/main" id="{6928DCEB-413B-4CBD-A839-F1DBB85DFD9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0246D73-292B-43B7-A6C2-ADC6CD8FC881}"/>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9CAC340-A02A-44B9-820E-CB11AA577747}"/>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1E456260-9326-402C-9328-FA09A86AEF52}"/>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6132E78F-5934-4852-AA92-7A2206A61250}"/>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940F8D75-1D03-4C8B-A481-3815C4B7D053}"/>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AE4E41CD-C4D2-4DC7-8C9F-57D2E2EE0732}"/>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AC3AF3C6-2BD1-4801-BD22-E7CDC3161F5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5890B792-93CF-468E-863A-6C993488D2B2}"/>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B3560293-A3E0-482A-A40B-4D0A65CB7426}"/>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2D09BD9A-E0A8-4F4E-919D-19844E7418FB}"/>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3EDE7DE4-1E1A-42E2-9242-B7EE9014EE90}"/>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3D86FE92-4EB1-4BAD-B551-777626C85ACE}"/>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478874D3-1937-4CE5-A4A0-4718889C5F28}"/>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EDCFE84B-7F6A-4D25-8F50-DB8132DDF346}"/>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936A2E84-7833-425C-A76A-C547FFEAA56E}"/>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AC81B5AA-13C7-4844-808F-9AE09F10AE0F}"/>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754BB953-1508-491D-B510-7BC21059B73F}"/>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8EE99A72-24E4-4FBD-8340-EBAD2B003B60}"/>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C5F1FD1F-675B-4B83-B874-361973375143}"/>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4AFBA84A-A838-4522-BE47-9D21002835AF}"/>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7C6E27B5-5BCD-41AA-8065-005BB7637101}"/>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1A0BD5D5-6FF0-47A4-9F81-2F0A0E2921C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B763FD89-08C0-4DA1-99FE-7E68E6985F74}"/>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AD2F4E74-2D52-4DC1-A2B7-5360B1A85090}"/>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BBE405D7-726E-4EE7-B5A9-62DFF4323D5C}"/>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8AA3B5D4-1D00-4B68-BB85-4BABC1B11A6A}"/>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0050EBCE-2924-443F-8231-9FD14B94B8A2}"/>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2D3912A6-387E-40D8-A9B9-BD044ACFE5E3}"/>
              </a:ext>
            </a:extLst>
          </p:cNvPr>
          <p:cNvSpPr>
            <a:spLocks xmlns:a="http://schemas.openxmlformats.org/drawingml/2006/main" noGrp="1"/>
          </p:cNvSpPr>
          <p:nvPr/>
        </p:nvSpPr>
        <p:spPr>
          <a:xfrm xmlns:a="http://schemas.openxmlformats.org/drawingml/2006/main">
            <a:off x="1428750" y="560070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One trace connects responsiveness, interruptions, actions and the caller’s journey.</a:t>
            </a:r>
          </a:p>
        </p:txBody>
      </p:sp>
      <p:sp>
        <p:nvSpPr>
          <p:cNvPr id="35" name="">
            <a:extLst xmlns:a="http://schemas.openxmlformats.org/drawingml/2006/main">
              <a:ext uri="{FF2B5EF4-FFF2-40B4-BE49-F238E27FC236}">
                <a16:creationId xmlns:a16="http://schemas.microsoft.com/office/drawing/2014/main" id="{2AE5DDF3-94D4-43F7-8CAD-E85CA763AE07}"/>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66562260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d6e41dced634df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AD5B1CC-EBEB-4E8F-98A4-843F5D86489C}"/>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8B4130F-D793-403F-AD7B-0DC49BE852E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0D52E8A6-91BC-41AD-9D33-E7095FDCEF5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31FE59E-70BC-40D0-AFD7-12442024DC6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9CA63A3B-0628-4236-B928-8E2B39F059A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A9E19E4-7855-463B-86CA-2251E387E3EC}"/>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9A7B705A-1F3B-40FE-8AD7-F9BCEEBBD8A5}"/>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85C56A79-6538-4CB1-843A-8F1E23DA5E4F}"/>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6C52ED43-AF0F-4440-8EF8-0F0BE1857498}"/>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8EF652CF-D1CD-4818-AC36-4A913D3BC885}"/>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836C75FF-4C55-413E-860D-636F25B9311A}"/>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C48DC13-356C-4003-A098-C0E36D56676E}"/>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17F6A4DF-C517-4620-85DE-E6E6156FEC57}"/>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F8F39BB9-A7C0-49AA-8646-C8550BB580B9}"/>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B79EE51E-123D-42BF-9319-A6031CE70BB1}"/>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F61C29AE-2A89-42C9-A615-BB4F71A4A90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2E255136-1549-4956-AA17-3FA904C1C43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747781EA-83C8-4A68-B9BC-6316A22BA2F4}"/>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94639B5E-7D74-4E0B-97DD-617F9404610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92736649"/>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42aea51c61c0495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6ADB38-23E6-4D0B-8943-3959DC38A2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7516BB4-0D5B-4C9A-9CDC-43CFB7449EA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C23E08AE-91A9-44F1-8738-C5C781D17AB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739991E-5EA9-452A-A225-BCD5BABDD6F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361EBF0F-D6FD-4046-A0B3-030C6DAA440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CFEF16E-30E6-49B0-89DD-A2C38A6B813B}"/>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7A7D7E5-AE53-4B6F-9A67-3FA305C81AF7}"/>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32568DDC-1F2E-4DE2-914F-377997110F62}"/>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12AD3B7D-FCCB-4A05-8772-13E91D54F4F8}"/>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737610A7-26FE-44CF-816A-ABEF31C1AB9B}"/>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0315ABAC-7300-47AA-9273-FB7BDF6D3383}"/>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66FAACF5-D9E5-4205-97BB-3E4A18A01A86}"/>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A4E19FC0-00D4-4D2C-AF86-AE00A3373C5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503A31E5-9B42-48C1-8782-37774CE3E90D}"/>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AEBC4AE4-EDCB-43F4-8B58-E68856B86504}"/>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35647ECD-B08C-4F15-B98D-078F00F37E15}"/>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06BAF6AD-348E-41D7-9DC1-E957B14658F0}"/>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FBD64838-62AC-46D8-B2E2-F7307D26074F}"/>
              </a:ext>
            </a:extLst>
          </p:cNvPr>
          <p:cNvSpPr>
            <a:spLocks xmlns:a="http://schemas.openxmlformats.org/drawingml/2006/main" noGrp="1"/>
          </p:cNvSpPr>
          <p:nvPr/>
        </p:nvSpPr>
        <p:spPr>
          <a:xfrm xmlns:a="http://schemas.openxmlformats.org/drawingml/2006/main">
            <a:off x="1190625" y="5638800"/>
            <a:ext cx="9810750" cy="438150"/>
          </a:xfrm>
          <a:prstGeom xmlns:a="http://schemas.openxmlformats.org/drawingml/2006/main" prst="roundRect">
            <a:avLst>
              <a:gd name="adj" fmla="val 34783"/>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The moat is not only a pretty voice: noisy telephony, dialects, interruption, cost, compliance, integrations and reliability at large volumes.</a:t>
            </a:r>
          </a:p>
        </p:txBody>
      </p:sp>
      <p:sp>
        <p:nvSpPr>
          <p:cNvPr id="20" name="">
            <a:extLst xmlns:a="http://schemas.openxmlformats.org/drawingml/2006/main">
              <a:ext uri="{FF2B5EF4-FFF2-40B4-BE49-F238E27FC236}">
                <a16:creationId xmlns:a16="http://schemas.microsoft.com/office/drawing/2014/main" id="{A514E054-D458-4658-90DA-BD3AF03A0D5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269325964"/>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40b67b4d5420412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1D524F6-0849-440B-A2DE-95B7E4E240E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FB6FA77-2CF2-433B-BBAA-98A05FBF1AB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7D1966E0-9495-426D-929E-63E5D917999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E6054F0-92A3-4CE7-A648-D79DA507A9B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ASBL inquiry reactivation and qualification</a:t>
            </a:r>
          </a:p>
        </p:txBody>
      </p:sp>
      <p:sp>
        <p:nvSpPr>
          <p:cNvPr id="6" name="">
            <a:extLst xmlns:a="http://schemas.openxmlformats.org/drawingml/2006/main">
              <a:ext uri="{FF2B5EF4-FFF2-40B4-BE49-F238E27FC236}">
                <a16:creationId xmlns:a16="http://schemas.microsoft.com/office/drawing/2014/main" id="{835CBAFA-935B-45FF-BF9A-56B328A78B7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18536BC-AD5A-49E7-B963-A041C9047963}"/>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D3F928BB-23D1-42AB-83CA-ADAF94ED8090}"/>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A7862B22-94D8-4831-9C9B-E9EFB92FD85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551542E1-EE20-4202-9280-BA2247918347}"/>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9F916984-F2B4-4542-94E7-0C447A0CA38D}"/>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DF277830-C3AB-49BE-A7A2-25CF5A8FC9D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350" b="1">
                <a:solidFill>
                  <a:srgbClr val="102A43"/>
                </a:solidFill>
                <a:latin typeface="Aptos"/>
                <a:ea typeface="Aptos"/>
                <a:cs typeface="Aptos"/>
              </a:defRPr>
            </a:pPr>
            <a:r>
              <a:rPr sz="1350" b="1">
                <a:solidFill>
                  <a:srgbClr val="102A43"/>
                </a:solidFill>
                <a:latin typeface="Aptos"/>
                <a:ea typeface="Aptos"/>
                <a:cs typeface="Aptos"/>
              </a:rPr>
              <a:t>reactivation · permission · intent · FAQs · qualification · follow-up</a:t>
            </a:r>
          </a:p>
        </p:txBody>
      </p:sp>
      <p:sp>
        <p:nvSpPr>
          <p:cNvPr id="13" name="">
            <a:extLst xmlns:a="http://schemas.openxmlformats.org/drawingml/2006/main">
              <a:ext uri="{FF2B5EF4-FFF2-40B4-BE49-F238E27FC236}">
                <a16:creationId xmlns:a16="http://schemas.microsoft.com/office/drawing/2014/main" id="{8F60F0D4-D363-4659-A41F-3B4EB9B59CC3}"/>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91390334-22CD-4169-A7A5-C1CCD42F0318}"/>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F1A6701A-21AE-412C-87E0-EA8DCE3AC492}"/>
              </a:ext>
            </a:extLst>
          </p:cNvPr>
          <p:cNvSpPr>
            <a:spLocks xmlns:a="http://schemas.openxmlformats.org/drawingml/2006/main" noGrp="1"/>
          </p:cNvSpPr>
          <p:nvPr/>
        </p:nvSpPr>
        <p:spPr>
          <a:xfrm xmlns:a="http://schemas.openxmlformats.org/drawingml/2006/main">
            <a:off x="1190625" y="5810250"/>
            <a:ext cx="9810750" cy="285750"/>
          </a:xfrm>
          <a:prstGeom xmlns:a="http://schemas.openxmlformats.org/drawingml/2006/main" prst="roundRect">
            <a:avLst>
              <a:gd name="adj" fmla="val 500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125" b="1">
                <a:solidFill>
                  <a:srgbClr val="102A43"/>
                </a:solidFill>
                <a:latin typeface="Aptos"/>
                <a:ea typeface="Aptos"/>
                <a:cs typeface="Aptos"/>
              </a:defRPr>
            </a:pPr>
            <a:r>
              <a:rPr sz="1125" b="1">
                <a:solidFill>
                  <a:srgbClr val="102A43"/>
                </a:solidFill>
                <a:latin typeface="Aptos"/>
                <a:ea typeface="Aptos"/>
                <a:cs typeface="Aptos"/>
              </a:rPr>
              <a:t>At millions of leads, Aira can re-engage and screen every inquiry, routing only high-intent, consented opportunities to advisors.</a:t>
            </a:r>
          </a:p>
        </p:txBody>
      </p:sp>
      <p:sp>
        <p:nvSpPr>
          <p:cNvPr id="16" name="">
            <a:extLst xmlns:a="http://schemas.openxmlformats.org/drawingml/2006/main">
              <a:ext uri="{FF2B5EF4-FFF2-40B4-BE49-F238E27FC236}">
                <a16:creationId xmlns:a16="http://schemas.microsoft.com/office/drawing/2014/main" id="{9BBB9A6C-BD6A-4282-8F1A-C0F831E557C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630533377"/>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43" name=""/>
          <p:cNvPicPr>
            <a:picLocks xmlns:a="http://schemas.openxmlformats.org/drawingml/2006/main" noChangeAspect="1"/>
          </p:cNvPicPr>
          <p:nvPr/>
        </p:nvPicPr>
        <p:blipFill>
          <a:blip xmlns:r="http://schemas.openxmlformats.org/officeDocument/2006/relationships" xmlns:a="http://schemas.openxmlformats.org/drawingml/2006/main" r:embed="R0f2ab45a267a4e9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7ED8696-7C15-4CE3-BEB8-91B91113078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8AD3BC9-EC27-4A2A-989E-A3CACAB9544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AB7BB840-E74A-4EA4-BF9C-D49AF35E8E5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3CBD353-C495-490D-A62A-F91C410C4B1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57E72EB9-3F55-4FEA-8C39-4970425AF74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27D4CB3-A998-4150-9BB2-EB1F5346C815}"/>
              </a:ext>
            </a:extLst>
          </p:cNvPr>
          <p:cNvSpPr>
            <a:spLocks xmlns:a="http://schemas.openxmlformats.org/drawingml/2006/main" noGrp="1"/>
          </p:cNvSpPr>
          <p:nvPr/>
        </p:nvSpPr>
        <p:spPr>
          <a:xfrm xmlns:a="http://schemas.openxmlformats.org/drawingml/2006/main">
            <a:off x="14287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8" name="">
            <a:extLst xmlns:a="http://schemas.openxmlformats.org/drawingml/2006/main">
              <a:ext uri="{FF2B5EF4-FFF2-40B4-BE49-F238E27FC236}">
                <a16:creationId xmlns:a16="http://schemas.microsoft.com/office/drawing/2014/main" id="{CF42ECAE-0C29-4DE1-A516-9420BDFD291E}"/>
              </a:ext>
            </a:extLst>
          </p:cNvPr>
          <p:cNvSpPr>
            <a:spLocks xmlns:a="http://schemas.openxmlformats.org/drawingml/2006/main" noGrp="1"/>
          </p:cNvSpPr>
          <p:nvPr/>
        </p:nvSpPr>
        <p:spPr>
          <a:xfrm xmlns:a="http://schemas.openxmlformats.org/drawingml/2006/main">
            <a:off x="35433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9" name="">
            <a:extLst xmlns:a="http://schemas.openxmlformats.org/drawingml/2006/main">
              <a:ext uri="{FF2B5EF4-FFF2-40B4-BE49-F238E27FC236}">
                <a16:creationId xmlns:a16="http://schemas.microsoft.com/office/drawing/2014/main" id="{AF554B44-2BA3-4FE0-941E-DF8DB17B4F84}"/>
              </a:ext>
            </a:extLst>
          </p:cNvPr>
          <p:cNvSpPr>
            <a:spLocks xmlns:a="http://schemas.openxmlformats.org/drawingml/2006/main" noGrp="1"/>
          </p:cNvSpPr>
          <p:nvPr/>
        </p:nvSpPr>
        <p:spPr>
          <a:xfrm xmlns:a="http://schemas.openxmlformats.org/drawingml/2006/main">
            <a:off x="565785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B042C4A0-6B92-411F-A798-92B5BE803A9F}"/>
              </a:ext>
            </a:extLst>
          </p:cNvPr>
          <p:cNvSpPr>
            <a:spLocks xmlns:a="http://schemas.openxmlformats.org/drawingml/2006/main" noGrp="1"/>
          </p:cNvSpPr>
          <p:nvPr/>
        </p:nvSpPr>
        <p:spPr>
          <a:xfrm xmlns:a="http://schemas.openxmlformats.org/drawingml/2006/main">
            <a:off x="7772400" y="244792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1" name="">
            <a:extLst xmlns:a="http://schemas.openxmlformats.org/drawingml/2006/main">
              <a:ext uri="{FF2B5EF4-FFF2-40B4-BE49-F238E27FC236}">
                <a16:creationId xmlns:a16="http://schemas.microsoft.com/office/drawing/2014/main" id="{59598AF7-E785-4FBF-9F93-40A935B2F782}"/>
              </a:ext>
            </a:extLst>
          </p:cNvPr>
          <p:cNvSpPr>
            <a:spLocks xmlns:a="http://schemas.openxmlformats.org/drawingml/2006/main" noGrp="1"/>
          </p:cNvSpPr>
          <p:nvPr/>
        </p:nvSpPr>
        <p:spPr>
          <a:xfrm xmlns:a="http://schemas.openxmlformats.org/drawingml/2006/main">
            <a:off x="14287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67787942-A83E-421C-B58F-772D75D2CCBB}"/>
              </a:ext>
            </a:extLst>
          </p:cNvPr>
          <p:cNvSpPr>
            <a:spLocks xmlns:a="http://schemas.openxmlformats.org/drawingml/2006/main" noGrp="1"/>
          </p:cNvSpPr>
          <p:nvPr/>
        </p:nvSpPr>
        <p:spPr>
          <a:xfrm xmlns:a="http://schemas.openxmlformats.org/drawingml/2006/main">
            <a:off x="354330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C9E53A2B-109B-48B9-A280-81209CA13808}"/>
              </a:ext>
            </a:extLst>
          </p:cNvPr>
          <p:cNvSpPr>
            <a:spLocks xmlns:a="http://schemas.openxmlformats.org/drawingml/2006/main" noGrp="1"/>
          </p:cNvSpPr>
          <p:nvPr/>
        </p:nvSpPr>
        <p:spPr>
          <a:xfrm xmlns:a="http://schemas.openxmlformats.org/drawingml/2006/main">
            <a:off x="5657850" y="3952875"/>
            <a:ext cx="15240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C030C0CE-DACE-4297-838D-8AD29A797C22}"/>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5" name="">
            <a:extLst xmlns:a="http://schemas.openxmlformats.org/drawingml/2006/main">
              <a:ext uri="{FF2B5EF4-FFF2-40B4-BE49-F238E27FC236}">
                <a16:creationId xmlns:a16="http://schemas.microsoft.com/office/drawing/2014/main" id="{3D2EDAFE-5DEE-4C8D-A5DF-45BA9D9FC10B}"/>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16" name="">
            <a:extLst xmlns:a="http://schemas.openxmlformats.org/drawingml/2006/main">
              <a:ext uri="{FF2B5EF4-FFF2-40B4-BE49-F238E27FC236}">
                <a16:creationId xmlns:a16="http://schemas.microsoft.com/office/drawing/2014/main" id="{27558600-ECAD-41E0-AE8D-B092361E0FE6}"/>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7" name="">
            <a:extLst xmlns:a="http://schemas.openxmlformats.org/drawingml/2006/main">
              <a:ext uri="{FF2B5EF4-FFF2-40B4-BE49-F238E27FC236}">
                <a16:creationId xmlns:a16="http://schemas.microsoft.com/office/drawing/2014/main" id="{FAB02ECE-AB75-4746-94E3-1DA6252CB6F6}"/>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027D8BA1-847A-45FC-9BDD-120342308266}"/>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9" name="">
            <a:extLst xmlns:a="http://schemas.openxmlformats.org/drawingml/2006/main">
              <a:ext uri="{FF2B5EF4-FFF2-40B4-BE49-F238E27FC236}">
                <a16:creationId xmlns:a16="http://schemas.microsoft.com/office/drawing/2014/main" id="{EE021A17-4682-4066-B219-48F82B458EA1}"/>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20" name="">
            <a:extLst xmlns:a="http://schemas.openxmlformats.org/drawingml/2006/main">
              <a:ext uri="{FF2B5EF4-FFF2-40B4-BE49-F238E27FC236}">
                <a16:creationId xmlns:a16="http://schemas.microsoft.com/office/drawing/2014/main" id="{3B8E0B0A-F269-4312-ADE1-E73A16D2EFF2}"/>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B7D43413-A548-4E24-9915-E23C182521B4}"/>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22" name="">
            <a:extLst xmlns:a="http://schemas.openxmlformats.org/drawingml/2006/main">
              <a:ext uri="{FF2B5EF4-FFF2-40B4-BE49-F238E27FC236}">
                <a16:creationId xmlns:a16="http://schemas.microsoft.com/office/drawing/2014/main" id="{16453DFE-A2DA-4F55-AA40-4AF0206D546F}"/>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Do Not Call</a:t>
            </a:r>
          </a:p>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23" name="">
            <a:extLst xmlns:a="http://schemas.openxmlformats.org/drawingml/2006/main">
              <a:ext uri="{FF2B5EF4-FFF2-40B4-BE49-F238E27FC236}">
                <a16:creationId xmlns:a16="http://schemas.microsoft.com/office/drawing/2014/main" id="{9C56D645-9E9C-44F5-AD16-2B3739CEA6E0}"/>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84AFBF44-FA30-4639-BE2A-88A15E9B1E85}"/>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25" name="">
            <a:extLst xmlns:a="http://schemas.openxmlformats.org/drawingml/2006/main">
              <a:ext uri="{FF2B5EF4-FFF2-40B4-BE49-F238E27FC236}">
                <a16:creationId xmlns:a16="http://schemas.microsoft.com/office/drawing/2014/main" id="{80A891EA-ACA3-4829-9E40-E804117A40FD}"/>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26" name="">
            <a:extLst xmlns:a="http://schemas.openxmlformats.org/drawingml/2006/main">
              <a:ext uri="{FF2B5EF4-FFF2-40B4-BE49-F238E27FC236}">
                <a16:creationId xmlns:a16="http://schemas.microsoft.com/office/drawing/2014/main" id="{AAF4E8DF-D4B9-4CF7-AE8A-5210B3A364D1}"/>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392C8C3C-C5AA-4906-905E-74393360524B}"/>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8" name="">
            <a:extLst xmlns:a="http://schemas.openxmlformats.org/drawingml/2006/main">
              <a:ext uri="{FF2B5EF4-FFF2-40B4-BE49-F238E27FC236}">
                <a16:creationId xmlns:a16="http://schemas.microsoft.com/office/drawing/2014/main" id="{36CCAE97-93F3-4C7E-A094-CD7A50BA81C7}"/>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9" name="">
            <a:extLst xmlns:a="http://schemas.openxmlformats.org/drawingml/2006/main">
              <a:ext uri="{FF2B5EF4-FFF2-40B4-BE49-F238E27FC236}">
                <a16:creationId xmlns:a16="http://schemas.microsoft.com/office/drawing/2014/main" id="{D2250660-746E-4DBC-806F-B5A5F254869C}"/>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46F312E5-671A-4C82-A362-A2A61DC51DE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31" name="">
            <a:extLst xmlns:a="http://schemas.openxmlformats.org/drawingml/2006/main">
              <a:ext uri="{FF2B5EF4-FFF2-40B4-BE49-F238E27FC236}">
                <a16:creationId xmlns:a16="http://schemas.microsoft.com/office/drawing/2014/main" id="{B9889947-8025-4E9A-86FC-3F8BBE56F3B6}"/>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32" name="">
            <a:extLst xmlns:a="http://schemas.openxmlformats.org/drawingml/2006/main">
              <a:ext uri="{FF2B5EF4-FFF2-40B4-BE49-F238E27FC236}">
                <a16:creationId xmlns:a16="http://schemas.microsoft.com/office/drawing/2014/main" id="{08B031A2-F5D4-42D2-97BC-11C44620F7D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F2AC09C3-A2F7-42BD-98B6-548CE29D32CD}"/>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34" name="">
            <a:extLst xmlns:a="http://schemas.openxmlformats.org/drawingml/2006/main">
              <a:ext uri="{FF2B5EF4-FFF2-40B4-BE49-F238E27FC236}">
                <a16:creationId xmlns:a16="http://schemas.microsoft.com/office/drawing/2014/main" id="{BF06F9F6-F2CA-40FC-8D3F-17DCF21FDE2D}"/>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35" name="">
            <a:extLst xmlns:a="http://schemas.openxmlformats.org/drawingml/2006/main">
              <a:ext uri="{FF2B5EF4-FFF2-40B4-BE49-F238E27FC236}">
                <a16:creationId xmlns:a16="http://schemas.microsoft.com/office/drawing/2014/main" id="{6DB136D8-9533-47EC-8A1D-7ABE0E94882A}"/>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F458E45A-68F0-4744-A2C6-75EEA53C0B3F}"/>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7" name="">
            <a:extLst xmlns:a="http://schemas.openxmlformats.org/drawingml/2006/main">
              <a:ext uri="{FF2B5EF4-FFF2-40B4-BE49-F238E27FC236}">
                <a16:creationId xmlns:a16="http://schemas.microsoft.com/office/drawing/2014/main" id="{A66B4B7D-89DC-4920-AF08-37479F69F196}"/>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8" name="">
            <a:extLst xmlns:a="http://schemas.openxmlformats.org/drawingml/2006/main">
              <a:ext uri="{FF2B5EF4-FFF2-40B4-BE49-F238E27FC236}">
                <a16:creationId xmlns:a16="http://schemas.microsoft.com/office/drawing/2014/main" id="{85F3BF23-6CCA-4B5C-9804-7EB1070B28E1}"/>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9" name="">
            <a:extLst xmlns:a="http://schemas.openxmlformats.org/drawingml/2006/main">
              <a:ext uri="{FF2B5EF4-FFF2-40B4-BE49-F238E27FC236}">
                <a16:creationId xmlns:a16="http://schemas.microsoft.com/office/drawing/2014/main" id="{040D15B9-2BF0-46F7-8E7A-C59420EC923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40" name="">
            <a:extLst xmlns:a="http://schemas.openxmlformats.org/drawingml/2006/main">
              <a:ext uri="{FF2B5EF4-FFF2-40B4-BE49-F238E27FC236}">
                <a16:creationId xmlns:a16="http://schemas.microsoft.com/office/drawing/2014/main" id="{05C43C72-9497-4FB9-804A-99B57570A74C}"/>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41" name="">
            <a:extLst xmlns:a="http://schemas.openxmlformats.org/drawingml/2006/main">
              <a:ext uri="{FF2B5EF4-FFF2-40B4-BE49-F238E27FC236}">
                <a16:creationId xmlns:a16="http://schemas.microsoft.com/office/drawing/2014/main" id="{DD2488E1-9202-4E33-8EE4-DC4C1A1B672A}"/>
              </a:ext>
            </a:extLst>
          </p:cNvPr>
          <p:cNvSpPr>
            <a:spLocks xmlns:a="http://schemas.openxmlformats.org/drawingml/2006/main" noGrp="1"/>
          </p:cNvSpPr>
          <p:nvPr/>
        </p:nvSpPr>
        <p:spPr>
          <a:xfrm xmlns:a="http://schemas.openxmlformats.org/drawingml/2006/main">
            <a:off x="1428750" y="5667375"/>
            <a:ext cx="9334500" cy="361950"/>
          </a:xfrm>
          <a:prstGeom xmlns:a="http://schemas.openxmlformats.org/drawingml/2006/main" prst="roundRect">
            <a:avLst>
              <a:gd name="adj" fmla="val 42105"/>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102A43"/>
                </a:solidFill>
                <a:latin typeface="Aptos"/>
                <a:ea typeface="Aptos"/>
                <a:cs typeface="Aptos"/>
              </a:defRPr>
            </a:pPr>
            <a:r>
              <a:rPr sz="1275" b="1">
                <a:solidFill>
                  <a:srgbClr val="102A43"/>
                </a:solidFill>
                <a:latin typeface="Aptos"/>
                <a:ea typeface="Aptos"/>
                <a:cs typeface="Aptos"/>
              </a:rPr>
              <a:t>A production agent is a reliable call system: every conversation must be safe, observable and recoverable at scale.</a:t>
            </a:r>
          </a:p>
        </p:txBody>
      </p:sp>
      <p:sp>
        <p:nvSpPr>
          <p:cNvPr id="42" name="">
            <a:extLst xmlns:a="http://schemas.openxmlformats.org/drawingml/2006/main">
              <a:ext uri="{FF2B5EF4-FFF2-40B4-BE49-F238E27FC236}">
                <a16:creationId xmlns:a16="http://schemas.microsoft.com/office/drawing/2014/main" id="{85211A0B-AF5B-4A3A-84B0-F31F24C1431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546906153"/>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6a3bf6b1b4b24d3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9B5BE91-106F-43DD-A688-C7F72EA69A4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ECABBBE-4B5F-4FEB-9EA5-1834EFCC710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8008D637-35F7-487B-B2BD-6E39FD33762A}"/>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A0DA5D9-DF24-413D-804D-1475D43EF41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opening: owned call data + multilingual frontier</a:t>
            </a:r>
          </a:p>
        </p:txBody>
      </p:sp>
      <p:sp>
        <p:nvSpPr>
          <p:cNvPr id="6" name="">
            <a:extLst xmlns:a="http://schemas.openxmlformats.org/drawingml/2006/main">
              <a:ext uri="{FF2B5EF4-FFF2-40B4-BE49-F238E27FC236}">
                <a16:creationId xmlns:a16="http://schemas.microsoft.com/office/drawing/2014/main" id="{881A823B-7FB5-40D0-A795-D73D5CA18DD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8D447C1-B2F6-44F3-9243-B2E7E5999E94}"/>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33CF5CC-2636-4A43-9DB6-66C008C2BF3E}"/>
              </a:ext>
            </a:extLst>
          </p:cNvPr>
          <p:cNvSpPr>
            <a:spLocks xmlns:a="http://schemas.openxmlformats.org/drawingml/2006/main" noGrp="1"/>
          </p:cNvSpPr>
          <p:nvPr/>
        </p:nvSpPr>
        <p:spPr>
          <a:xfrm xmlns:a="http://schemas.openxmlformats.org/drawingml/2006/main">
            <a:off x="1371600" y="40767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100s hrs</a:t>
            </a:r>
          </a:p>
        </p:txBody>
      </p:sp>
      <p:sp>
        <p:nvSpPr>
          <p:cNvPr id="9" name="">
            <a:extLst xmlns:a="http://schemas.openxmlformats.org/drawingml/2006/main">
              <a:ext uri="{FF2B5EF4-FFF2-40B4-BE49-F238E27FC236}">
                <a16:creationId xmlns:a16="http://schemas.microsoft.com/office/drawing/2014/main" id="{215B8D19-D9BE-4B64-AB56-CE415E3F534C}"/>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Recorded ASBL</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sales calls</a:t>
            </a:r>
          </a:p>
        </p:txBody>
      </p:sp>
      <p:sp>
        <p:nvSpPr>
          <p:cNvPr id="10" name="">
            <a:extLst xmlns:a="http://schemas.openxmlformats.org/drawingml/2006/main">
              <a:ext uri="{FF2B5EF4-FFF2-40B4-BE49-F238E27FC236}">
                <a16:creationId xmlns:a16="http://schemas.microsoft.com/office/drawing/2014/main" id="{15FAAACA-3C0B-4BDA-8C63-734CB17E3E03}"/>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9FA3E6-A45E-4957-B63D-989F6BA3CCB0}"/>
              </a:ext>
            </a:extLst>
          </p:cNvPr>
          <p:cNvSpPr>
            <a:spLocks xmlns:a="http://schemas.openxmlformats.org/drawingml/2006/main" noGrp="1"/>
          </p:cNvSpPr>
          <p:nvPr/>
        </p:nvSpPr>
        <p:spPr>
          <a:xfrm xmlns:a="http://schemas.openxmlformats.org/drawingml/2006/main">
            <a:off x="4819650" y="329565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288DC1"/>
                </a:solidFill>
                <a:latin typeface="Aptos Mono"/>
                <a:ea typeface="Aptos Mono"/>
                <a:cs typeface="Aptos Mono"/>
              </a:defRPr>
            </a:pPr>
            <a:r>
              <a:rPr sz="1125" b="1">
                <a:solidFill>
                  <a:srgbClr val="288DC1"/>
                </a:solidFill>
                <a:latin typeface="Aptos Mono"/>
                <a:ea typeface="Aptos Mono"/>
                <a:cs typeface="Aptos Mono"/>
              </a:rPr>
              <a:t>LEARN</a:t>
            </a:r>
          </a:p>
        </p:txBody>
      </p:sp>
      <p:sp>
        <p:nvSpPr>
          <p:cNvPr id="12" name="">
            <a:extLst xmlns:a="http://schemas.openxmlformats.org/drawingml/2006/main">
              <a:ext uri="{FF2B5EF4-FFF2-40B4-BE49-F238E27FC236}">
                <a16:creationId xmlns:a16="http://schemas.microsoft.com/office/drawing/2014/main" id="{3572FE2D-D30B-4EAE-94FE-4EDF3A6FDE9F}"/>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Consent-safe data</a:t>
            </a:r>
          </a:p>
          <a:p xmlns:a="http://schemas.openxmlformats.org/drawingml/2006/main">
            <a:pPr algn="ctr">
              <a:defRPr sz="1500" b="1">
                <a:solidFill>
                  <a:srgbClr val="102A43"/>
                </a:solidFill>
                <a:latin typeface="Aptos"/>
                <a:ea typeface="Aptos"/>
                <a:cs typeface="Aptos"/>
              </a:defRPr>
            </a:pPr>
            <a:r>
              <a:rPr sz="1500" b="1">
                <a:solidFill>
                  <a:srgbClr val="102A43"/>
                </a:solidFill>
                <a:latin typeface="Aptos"/>
                <a:ea typeface="Aptos"/>
                <a:cs typeface="Aptos"/>
              </a:rPr>
              <a:t>→ real-call evals</a:t>
            </a:r>
          </a:p>
        </p:txBody>
      </p:sp>
      <p:sp>
        <p:nvSpPr>
          <p:cNvPr id="13" name="">
            <a:extLst xmlns:a="http://schemas.openxmlformats.org/drawingml/2006/main">
              <a:ext uri="{FF2B5EF4-FFF2-40B4-BE49-F238E27FC236}">
                <a16:creationId xmlns:a16="http://schemas.microsoft.com/office/drawing/2014/main" id="{33C4BBD6-D61E-41B9-9929-033228860D98}"/>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E859B3B4-EC98-4497-A097-D94BDD303632}"/>
              </a:ext>
            </a:extLst>
          </p:cNvPr>
          <p:cNvSpPr>
            <a:spLocks xmlns:a="http://schemas.openxmlformats.org/drawingml/2006/main" noGrp="1"/>
          </p:cNvSpPr>
          <p:nvPr/>
        </p:nvSpPr>
        <p:spPr>
          <a:xfrm xmlns:a="http://schemas.openxmlformats.org/drawingml/2006/main">
            <a:off x="8267700" y="2514600"/>
            <a:ext cx="1238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125" b="1">
                <a:solidFill>
                  <a:srgbClr val="FFF8EA"/>
                </a:solidFill>
                <a:latin typeface="Aptos Mono"/>
                <a:ea typeface="Aptos Mono"/>
                <a:cs typeface="Aptos Mono"/>
              </a:defRPr>
            </a:pPr>
            <a:r>
              <a:rPr sz="1125" b="1">
                <a:solidFill>
                  <a:srgbClr val="FFF8EA"/>
                </a:solidFill>
                <a:latin typeface="Aptos Mono"/>
                <a:ea typeface="Aptos Mono"/>
                <a:cs typeface="Aptos Mono"/>
              </a:rPr>
              <a:t>OPEN</a:t>
            </a:r>
          </a:p>
        </p:txBody>
      </p:sp>
      <p:sp>
        <p:nvSpPr>
          <p:cNvPr id="15" name="">
            <a:extLst xmlns:a="http://schemas.openxmlformats.org/drawingml/2006/main">
              <a:ext uri="{FF2B5EF4-FFF2-40B4-BE49-F238E27FC236}">
                <a16:creationId xmlns:a16="http://schemas.microsoft.com/office/drawing/2014/main" id="{D4E9763B-E3FD-4C97-9C5D-96149E023331}"/>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Multilingual + code-mixed</a:t>
            </a:r>
          </a:p>
          <a:p xmlns:a="http://schemas.openxmlformats.org/drawingml/2006/main">
            <a:pPr algn="ctr">
              <a:defRPr sz="1500" b="1">
                <a:solidFill>
                  <a:srgbClr val="FFF8EA"/>
                </a:solidFill>
                <a:latin typeface="Aptos"/>
                <a:ea typeface="Aptos"/>
                <a:cs typeface="Aptos"/>
              </a:defRPr>
            </a:pPr>
            <a:r>
              <a:rPr sz="1500" b="1">
                <a:solidFill>
                  <a:srgbClr val="FFF8EA"/>
                </a:solidFill>
                <a:latin typeface="Aptos"/>
                <a:ea typeface="Aptos"/>
                <a:cs typeface="Aptos"/>
              </a:rPr>
              <a:t>reliability is still open</a:t>
            </a:r>
          </a:p>
        </p:txBody>
      </p:sp>
      <p:sp>
        <p:nvSpPr>
          <p:cNvPr id="16" name="">
            <a:extLst xmlns:a="http://schemas.openxmlformats.org/drawingml/2006/main">
              <a:ext uri="{FF2B5EF4-FFF2-40B4-BE49-F238E27FC236}">
                <a16:creationId xmlns:a16="http://schemas.microsoft.com/office/drawing/2014/main" id="{A4667D5D-D77C-4BD2-A5C7-8A1414827DE0}"/>
              </a:ext>
            </a:extLst>
          </p:cNvPr>
          <p:cNvSpPr>
            <a:spLocks xmlns:a="http://schemas.openxmlformats.org/drawingml/2006/main" noGrp="1"/>
          </p:cNvSpPr>
          <p:nvPr/>
        </p:nvSpPr>
        <p:spPr>
          <a:xfrm xmlns:a="http://schemas.openxmlformats.org/drawingml/2006/main">
            <a:off x="1428750" y="5619750"/>
            <a:ext cx="9334500" cy="342900"/>
          </a:xfrm>
          <a:prstGeom xmlns:a="http://schemas.openxmlformats.org/drawingml/2006/main" prst="roundRect">
            <a:avLst>
              <a:gd name="adj" fmla="val 4444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The advantage is the loop: data → evaluations → reliability—before anyone treats multilingual voice as solved.</a:t>
            </a:r>
          </a:p>
        </p:txBody>
      </p:sp>
      <p:sp>
        <p:nvSpPr>
          <p:cNvPr id="17" name="">
            <a:extLst xmlns:a="http://schemas.openxmlformats.org/drawingml/2006/main">
              <a:ext uri="{FF2B5EF4-FFF2-40B4-BE49-F238E27FC236}">
                <a16:creationId xmlns:a16="http://schemas.microsoft.com/office/drawing/2014/main" id="{D6029EA1-8B04-424E-B3E6-4AF7E80EA8E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ASBL call-recording asset · Duet evaluation framework</a:t>
            </a:r>
          </a:p>
        </p:txBody>
      </p:sp>
    </p:spTree>
    <p:extLst>
      <p:ext uri="{BB962C8B-B14F-4D97-AF65-F5344CB8AC3E}">
        <p14:creationId xmlns:p14="http://schemas.microsoft.com/office/powerpoint/2010/main" val="77241859"/>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27f79ce9582c4604"/>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40FC8CC-E4F4-43BC-949D-9649A0B49A2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DDD8393E-F35E-44B8-B6ED-57960A9004E5}"/>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2B8E99B6-5ABE-48B5-AA98-9BDB94267A6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EE09676F-63F0-41BC-85DE-ED2B6BD4141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41F6EAB3-2957-446F-9459-D09818AA3D8D}"/>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BA49CF37-A633-45D5-97F2-7043D4A5F47C}"/>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3095001D-FDE2-476B-9114-E1500AC19211}"/>
              </a:ext>
            </a:extLst>
          </p:cNvPr>
          <p:cNvSpPr>
            <a:spLocks xmlns:a="http://schemas.openxmlformats.org/drawingml/2006/main" noGrp="1"/>
          </p:cNvSpPr>
          <p:nvPr/>
        </p:nvSpPr>
        <p:spPr>
          <a:xfrm xmlns:a="http://schemas.openxmlformats.org/drawingml/2006/main">
            <a:off x="1428750" y="4514850"/>
            <a:ext cx="9334500" cy="323850"/>
          </a:xfrm>
          <a:prstGeom xmlns:a="http://schemas.openxmlformats.org/drawingml/2006/main" prst="roundRect">
            <a:avLst>
              <a:gd name="adj" fmla="val 47059"/>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102A43"/>
                </a:solidFill>
                <a:latin typeface="Aptos"/>
                <a:ea typeface="Aptos"/>
                <a:cs typeface="Aptos"/>
              </a:defRPr>
            </a:pPr>
            <a:r>
              <a:rPr sz="1200" b="1">
                <a:solidFill>
                  <a:srgbClr val="102A43"/>
                </a:solidFill>
                <a:latin typeface="Aptos"/>
                <a:ea typeface="Aptos"/>
                <a:cs typeface="Aptos"/>
              </a:rPr>
              <a:t>Buy the best primitives. Own interaction state, evidence and the evaluation loop. Keep the research lane alive.</a:t>
            </a:r>
          </a:p>
        </p:txBody>
      </p:sp>
      <p:sp>
        <p:nvSpPr>
          <p:cNvPr id="9" name="">
            <a:extLst xmlns:a="http://schemas.openxmlformats.org/drawingml/2006/main">
              <a:ext uri="{FF2B5EF4-FFF2-40B4-BE49-F238E27FC236}">
                <a16:creationId xmlns:a16="http://schemas.microsoft.com/office/drawing/2014/main" id="{127D6692-5F29-4690-8B82-8B0BC34B53FB}"/>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10" name="">
            <a:extLst xmlns:a="http://schemas.openxmlformats.org/drawingml/2006/main">
              <a:ext uri="{FF2B5EF4-FFF2-40B4-BE49-F238E27FC236}">
                <a16:creationId xmlns:a16="http://schemas.microsoft.com/office/drawing/2014/main" id="{36904C30-3021-4DD7-8DAF-93645964A514}"/>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DDC92ABD-309A-4794-B4F3-F8236FDA4FF6}"/>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692837F-99CB-4E64-91E0-2DDA7A9673E9}"/>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EDD2790C-0E1F-49F8-A725-58C9E514CE4B}"/>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17A8694-039A-4EEB-9FE1-1F6BC38EAF88}"/>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229E6395-E700-4E88-93A2-B04B8DCF7189}"/>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BED71989-9C75-4C56-82F3-71FC04169F94}"/>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C4263027-9BD3-44F8-9FC7-08376D1E584A}"/>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BC4ED255-1750-4236-9B04-F1EA0138A5D2}"/>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FC2AF979-7F57-4E07-BC38-E241FF75E681}"/>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0A0C0CC1-DC2D-4275-836A-E2E7670FC96A}"/>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2D3C6248-4436-4529-A2E6-1C88B4C812D8}"/>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E614D158-B852-46EA-8303-44DAE327C1F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30129D82-56E8-4FA8-A919-FD9A5876CFA7}"/>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20C47164-D2FE-4B31-AA4E-6F7FF17129B1}"/>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5" name="">
            <a:extLst xmlns:a="http://schemas.openxmlformats.org/drawingml/2006/main">
              <a:ext uri="{FF2B5EF4-FFF2-40B4-BE49-F238E27FC236}">
                <a16:creationId xmlns:a16="http://schemas.microsoft.com/office/drawing/2014/main" id="{3CC9AFF3-2640-4A24-AF76-56D0A57B6A00}"/>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66B4D73D-BB2E-4520-91D6-0C109D5ED16F}"/>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A03AAE6C-AEF6-4319-8126-3D8A026F3234}"/>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F98565D8-D272-478A-88A9-E8EFF3B81F98}"/>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F3DBDF04-03F9-4295-964C-95599777BCAB}"/>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68C6C723-2EB6-42DC-9691-F623B927D102}"/>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3F6797A9-F435-4792-941C-08C84589CFB4}"/>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191E9917-A4DD-47A9-A5FB-6C01D30F5133}"/>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1A734823-08CC-4643-8205-B6176694D9E1}"/>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E72AEFD-8080-46BD-AAB7-D4FC6B2D58F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0FC049F4-A420-4162-9605-E124FD1530D7}"/>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828EFDBA-7DE3-4D18-9C69-F4359A4F22B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58074202"/>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00d750f73836464f"/>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F0221E-8F7A-469E-829F-EBF862D12AE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867F20D-B18B-4474-8DA9-B2E8BC696FD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BCAF5F19-98BD-4066-940D-D33095A5CC2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87F55D99-264B-4407-B241-D2FA8EC264D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1FFBDD71-20B2-460B-B4ED-2A4B2E37D3A8}"/>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C35B7CE-A496-4F2E-B4CE-8A19471D49C7}"/>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C67F0351-FC5B-4140-BB61-1AD8AF833F3F}"/>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4DCD1A44-05F7-4D3F-8F61-DAE01E9B8861}"/>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096C09A5-306D-4224-9665-65FF63674B9E}"/>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AB7DBC05-EFE8-464E-8C52-F749112E4A08}"/>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F69A8288-DAC3-4726-8F88-69FC40C141C8}"/>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68A3C014-4ACB-4F56-AE0C-96FF9B7D679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3F89258A-5017-4291-94B3-201416BE1BEA}"/>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40FE4A0A-254D-44EB-AF13-D8C74EA32960}"/>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5E1025E9-DD16-441F-A90F-74071FEE7886}"/>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6AED2CF7-9D99-4036-95B9-D92ECD1DB58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2DD82F6-4428-46CA-94ED-77C09A305113}"/>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7438CEA3-F4F8-4F14-BA23-7096750FF26A}"/>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C7956EE6-3C32-4B9F-9852-969991C6D2A5}"/>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3CCB9359-DAC9-4C21-9C4C-FC718767F5B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2121608678"/>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ba125cb0b3d74b70"/>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6E00E98-9A25-4258-8AB8-F6B88F27A03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6E6A56CC-32C4-41BF-BEEA-26027AFDAFE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28AF5610-F94D-46C1-B80E-9E59FD04488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0EBF8A-9016-4699-929F-343BB654B124}"/>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B0FE83D8-D8CC-4CF6-9C7A-B1B724115F4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E4AC378-E89F-4F8E-A8FE-E7276E228247}"/>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13EAC3A-B5A8-4533-86ED-4E85A9BFA2A5}"/>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F9E60D42-AE23-4064-9DE3-28A0E3686E1C}"/>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D021F190-34D5-4491-9DFE-11B7B0BE231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85624A0-242A-4FF2-8DE5-633C82DF02AA}"/>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E247B52D-3671-470B-B17B-F8F98E77FE27}"/>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D4E7C6F-B5A4-4E10-B717-28F32CCC00E5}"/>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557C7E1B-CCFE-4C82-BDC9-4556E253215F}"/>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C7E15040-7F4F-4983-B5E8-35EDCDCB4F02}"/>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7832D7A4-D966-4451-8E74-3EF7E8E96D86}"/>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1D7A7CCD-888E-49F8-8570-0411920CF32D}"/>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9ABB4AD4-FF5D-488B-BD6B-86274E285E4C}"/>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326E6DC7-565D-4C18-84EA-EEB987D7F3BE}"/>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8240ACA1-4391-443D-8456-A06E12B08353}"/>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CBEC111E-DB97-49B6-8A34-3FA84399CDDB}"/>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8F30D8F5-B502-49B4-B267-5E24572EDF61}"/>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B9697DC8-0C6B-45C3-B1CB-2D9BB3D39E08}"/>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E3C64FFC-71F1-4FB7-9F57-C47A23DA003F}"/>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63D9BA94-0DB0-4D9D-808B-D38C3DD5611D}"/>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C075C3C4-D237-4E43-8F50-594F30AB7162}"/>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1DD7343F-FEFC-40CC-BC79-32F85E5A6DC2}"/>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6C1438D6-A22D-4FB7-8ACD-D543E273D5CF}"/>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C54D8B6E-3817-4E06-834D-A2061425941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FE15629C-3AF8-4C85-B921-7CB1681E494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9273C990-61C7-43E8-98BB-E59F0BD58988}"/>
              </a:ext>
            </a:extLst>
          </p:cNvPr>
          <p:cNvSpPr>
            <a:spLocks xmlns:a="http://schemas.openxmlformats.org/drawingml/2006/main" noGrp="1"/>
          </p:cNvSpPr>
          <p:nvPr/>
        </p:nvSpPr>
        <p:spPr>
          <a:xfrm xmlns:a="http://schemas.openxmlformats.org/drawingml/2006/main">
            <a:off x="1047750" y="5734050"/>
            <a:ext cx="10096500" cy="400050"/>
          </a:xfrm>
          <a:prstGeom xmlns:a="http://schemas.openxmlformats.org/drawingml/2006/main" prst="roundRect">
            <a:avLst>
              <a:gd name="adj" fmla="val 35714"/>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98849"/>
          </a:bodyPr>
          <a:lstStyle xmlns:a="http://schemas.openxmlformats.org/drawingml/2006/main"/>
          <a:p xmlns:a="http://schemas.openxmlformats.org/drawingml/2006/main">
            <a:pPr algn="ctr">
              <a:defRPr sz="1050" b="1">
                <a:solidFill>
                  <a:srgbClr val="102A43"/>
                </a:solidFill>
                <a:latin typeface="Aptos"/>
                <a:ea typeface="Aptos"/>
                <a:cs typeface="Aptos"/>
              </a:defRPr>
            </a:pPr>
            <a:r>
              <a:rPr sz="1050" b="1">
                <a:solidFill>
                  <a:srgbClr val="102A43"/>
                </a:solidFill>
                <a:latin typeface="Aptos"/>
                <a:ea typeface="Aptos"/>
                <a:cs typeface="Aptos"/>
              </a:rPr>
              <a:t>A production voice eval is layered. Measure recognition by accent and noise, turn-taking by endpoint and overlap, reasoning by factuality and task success, speech by TTFB and preference, and the whole system by tail latency, cost and business outcomes.</a:t>
            </a:r>
          </a:p>
        </p:txBody>
      </p:sp>
      <p:sp>
        <p:nvSpPr>
          <p:cNvPr id="32" name="">
            <a:extLst xmlns:a="http://schemas.openxmlformats.org/drawingml/2006/main">
              <a:ext uri="{FF2B5EF4-FFF2-40B4-BE49-F238E27FC236}">
                <a16:creationId xmlns:a16="http://schemas.microsoft.com/office/drawing/2014/main" id="{CF76CADA-ED7B-42EC-82E3-6DD52D00208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2111980564"/>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c469d05af1704b5c"/>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1A918FF-2B7C-4738-8AC8-8DAAA3D6066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6BAF52D-F5E6-4265-8056-68B5CEB649C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7B9416D0-E0C9-4FED-95C7-4696F45287D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630D694-B1E8-4524-ACDF-A69ABCB187C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2700" b="1">
                <a:solidFill>
                  <a:srgbClr val="102A43"/>
                </a:solidFill>
                <a:latin typeface="Aptos"/>
                <a:ea typeface="Aptos"/>
                <a:cs typeface="Aptos"/>
              </a:defRPr>
            </a:pPr>
            <a:r>
              <a:rPr sz="2700" b="1">
                <a:solidFill>
                  <a:srgbClr val="102A43"/>
                </a:solidFill>
                <a:latin typeface="Aptos"/>
                <a:ea typeface="Aptos"/>
                <a:cs typeface="Aptos"/>
              </a:rPr>
              <a:t>Closing notes</a:t>
            </a:r>
          </a:p>
        </p:txBody>
      </p:sp>
      <p:sp>
        <p:nvSpPr>
          <p:cNvPr id="6" name="">
            <a:extLst xmlns:a="http://schemas.openxmlformats.org/drawingml/2006/main">
              <a:ext uri="{FF2B5EF4-FFF2-40B4-BE49-F238E27FC236}">
                <a16:creationId xmlns:a16="http://schemas.microsoft.com/office/drawing/2014/main" id="{189AE9EA-E008-4231-83D8-7D2754BA61A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19470363-8110-43BD-8136-D603A7FF317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1A04F7A4-340D-489C-8DE9-D32A275A853E}"/>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5EB2D561-2CE0-4855-BF73-CF852E15190E}"/>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ADDFBA96-4E4E-45CD-ABF6-CC87C21B5691}"/>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49632C1-9694-447C-8A7C-1894D988F78B}"/>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DB73AFF7-E80F-44A7-8D35-C7721EBA1831}"/>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30425072-D010-496E-BA09-EC3CE6B08126}"/>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99FBD7A0-9190-436C-8421-F19EE3543DCE}"/>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No—telephony, Do Not Call (DNC), isolation and transfer are P0.</a:t>
            </a:r>
          </a:p>
        </p:txBody>
      </p:sp>
      <p:sp>
        <p:nvSpPr>
          <p:cNvPr id="15" name="">
            <a:extLst xmlns:a="http://schemas.openxmlformats.org/drawingml/2006/main">
              <a:ext uri="{FF2B5EF4-FFF2-40B4-BE49-F238E27FC236}">
                <a16:creationId xmlns:a16="http://schemas.microsoft.com/office/drawing/2014/main" id="{AA9DDD93-64C0-49B3-9215-B3BBD0397067}"/>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0DE7B310-892A-415B-80EF-0335F614EC69}"/>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367FC31C-E950-43BF-BAF5-FA5587CD42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67229653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2026-08-25T04:05:05.1330000Z</dcterms:created>
  <dcterms:modified xsi:type="dcterms:W3CDTF">2026-08-25T04:05:05.1330000Z</dcterms:modified>
</coreProperties>
</file>